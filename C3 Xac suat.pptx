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316"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TextEdit="1"/>
          </p:cNvSpPr>
          <p:nvPr>
            <p:ph type="sldImg"/>
          </p:nvPr>
        </p:nvSpPr>
        <p:spPr>
          <a:xfrm>
            <a:off x="1150938" y="692150"/>
            <a:ext cx="4556125" cy="3416300"/>
          </a:xfrm>
        </p:spPr>
      </p:sp>
      <p:sp>
        <p:nvSpPr>
          <p:cNvPr id="26627"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TextEdit="1"/>
          </p:cNvSpPr>
          <p:nvPr>
            <p:ph type="sldImg"/>
          </p:nvPr>
        </p:nvSpPr>
        <p:spPr>
          <a:xfrm>
            <a:off x="1150938" y="692150"/>
            <a:ext cx="4556125" cy="3416300"/>
          </a:xfrm>
        </p:spPr>
      </p:sp>
      <p:sp>
        <p:nvSpPr>
          <p:cNvPr id="27651"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TextEdit="1"/>
          </p:cNvSpPr>
          <p:nvPr>
            <p:ph type="sldImg"/>
          </p:nvPr>
        </p:nvSpPr>
        <p:spPr>
          <a:xfrm>
            <a:off x="1150938" y="692150"/>
            <a:ext cx="4556125" cy="3416300"/>
          </a:xfrm>
        </p:spPr>
      </p:sp>
      <p:sp>
        <p:nvSpPr>
          <p:cNvPr id="28675"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TextEdit="1"/>
          </p:cNvSpPr>
          <p:nvPr>
            <p:ph type="sldImg"/>
          </p:nvPr>
        </p:nvSpPr>
        <p:spPr>
          <a:xfrm>
            <a:off x="1150938" y="692150"/>
            <a:ext cx="4556125" cy="3416300"/>
          </a:xfrm>
        </p:spPr>
      </p:sp>
      <p:sp>
        <p:nvSpPr>
          <p:cNvPr id="29699"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TextEdit="1"/>
          </p:cNvSpPr>
          <p:nvPr>
            <p:ph type="sldImg"/>
          </p:nvPr>
        </p:nvSpPr>
        <p:spPr>
          <a:xfrm>
            <a:off x="1150938" y="692150"/>
            <a:ext cx="4556125" cy="3416300"/>
          </a:xfrm>
        </p:spPr>
      </p:sp>
      <p:sp>
        <p:nvSpPr>
          <p:cNvPr id="30723"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TextEdit="1"/>
          </p:cNvSpPr>
          <p:nvPr>
            <p:ph type="sldImg"/>
          </p:nvPr>
        </p:nvSpPr>
        <p:spPr>
          <a:xfrm>
            <a:off x="1150938" y="692150"/>
            <a:ext cx="4556125" cy="3416300"/>
          </a:xfrm>
        </p:spPr>
      </p:sp>
      <p:sp>
        <p:nvSpPr>
          <p:cNvPr id="31747"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TextEdit="1"/>
          </p:cNvSpPr>
          <p:nvPr>
            <p:ph type="sldImg"/>
          </p:nvPr>
        </p:nvSpPr>
        <p:spPr>
          <a:xfrm>
            <a:off x="1150938" y="692150"/>
            <a:ext cx="4556125" cy="3416300"/>
          </a:xfrm>
        </p:spPr>
      </p:sp>
      <p:sp>
        <p:nvSpPr>
          <p:cNvPr id="32771"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TextEdit="1"/>
          </p:cNvSpPr>
          <p:nvPr>
            <p:ph type="sldImg"/>
          </p:nvPr>
        </p:nvSpPr>
        <p:spPr>
          <a:xfrm>
            <a:off x="1150938" y="692150"/>
            <a:ext cx="4556125" cy="3416300"/>
          </a:xfrm>
        </p:spPr>
      </p:sp>
      <p:sp>
        <p:nvSpPr>
          <p:cNvPr id="33795"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TextEdit="1"/>
          </p:cNvSpPr>
          <p:nvPr>
            <p:ph type="sldImg"/>
          </p:nvPr>
        </p:nvSpPr>
        <p:spPr>
          <a:xfrm>
            <a:off x="1150938" y="692150"/>
            <a:ext cx="4556125" cy="3416300"/>
          </a:xfrm>
        </p:spPr>
      </p:sp>
      <p:sp>
        <p:nvSpPr>
          <p:cNvPr id="34819"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TextEdit="1"/>
          </p:cNvSpPr>
          <p:nvPr>
            <p:ph type="sldImg"/>
          </p:nvPr>
        </p:nvSpPr>
        <p:spPr>
          <a:xfrm>
            <a:off x="1150938" y="692150"/>
            <a:ext cx="4556125" cy="3416300"/>
          </a:xfrm>
        </p:spPr>
      </p:sp>
      <p:sp>
        <p:nvSpPr>
          <p:cNvPr id="35843"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TextEdit="1"/>
          </p:cNvSpPr>
          <p:nvPr>
            <p:ph type="sldImg"/>
          </p:nvPr>
        </p:nvSpPr>
        <p:spPr>
          <a:xfrm>
            <a:off x="1150938" y="692150"/>
            <a:ext cx="4556125" cy="3416300"/>
          </a:xfrm>
        </p:spPr>
      </p:sp>
      <p:sp>
        <p:nvSpPr>
          <p:cNvPr id="36867"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TextEdit="1"/>
          </p:cNvSpPr>
          <p:nvPr>
            <p:ph type="sldImg"/>
          </p:nvPr>
        </p:nvSpPr>
        <p:spPr>
          <a:xfrm>
            <a:off x="1150938" y="692150"/>
            <a:ext cx="4556125" cy="3416300"/>
          </a:xfrm>
        </p:spPr>
      </p:sp>
      <p:sp>
        <p:nvSpPr>
          <p:cNvPr id="37891"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TextEdit="1"/>
          </p:cNvSpPr>
          <p:nvPr>
            <p:ph type="sldImg"/>
          </p:nvPr>
        </p:nvSpPr>
        <p:spPr>
          <a:xfrm>
            <a:off x="1150938" y="692150"/>
            <a:ext cx="4556125" cy="3416300"/>
          </a:xfrm>
        </p:spPr>
      </p:sp>
      <p:sp>
        <p:nvSpPr>
          <p:cNvPr id="38915"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TextEdit="1"/>
          </p:cNvSpPr>
          <p:nvPr>
            <p:ph type="sldImg"/>
          </p:nvPr>
        </p:nvSpPr>
        <p:spPr>
          <a:xfrm>
            <a:off x="1150938" y="692150"/>
            <a:ext cx="4556125" cy="3416300"/>
          </a:xfrm>
        </p:spPr>
      </p:sp>
      <p:sp>
        <p:nvSpPr>
          <p:cNvPr id="39939"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TextEdit="1"/>
          </p:cNvSpPr>
          <p:nvPr>
            <p:ph type="sldImg"/>
          </p:nvPr>
        </p:nvSpPr>
        <p:spPr>
          <a:xfrm>
            <a:off x="1150938" y="692150"/>
            <a:ext cx="4556125" cy="3416300"/>
          </a:xfrm>
        </p:spPr>
      </p:sp>
      <p:sp>
        <p:nvSpPr>
          <p:cNvPr id="40963"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TextEdit="1"/>
          </p:cNvSpPr>
          <p:nvPr>
            <p:ph type="sldImg"/>
          </p:nvPr>
        </p:nvSpPr>
        <p:spPr>
          <a:xfrm>
            <a:off x="1150938" y="692150"/>
            <a:ext cx="4556125" cy="3416300"/>
          </a:xfrm>
        </p:spPr>
      </p:sp>
      <p:sp>
        <p:nvSpPr>
          <p:cNvPr id="41987"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TextEdit="1"/>
          </p:cNvSpPr>
          <p:nvPr>
            <p:ph type="sldImg"/>
          </p:nvPr>
        </p:nvSpPr>
        <p:spPr>
          <a:xfrm>
            <a:off x="1150938" y="692150"/>
            <a:ext cx="4556125" cy="3416300"/>
          </a:xfrm>
        </p:spPr>
      </p:sp>
      <p:sp>
        <p:nvSpPr>
          <p:cNvPr id="43011"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TextEdit="1"/>
          </p:cNvSpPr>
          <p:nvPr>
            <p:ph type="sldImg"/>
          </p:nvPr>
        </p:nvSpPr>
        <p:spPr>
          <a:xfrm>
            <a:off x="1150938" y="692150"/>
            <a:ext cx="4556125" cy="3416300"/>
          </a:xfrm>
        </p:spPr>
      </p:sp>
      <p:sp>
        <p:nvSpPr>
          <p:cNvPr id="44035"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TextEdit="1"/>
          </p:cNvSpPr>
          <p:nvPr>
            <p:ph type="sldImg"/>
          </p:nvPr>
        </p:nvSpPr>
        <p:spPr>
          <a:xfrm>
            <a:off x="1150938" y="692150"/>
            <a:ext cx="4556125" cy="3416300"/>
          </a:xfrm>
        </p:spPr>
      </p:sp>
      <p:sp>
        <p:nvSpPr>
          <p:cNvPr id="45059"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a:spLocks noTextEdit="1"/>
          </p:cNvSpPr>
          <p:nvPr>
            <p:ph type="sldImg"/>
          </p:nvPr>
        </p:nvSpPr>
        <p:spPr>
          <a:xfrm>
            <a:off x="1150938" y="692150"/>
            <a:ext cx="4556125" cy="3416300"/>
          </a:xfrm>
        </p:spPr>
      </p:sp>
      <p:sp>
        <p:nvSpPr>
          <p:cNvPr id="46083"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TextEdit="1"/>
          </p:cNvSpPr>
          <p:nvPr>
            <p:ph type="sldImg"/>
          </p:nvPr>
        </p:nvSpPr>
        <p:spPr>
          <a:xfrm>
            <a:off x="1150938" y="692150"/>
            <a:ext cx="4556125" cy="3416300"/>
          </a:xfrm>
        </p:spPr>
      </p:sp>
      <p:sp>
        <p:nvSpPr>
          <p:cNvPr id="47107"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TextEdit="1"/>
          </p:cNvSpPr>
          <p:nvPr>
            <p:ph type="sldImg"/>
          </p:nvPr>
        </p:nvSpPr>
        <p:spPr>
          <a:xfrm>
            <a:off x="1150938" y="692150"/>
            <a:ext cx="4556125" cy="3416300"/>
          </a:xfrm>
        </p:spPr>
      </p:sp>
      <p:sp>
        <p:nvSpPr>
          <p:cNvPr id="16387"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TextEdit="1"/>
          </p:cNvSpPr>
          <p:nvPr>
            <p:ph type="sldImg"/>
          </p:nvPr>
        </p:nvSpPr>
        <p:spPr>
          <a:xfrm>
            <a:off x="1150938" y="692150"/>
            <a:ext cx="4556125" cy="3416300"/>
          </a:xfrm>
        </p:spPr>
      </p:sp>
      <p:sp>
        <p:nvSpPr>
          <p:cNvPr id="17411"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TextEdit="1"/>
          </p:cNvSpPr>
          <p:nvPr>
            <p:ph type="sldImg"/>
          </p:nvPr>
        </p:nvSpPr>
        <p:spPr>
          <a:xfrm>
            <a:off x="1150938" y="692150"/>
            <a:ext cx="4556125" cy="3416300"/>
          </a:xfrm>
        </p:spPr>
      </p:sp>
      <p:sp>
        <p:nvSpPr>
          <p:cNvPr id="18435"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TextEdit="1"/>
          </p:cNvSpPr>
          <p:nvPr>
            <p:ph type="sldImg"/>
          </p:nvPr>
        </p:nvSpPr>
        <p:spPr>
          <a:xfrm>
            <a:off x="1150938" y="692150"/>
            <a:ext cx="4556125" cy="3416300"/>
          </a:xfrm>
        </p:spPr>
      </p:sp>
      <p:sp>
        <p:nvSpPr>
          <p:cNvPr id="19459"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TextEdit="1"/>
          </p:cNvSpPr>
          <p:nvPr>
            <p:ph type="sldImg"/>
          </p:nvPr>
        </p:nvSpPr>
        <p:spPr>
          <a:xfrm>
            <a:off x="1150938" y="692150"/>
            <a:ext cx="4556125" cy="3416300"/>
          </a:xfrm>
        </p:spPr>
      </p:sp>
      <p:sp>
        <p:nvSpPr>
          <p:cNvPr id="20483"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TextEdit="1"/>
          </p:cNvSpPr>
          <p:nvPr>
            <p:ph type="sldImg"/>
          </p:nvPr>
        </p:nvSpPr>
        <p:spPr>
          <a:xfrm>
            <a:off x="1150938" y="692150"/>
            <a:ext cx="4556125" cy="3416300"/>
          </a:xfrm>
        </p:spPr>
      </p:sp>
      <p:sp>
        <p:nvSpPr>
          <p:cNvPr id="21507"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TextEdit="1"/>
          </p:cNvSpPr>
          <p:nvPr>
            <p:ph type="sldImg"/>
          </p:nvPr>
        </p:nvSpPr>
        <p:spPr>
          <a:xfrm>
            <a:off x="1150938" y="692150"/>
            <a:ext cx="4556125" cy="3416300"/>
          </a:xfrm>
        </p:spPr>
      </p:sp>
      <p:sp>
        <p:nvSpPr>
          <p:cNvPr id="22531"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TextEdit="1"/>
          </p:cNvSpPr>
          <p:nvPr>
            <p:ph type="sldImg"/>
          </p:nvPr>
        </p:nvSpPr>
        <p:spPr>
          <a:xfrm>
            <a:off x="1150938" y="692150"/>
            <a:ext cx="4556125" cy="3416300"/>
          </a:xfrm>
        </p:spPr>
      </p:sp>
      <p:sp>
        <p:nvSpPr>
          <p:cNvPr id="23555"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TextEdit="1"/>
          </p:cNvSpPr>
          <p:nvPr>
            <p:ph type="sldImg"/>
          </p:nvPr>
        </p:nvSpPr>
        <p:spPr>
          <a:xfrm>
            <a:off x="1150938" y="692150"/>
            <a:ext cx="4556125" cy="3416300"/>
          </a:xfrm>
        </p:spPr>
      </p:sp>
      <p:sp>
        <p:nvSpPr>
          <p:cNvPr id="24579"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TextEdit="1"/>
          </p:cNvSpPr>
          <p:nvPr>
            <p:ph type="sldImg"/>
          </p:nvPr>
        </p:nvSpPr>
        <p:spPr>
          <a:xfrm>
            <a:off x="1150938" y="692150"/>
            <a:ext cx="4556125" cy="3416300"/>
          </a:xfrm>
        </p:spPr>
      </p:sp>
      <p:sp>
        <p:nvSpPr>
          <p:cNvPr id="17411"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TextEdit="1"/>
          </p:cNvSpPr>
          <p:nvPr>
            <p:ph type="sldImg"/>
          </p:nvPr>
        </p:nvSpPr>
        <p:spPr>
          <a:xfrm>
            <a:off x="1150938" y="692150"/>
            <a:ext cx="4556125" cy="3416300"/>
          </a:xfrm>
        </p:spPr>
      </p:sp>
      <p:sp>
        <p:nvSpPr>
          <p:cNvPr id="18435"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TextEdit="1"/>
          </p:cNvSpPr>
          <p:nvPr>
            <p:ph type="sldImg"/>
          </p:nvPr>
        </p:nvSpPr>
        <p:spPr>
          <a:xfrm>
            <a:off x="1150938" y="692150"/>
            <a:ext cx="4556125" cy="3416300"/>
          </a:xfrm>
        </p:spPr>
      </p:sp>
      <p:sp>
        <p:nvSpPr>
          <p:cNvPr id="19459"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TextEdit="1"/>
          </p:cNvSpPr>
          <p:nvPr>
            <p:ph type="sldImg"/>
          </p:nvPr>
        </p:nvSpPr>
        <p:spPr>
          <a:xfrm>
            <a:off x="1150938" y="692150"/>
            <a:ext cx="4556125" cy="3416300"/>
          </a:xfrm>
        </p:spPr>
      </p:sp>
      <p:sp>
        <p:nvSpPr>
          <p:cNvPr id="20483"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TextEdit="1"/>
          </p:cNvSpPr>
          <p:nvPr>
            <p:ph type="sldImg"/>
          </p:nvPr>
        </p:nvSpPr>
        <p:spPr>
          <a:xfrm>
            <a:off x="1150938" y="692150"/>
            <a:ext cx="4556125" cy="3416300"/>
          </a:xfrm>
        </p:spPr>
      </p:sp>
      <p:sp>
        <p:nvSpPr>
          <p:cNvPr id="21507"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TextEdit="1"/>
          </p:cNvSpPr>
          <p:nvPr>
            <p:ph type="sldImg"/>
          </p:nvPr>
        </p:nvSpPr>
        <p:spPr>
          <a:xfrm>
            <a:off x="1150938" y="692150"/>
            <a:ext cx="4556125" cy="3416300"/>
          </a:xfrm>
        </p:spPr>
      </p:sp>
      <p:sp>
        <p:nvSpPr>
          <p:cNvPr id="22531"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TextEdit="1"/>
          </p:cNvSpPr>
          <p:nvPr>
            <p:ph type="sldImg"/>
          </p:nvPr>
        </p:nvSpPr>
        <p:spPr>
          <a:xfrm>
            <a:off x="1150938" y="692150"/>
            <a:ext cx="4556125" cy="3416300"/>
          </a:xfrm>
        </p:spPr>
      </p:sp>
      <p:sp>
        <p:nvSpPr>
          <p:cNvPr id="23555"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TextEdit="1"/>
          </p:cNvSpPr>
          <p:nvPr>
            <p:ph type="sldImg"/>
          </p:nvPr>
        </p:nvSpPr>
        <p:spPr>
          <a:xfrm>
            <a:off x="1150938" y="692150"/>
            <a:ext cx="4556125" cy="3416300"/>
          </a:xfrm>
        </p:spPr>
      </p:sp>
      <p:sp>
        <p:nvSpPr>
          <p:cNvPr id="24579"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TextEdit="1"/>
          </p:cNvSpPr>
          <p:nvPr>
            <p:ph type="sldImg"/>
          </p:nvPr>
        </p:nvSpPr>
        <p:spPr>
          <a:xfrm>
            <a:off x="1150938" y="692150"/>
            <a:ext cx="4556125" cy="3416300"/>
          </a:xfrm>
        </p:spPr>
      </p:sp>
      <p:sp>
        <p:nvSpPr>
          <p:cNvPr id="25603"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TextEdit="1"/>
          </p:cNvSpPr>
          <p:nvPr>
            <p:ph type="sldImg"/>
          </p:nvPr>
        </p:nvSpPr>
        <p:spPr>
          <a:xfrm>
            <a:off x="1150938" y="692150"/>
            <a:ext cx="4556125" cy="3416300"/>
          </a:xfrm>
        </p:spPr>
      </p:sp>
      <p:sp>
        <p:nvSpPr>
          <p:cNvPr id="26627"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TextEdit="1"/>
          </p:cNvSpPr>
          <p:nvPr>
            <p:ph type="sldImg"/>
          </p:nvPr>
        </p:nvSpPr>
        <p:spPr>
          <a:xfrm>
            <a:off x="1150938" y="692150"/>
            <a:ext cx="4556125" cy="3416300"/>
          </a:xfrm>
        </p:spPr>
      </p:sp>
      <p:sp>
        <p:nvSpPr>
          <p:cNvPr id="25603"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body" idx="1"/>
          </p:nvPr>
        </p:nvSpPr>
        <p:spPr>
          <a:ln w="9525"/>
        </p:spPr>
        <p:txBody>
          <a:bodyPr wrap="square" lIns="90488" tIns="44450" rIns="90488" bIns="44450" anchor="t" anchorCtr="0"/>
          <a:p>
            <a:pPr lvl="0"/>
            <a:r>
              <a:rPr dirty="0">
                <a:latin typeface="Times New Roman" panose="02020603050405020304" pitchFamily="18" charset="0"/>
              </a:rPr>
              <a:t>To differentiate between the addition rule and the multiplication rule, the addition rule will use the word </a:t>
            </a:r>
            <a:r>
              <a:rPr b="1" dirty="0">
                <a:latin typeface="Times New Roman" panose="02020603050405020304" pitchFamily="18" charset="0"/>
              </a:rPr>
              <a:t>‘or’ - P(A </a:t>
            </a:r>
            <a:r>
              <a:rPr b="1" u="sng" dirty="0">
                <a:latin typeface="Times New Roman" panose="02020603050405020304" pitchFamily="18" charset="0"/>
              </a:rPr>
              <a:t>or</a:t>
            </a:r>
            <a:r>
              <a:rPr b="1" dirty="0">
                <a:latin typeface="Times New Roman" panose="02020603050405020304" pitchFamily="18" charset="0"/>
              </a:rPr>
              <a:t> B) - </a:t>
            </a:r>
            <a:r>
              <a:rPr dirty="0">
                <a:latin typeface="Times New Roman" panose="02020603050405020304" pitchFamily="18" charset="0"/>
              </a:rPr>
              <a:t>, and the multiplication rule will use the word </a:t>
            </a:r>
            <a:r>
              <a:rPr b="1" dirty="0">
                <a:latin typeface="Times New Roman" panose="02020603050405020304" pitchFamily="18" charset="0"/>
              </a:rPr>
              <a:t>‘and’ - P(A </a:t>
            </a:r>
            <a:r>
              <a:rPr b="1" u="sng" dirty="0">
                <a:latin typeface="Times New Roman" panose="02020603050405020304" pitchFamily="18" charset="0"/>
              </a:rPr>
              <a:t>and</a:t>
            </a:r>
            <a:r>
              <a:rPr b="1" dirty="0">
                <a:latin typeface="Times New Roman" panose="02020603050405020304" pitchFamily="18" charset="0"/>
              </a:rPr>
              <a:t> B)</a:t>
            </a:r>
            <a:r>
              <a:rPr dirty="0">
                <a:latin typeface="Times New Roman" panose="02020603050405020304" pitchFamily="18" charset="0"/>
              </a:rPr>
              <a:t>. </a:t>
            </a:r>
            <a:endParaRPr dirty="0">
              <a:latin typeface="Times New Roman" panose="02020603050405020304" pitchFamily="18" charset="0"/>
            </a:endParaRPr>
          </a:p>
          <a:p>
            <a:pPr lvl="0"/>
            <a:r>
              <a:rPr dirty="0">
                <a:latin typeface="Times New Roman" panose="02020603050405020304" pitchFamily="18" charset="0"/>
              </a:rPr>
              <a:t> Page 159 of Elementary Statistics, 10</a:t>
            </a:r>
            <a:r>
              <a:rPr baseline="30000" dirty="0">
                <a:latin typeface="Times New Roman" panose="02020603050405020304" pitchFamily="18" charset="0"/>
              </a:rPr>
              <a:t>th</a:t>
            </a:r>
            <a:r>
              <a:rPr dirty="0">
                <a:latin typeface="Times New Roman" panose="02020603050405020304" pitchFamily="18" charset="0"/>
              </a:rPr>
              <a:t> Edition</a:t>
            </a:r>
            <a:endParaRPr dirty="0">
              <a:latin typeface="Times New Roman" panose="02020603050405020304" pitchFamily="18" charset="0"/>
            </a:endParaRPr>
          </a:p>
        </p:txBody>
      </p:sp>
      <p:sp>
        <p:nvSpPr>
          <p:cNvPr id="26627" name="Rectangle 3"/>
          <p:cNvSpPr>
            <a:spLocks noTextEdit="1"/>
          </p:cNvSpPr>
          <p:nvPr>
            <p:ph type="sldImg"/>
          </p:nvPr>
        </p:nvSpPr>
        <p:spPr>
          <a:xfrm>
            <a:off x="1150938" y="692150"/>
            <a:ext cx="4556125" cy="3416300"/>
          </a:xfr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TextEdit="1"/>
          </p:cNvSpPr>
          <p:nvPr>
            <p:ph type="sldImg"/>
          </p:nvPr>
        </p:nvSpPr>
        <p:spPr>
          <a:xfrm>
            <a:off x="1150938" y="692150"/>
            <a:ext cx="4556125" cy="3416300"/>
          </a:xfrm>
        </p:spPr>
      </p:sp>
      <p:sp>
        <p:nvSpPr>
          <p:cNvPr id="27651"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body" idx="1"/>
          </p:nvPr>
        </p:nvSpPr>
        <p:spPr>
          <a:ln w="9525"/>
        </p:spPr>
        <p:txBody>
          <a:bodyPr wrap="square" lIns="90488" tIns="44450" rIns="90488" bIns="44450" anchor="t" anchorCtr="0"/>
          <a:p>
            <a:pPr lvl="0"/>
            <a:r>
              <a:rPr dirty="0">
                <a:latin typeface="Times New Roman" panose="02020603050405020304" pitchFamily="18" charset="0"/>
              </a:rPr>
              <a:t>Many students find that they understand the multiplication rule more intuitively than by using the formal rule and formula. </a:t>
            </a:r>
            <a:endParaRPr dirty="0">
              <a:latin typeface="Times New Roman" panose="02020603050405020304" pitchFamily="18" charset="0"/>
            </a:endParaRPr>
          </a:p>
          <a:p>
            <a:pPr lvl="0"/>
            <a:r>
              <a:rPr dirty="0">
                <a:latin typeface="Times New Roman" panose="02020603050405020304" pitchFamily="18" charset="0"/>
              </a:rPr>
              <a:t>Example on page 162 of Elementary Statistics, 10</a:t>
            </a:r>
            <a:r>
              <a:rPr baseline="30000" dirty="0">
                <a:latin typeface="Times New Roman" panose="02020603050405020304" pitchFamily="18" charset="0"/>
              </a:rPr>
              <a:t>th</a:t>
            </a:r>
            <a:r>
              <a:rPr dirty="0">
                <a:latin typeface="Times New Roman" panose="02020603050405020304" pitchFamily="18" charset="0"/>
              </a:rPr>
              <a:t> Edition</a:t>
            </a:r>
            <a:endParaRPr dirty="0">
              <a:latin typeface="Times New Roman" panose="02020603050405020304" pitchFamily="18" charset="0"/>
            </a:endParaRPr>
          </a:p>
        </p:txBody>
      </p:sp>
      <p:sp>
        <p:nvSpPr>
          <p:cNvPr id="28675" name="Rectangle 3"/>
          <p:cNvSpPr>
            <a:spLocks noTextEdit="1"/>
          </p:cNvSpPr>
          <p:nvPr>
            <p:ph type="sldImg"/>
          </p:nvPr>
        </p:nvSpPr>
        <p:spPr>
          <a:xfrm>
            <a:off x="1150938" y="692150"/>
            <a:ext cx="4556125" cy="3416300"/>
          </a:xfr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
        <p:nvSpPr>
          <p:cNvPr id="29699" name="Rectangle 3"/>
          <p:cNvSpPr>
            <a:spLocks noTextEdit="1"/>
          </p:cNvSpPr>
          <p:nvPr>
            <p:ph type="sldImg"/>
          </p:nvPr>
        </p:nvSpPr>
        <p:spPr>
          <a:xfrm>
            <a:off x="1150938" y="692150"/>
            <a:ext cx="4556125" cy="3416300"/>
          </a:xfr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
        <p:nvSpPr>
          <p:cNvPr id="30723" name="Rectangle 3"/>
          <p:cNvSpPr>
            <a:spLocks noTextEdit="1"/>
          </p:cNvSpPr>
          <p:nvPr>
            <p:ph type="sldImg"/>
          </p:nvPr>
        </p:nvSpPr>
        <p:spPr>
          <a:xfrm>
            <a:off x="1150938" y="692150"/>
            <a:ext cx="4556125" cy="3416300"/>
          </a:xfr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body" idx="1"/>
          </p:nvPr>
        </p:nvSpPr>
        <p:spPr>
          <a:ln w="9525"/>
        </p:spPr>
        <p:txBody>
          <a:bodyPr wrap="square" lIns="90488" tIns="44450" rIns="90488" bIns="44450" anchor="t" anchorCtr="0"/>
          <a:p>
            <a:pPr lvl="0"/>
            <a:r>
              <a:rPr dirty="0">
                <a:latin typeface="Times New Roman" panose="02020603050405020304" pitchFamily="18" charset="0"/>
              </a:rPr>
              <a:t> Page 162 of Elementary Statistics, 10</a:t>
            </a:r>
            <a:r>
              <a:rPr baseline="30000" dirty="0">
                <a:latin typeface="Times New Roman" panose="02020603050405020304" pitchFamily="18" charset="0"/>
              </a:rPr>
              <a:t>th</a:t>
            </a:r>
            <a:r>
              <a:rPr dirty="0">
                <a:latin typeface="Times New Roman" panose="02020603050405020304" pitchFamily="18" charset="0"/>
              </a:rPr>
              <a:t> Edition</a:t>
            </a:r>
            <a:endParaRPr dirty="0">
              <a:latin typeface="Times New Roman" panose="02020603050405020304" pitchFamily="18" charset="0"/>
            </a:endParaRPr>
          </a:p>
        </p:txBody>
      </p:sp>
      <p:sp>
        <p:nvSpPr>
          <p:cNvPr id="31747" name="Rectangle 3"/>
          <p:cNvSpPr>
            <a:spLocks noTextEdit="1"/>
          </p:cNvSpPr>
          <p:nvPr>
            <p:ph type="sldImg"/>
          </p:nvPr>
        </p:nvSpPr>
        <p:spPr>
          <a:xfrm>
            <a:off x="1150938" y="692150"/>
            <a:ext cx="4556125" cy="3416300"/>
          </a:xfr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body" idx="1"/>
          </p:nvPr>
        </p:nvSpPr>
        <p:spPr>
          <a:ln w="9525"/>
        </p:spPr>
        <p:txBody>
          <a:bodyPr wrap="square" lIns="90488" tIns="44450" rIns="90488" bIns="44450" anchor="t" anchorCtr="0"/>
          <a:p>
            <a:pPr lvl="0"/>
            <a:r>
              <a:rPr dirty="0">
                <a:latin typeface="Times New Roman" panose="02020603050405020304" pitchFamily="18" charset="0"/>
              </a:rPr>
              <a:t> Page 162 of Elementary Statistics, 10</a:t>
            </a:r>
            <a:r>
              <a:rPr baseline="30000" dirty="0">
                <a:latin typeface="Times New Roman" panose="02020603050405020304" pitchFamily="18" charset="0"/>
              </a:rPr>
              <a:t>th</a:t>
            </a:r>
            <a:r>
              <a:rPr dirty="0">
                <a:latin typeface="Times New Roman" panose="02020603050405020304" pitchFamily="18" charset="0"/>
              </a:rPr>
              <a:t> Edition</a:t>
            </a:r>
            <a:endParaRPr dirty="0">
              <a:latin typeface="Times New Roman" panose="02020603050405020304" pitchFamily="18" charset="0"/>
            </a:endParaRPr>
          </a:p>
        </p:txBody>
      </p:sp>
      <p:sp>
        <p:nvSpPr>
          <p:cNvPr id="32771" name="Rectangle 3"/>
          <p:cNvSpPr>
            <a:spLocks noTextEdit="1"/>
          </p:cNvSpPr>
          <p:nvPr>
            <p:ph type="sldImg"/>
          </p:nvPr>
        </p:nvSpPr>
        <p:spPr>
          <a:xfrm>
            <a:off x="1150938" y="692150"/>
            <a:ext cx="4556125" cy="3416300"/>
          </a:xfr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body" idx="1"/>
          </p:nvPr>
        </p:nvSpPr>
        <p:spPr>
          <a:ln w="9525"/>
        </p:spPr>
        <p:txBody>
          <a:bodyPr wrap="square" lIns="90488" tIns="44450" rIns="90488" bIns="44450" anchor="t" anchorCtr="0"/>
          <a:p>
            <a:pPr lvl="0"/>
            <a:r>
              <a:rPr dirty="0">
                <a:latin typeface="Times New Roman" panose="02020603050405020304" pitchFamily="18" charset="0"/>
              </a:rPr>
              <a:t>Since independent events where the probability is the same for each event is much easier to compute (using exponential notation) than dependent events where each probability fraction will be different, the rule for small samples and large population is often used by pollsters. </a:t>
            </a:r>
            <a:endParaRPr dirty="0">
              <a:latin typeface="Times New Roman" panose="02020603050405020304" pitchFamily="18" charset="0"/>
            </a:endParaRPr>
          </a:p>
          <a:p>
            <a:pPr lvl="0"/>
            <a:r>
              <a:rPr dirty="0">
                <a:latin typeface="Times New Roman" panose="02020603050405020304" pitchFamily="18" charset="0"/>
              </a:rPr>
              <a:t> Page 163 of Elementary Statistics, 10</a:t>
            </a:r>
            <a:r>
              <a:rPr baseline="30000" dirty="0">
                <a:latin typeface="Times New Roman" panose="02020603050405020304" pitchFamily="18" charset="0"/>
              </a:rPr>
              <a:t>th</a:t>
            </a:r>
            <a:r>
              <a:rPr dirty="0">
                <a:latin typeface="Times New Roman" panose="02020603050405020304" pitchFamily="18" charset="0"/>
              </a:rPr>
              <a:t> Edition</a:t>
            </a:r>
            <a:endParaRPr dirty="0">
              <a:latin typeface="Times New Roman" panose="02020603050405020304" pitchFamily="18" charset="0"/>
            </a:endParaRPr>
          </a:p>
        </p:txBody>
      </p:sp>
      <p:sp>
        <p:nvSpPr>
          <p:cNvPr id="33795" name="Rectangle 3"/>
          <p:cNvSpPr>
            <a:spLocks noTextEdit="1"/>
          </p:cNvSpPr>
          <p:nvPr>
            <p:ph type="sldImg"/>
          </p:nvPr>
        </p:nvSpPr>
        <p:spPr>
          <a:xfrm>
            <a:off x="1150938" y="692150"/>
            <a:ext cx="4556125" cy="3416300"/>
          </a:xfr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type="body" idx="1"/>
          </p:nvPr>
        </p:nvSpPr>
        <p:spPr>
          <a:ln w="9525"/>
        </p:spPr>
        <p:txBody>
          <a:bodyPr wrap="square" lIns="90488" tIns="44450" rIns="90488" bIns="44450" anchor="t" anchorCtr="0"/>
          <a:p>
            <a:pPr lvl="0"/>
            <a:r>
              <a:rPr dirty="0">
                <a:latin typeface="Times New Roman" panose="02020603050405020304" pitchFamily="18" charset="0"/>
              </a:rPr>
              <a:t>Since independent events where the probability is the same for each event is much easier to compute (using exponential notation) than dependent events where each probability fraction will be different, the rule for small samples and large population is often used by pollsters. </a:t>
            </a:r>
            <a:endParaRPr dirty="0">
              <a:latin typeface="Times New Roman" panose="02020603050405020304" pitchFamily="18" charset="0"/>
            </a:endParaRPr>
          </a:p>
          <a:p>
            <a:pPr lvl="0"/>
            <a:r>
              <a:rPr dirty="0">
                <a:latin typeface="Times New Roman" panose="02020603050405020304" pitchFamily="18" charset="0"/>
              </a:rPr>
              <a:t> Page 163 of Elementary Statistics, 10</a:t>
            </a:r>
            <a:r>
              <a:rPr baseline="30000" dirty="0">
                <a:latin typeface="Times New Roman" panose="02020603050405020304" pitchFamily="18" charset="0"/>
              </a:rPr>
              <a:t>th</a:t>
            </a:r>
            <a:r>
              <a:rPr dirty="0">
                <a:latin typeface="Times New Roman" panose="02020603050405020304" pitchFamily="18" charset="0"/>
              </a:rPr>
              <a:t> Edition</a:t>
            </a:r>
            <a:endParaRPr dirty="0">
              <a:latin typeface="Times New Roman" panose="02020603050405020304" pitchFamily="18" charset="0"/>
            </a:endParaRPr>
          </a:p>
        </p:txBody>
      </p:sp>
      <p:sp>
        <p:nvSpPr>
          <p:cNvPr id="34819" name="Rectangle 3"/>
          <p:cNvSpPr>
            <a:spLocks noTextEdit="1"/>
          </p:cNvSpPr>
          <p:nvPr>
            <p:ph type="sldImg"/>
          </p:nvPr>
        </p:nvSpPr>
        <p:spPr>
          <a:xfrm>
            <a:off x="1150938" y="692150"/>
            <a:ext cx="4556125" cy="3416300"/>
          </a:xfr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body" idx="1"/>
          </p:nvPr>
        </p:nvSpPr>
        <p:spPr>
          <a:ln w="9525"/>
        </p:spPr>
        <p:txBody>
          <a:bodyPr wrap="square" lIns="90488" tIns="44450" rIns="90488" bIns="44450" anchor="t" anchorCtr="0"/>
          <a:p>
            <a:pPr lvl="0"/>
            <a:r>
              <a:rPr dirty="0">
                <a:latin typeface="Times New Roman" panose="02020603050405020304" pitchFamily="18" charset="0"/>
              </a:rPr>
              <a:t>Since independent events where the probability is the same for each event is much easier to compute (using exponential notation) than dependent events where each probability fraction will be different, the rule for small samples and large population is often used by pollsters. </a:t>
            </a:r>
            <a:endParaRPr dirty="0">
              <a:latin typeface="Times New Roman" panose="02020603050405020304" pitchFamily="18" charset="0"/>
            </a:endParaRPr>
          </a:p>
          <a:p>
            <a:pPr lvl="0"/>
            <a:r>
              <a:rPr dirty="0">
                <a:latin typeface="Times New Roman" panose="02020603050405020304" pitchFamily="18" charset="0"/>
              </a:rPr>
              <a:t> Page 163 of Elementary Statistics, 10</a:t>
            </a:r>
            <a:r>
              <a:rPr baseline="30000" dirty="0">
                <a:latin typeface="Times New Roman" panose="02020603050405020304" pitchFamily="18" charset="0"/>
              </a:rPr>
              <a:t>th</a:t>
            </a:r>
            <a:r>
              <a:rPr dirty="0">
                <a:latin typeface="Times New Roman" panose="02020603050405020304" pitchFamily="18" charset="0"/>
              </a:rPr>
              <a:t> Edition</a:t>
            </a:r>
            <a:endParaRPr dirty="0">
              <a:latin typeface="Times New Roman" panose="02020603050405020304" pitchFamily="18" charset="0"/>
            </a:endParaRPr>
          </a:p>
        </p:txBody>
      </p:sp>
      <p:sp>
        <p:nvSpPr>
          <p:cNvPr id="35843" name="Rectangle 3"/>
          <p:cNvSpPr>
            <a:spLocks noTextEdit="1"/>
          </p:cNvSpPr>
          <p:nvPr>
            <p:ph type="sldImg"/>
          </p:nvPr>
        </p:nvSpPr>
        <p:spPr>
          <a:xfrm>
            <a:off x="1150938" y="692150"/>
            <a:ext cx="4556125" cy="3416300"/>
          </a:xfr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body" idx="1"/>
          </p:nvPr>
        </p:nvSpPr>
        <p:spPr>
          <a:ln w="9525"/>
        </p:spPr>
        <p:txBody>
          <a:bodyPr wrap="square" lIns="90488" tIns="44450" rIns="90488" bIns="44450" anchor="t" anchorCtr="0"/>
          <a:p>
            <a:pPr lvl="0"/>
            <a:r>
              <a:rPr dirty="0">
                <a:latin typeface="Times New Roman" panose="02020603050405020304" pitchFamily="18" charset="0"/>
              </a:rPr>
              <a:t>Since independent events where the probability is the same for each event is much easier to compute (using exponential notation) than dependent events where each probability fraction will be different, the rule for small samples and large population is often used by pollsters. </a:t>
            </a:r>
            <a:endParaRPr dirty="0">
              <a:latin typeface="Times New Roman" panose="02020603050405020304" pitchFamily="18" charset="0"/>
            </a:endParaRPr>
          </a:p>
          <a:p>
            <a:pPr lvl="0"/>
            <a:r>
              <a:rPr dirty="0">
                <a:latin typeface="Times New Roman" panose="02020603050405020304" pitchFamily="18" charset="0"/>
              </a:rPr>
              <a:t> Page 163 of Elementary Statistics, 10</a:t>
            </a:r>
            <a:r>
              <a:rPr baseline="30000" dirty="0">
                <a:latin typeface="Times New Roman" panose="02020603050405020304" pitchFamily="18" charset="0"/>
              </a:rPr>
              <a:t>th</a:t>
            </a:r>
            <a:r>
              <a:rPr dirty="0">
                <a:latin typeface="Times New Roman" panose="02020603050405020304" pitchFamily="18" charset="0"/>
              </a:rPr>
              <a:t> Edition</a:t>
            </a:r>
            <a:endParaRPr dirty="0">
              <a:latin typeface="Times New Roman" panose="02020603050405020304" pitchFamily="18" charset="0"/>
            </a:endParaRPr>
          </a:p>
        </p:txBody>
      </p:sp>
      <p:sp>
        <p:nvSpPr>
          <p:cNvPr id="36867" name="Rectangle 3"/>
          <p:cNvSpPr>
            <a:spLocks noTextEdit="1"/>
          </p:cNvSpPr>
          <p:nvPr>
            <p:ph type="sldImg"/>
          </p:nvPr>
        </p:nvSpPr>
        <p:spPr>
          <a:xfrm>
            <a:off x="1150938" y="692150"/>
            <a:ext cx="4556125" cy="3416300"/>
          </a:xfr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type="body" idx="1"/>
          </p:nvPr>
        </p:nvSpPr>
        <p:spPr>
          <a:ln w="9525"/>
        </p:spPr>
        <p:txBody>
          <a:bodyPr wrap="square" lIns="90488" tIns="44450" rIns="90488" bIns="44450" anchor="t" anchorCtr="0"/>
          <a:p>
            <a:pPr lvl="0"/>
            <a:r>
              <a:rPr dirty="0">
                <a:latin typeface="Times New Roman" panose="02020603050405020304" pitchFamily="18" charset="0"/>
              </a:rPr>
              <a:t>Since independent events where the probability is the same for each event is much easier to compute (using exponential notation) than dependent events where each probability fraction will be different, the rule for small samples and large population is often used by pollsters. </a:t>
            </a:r>
            <a:endParaRPr dirty="0">
              <a:latin typeface="Times New Roman" panose="02020603050405020304" pitchFamily="18" charset="0"/>
            </a:endParaRPr>
          </a:p>
          <a:p>
            <a:pPr lvl="0"/>
            <a:r>
              <a:rPr dirty="0">
                <a:latin typeface="Times New Roman" panose="02020603050405020304" pitchFamily="18" charset="0"/>
              </a:rPr>
              <a:t> Page 163 of Elementary Statistics, 10</a:t>
            </a:r>
            <a:r>
              <a:rPr baseline="30000" dirty="0">
                <a:latin typeface="Times New Roman" panose="02020603050405020304" pitchFamily="18" charset="0"/>
              </a:rPr>
              <a:t>th</a:t>
            </a:r>
            <a:r>
              <a:rPr dirty="0">
                <a:latin typeface="Times New Roman" panose="02020603050405020304" pitchFamily="18" charset="0"/>
              </a:rPr>
              <a:t> Edition</a:t>
            </a:r>
            <a:endParaRPr dirty="0">
              <a:latin typeface="Times New Roman" panose="02020603050405020304" pitchFamily="18" charset="0"/>
            </a:endParaRPr>
          </a:p>
        </p:txBody>
      </p:sp>
      <p:sp>
        <p:nvSpPr>
          <p:cNvPr id="37891" name="Rectangle 3"/>
          <p:cNvSpPr>
            <a:spLocks noTextEdit="1"/>
          </p:cNvSpPr>
          <p:nvPr>
            <p:ph type="sldImg"/>
          </p:nvPr>
        </p:nvSpPr>
        <p:spPr>
          <a:xfrm>
            <a:off x="1150938" y="692150"/>
            <a:ext cx="4556125" cy="3416300"/>
          </a:xfr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body" idx="1"/>
          </p:nvPr>
        </p:nvSpPr>
        <p:spPr>
          <a:ln w="9525"/>
        </p:spPr>
        <p:txBody>
          <a:bodyPr wrap="square" lIns="90488" tIns="44450" rIns="90488" bIns="44450" anchor="t" anchorCtr="0"/>
          <a:p>
            <a:pPr lvl="0"/>
            <a:r>
              <a:rPr dirty="0">
                <a:latin typeface="Times New Roman" panose="02020603050405020304" pitchFamily="18" charset="0"/>
              </a:rPr>
              <a:t>Since independent events where the probability is the same for each event is much easier to compute (using exponential notation) than dependent events where each probability fraction will be different, the rule for small samples and large population is often used by pollsters. </a:t>
            </a:r>
            <a:endParaRPr dirty="0">
              <a:latin typeface="Times New Roman" panose="02020603050405020304" pitchFamily="18" charset="0"/>
            </a:endParaRPr>
          </a:p>
          <a:p>
            <a:pPr lvl="0"/>
            <a:r>
              <a:rPr dirty="0">
                <a:latin typeface="Times New Roman" panose="02020603050405020304" pitchFamily="18" charset="0"/>
              </a:rPr>
              <a:t> Page 163 of Elementary Statistics, 10</a:t>
            </a:r>
            <a:r>
              <a:rPr baseline="30000" dirty="0">
                <a:latin typeface="Times New Roman" panose="02020603050405020304" pitchFamily="18" charset="0"/>
              </a:rPr>
              <a:t>th</a:t>
            </a:r>
            <a:r>
              <a:rPr dirty="0">
                <a:latin typeface="Times New Roman" panose="02020603050405020304" pitchFamily="18" charset="0"/>
              </a:rPr>
              <a:t> Edition</a:t>
            </a:r>
            <a:endParaRPr dirty="0">
              <a:latin typeface="Times New Roman" panose="02020603050405020304" pitchFamily="18" charset="0"/>
            </a:endParaRPr>
          </a:p>
        </p:txBody>
      </p:sp>
      <p:sp>
        <p:nvSpPr>
          <p:cNvPr id="38915" name="Rectangle 3"/>
          <p:cNvSpPr>
            <a:spLocks noTextEdit="1"/>
          </p:cNvSpPr>
          <p:nvPr>
            <p:ph type="sldImg"/>
          </p:nvPr>
        </p:nvSpPr>
        <p:spPr>
          <a:xfrm>
            <a:off x="1150938" y="692150"/>
            <a:ext cx="4556125" cy="3416300"/>
          </a:xfr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TextEdit="1"/>
          </p:cNvSpPr>
          <p:nvPr>
            <p:ph type="sldImg"/>
          </p:nvPr>
        </p:nvSpPr>
        <p:spPr>
          <a:xfrm>
            <a:off x="1150938" y="692150"/>
            <a:ext cx="4556125" cy="3416300"/>
          </a:xfrm>
        </p:spPr>
      </p:sp>
      <p:sp>
        <p:nvSpPr>
          <p:cNvPr id="39939"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TextEdit="1"/>
          </p:cNvSpPr>
          <p:nvPr>
            <p:ph type="sldImg"/>
          </p:nvPr>
        </p:nvSpPr>
        <p:spPr>
          <a:xfrm>
            <a:off x="1150938" y="692150"/>
            <a:ext cx="4556125" cy="3416300"/>
          </a:xfrm>
        </p:spPr>
      </p:sp>
      <p:sp>
        <p:nvSpPr>
          <p:cNvPr id="40963"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TextEdit="1"/>
          </p:cNvSpPr>
          <p:nvPr>
            <p:ph type="sldImg"/>
          </p:nvPr>
        </p:nvSpPr>
        <p:spPr>
          <a:xfrm>
            <a:off x="1150938" y="692150"/>
            <a:ext cx="4556125" cy="3416300"/>
          </a:xfrm>
        </p:spPr>
      </p:sp>
      <p:sp>
        <p:nvSpPr>
          <p:cNvPr id="41987"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TextEdit="1"/>
          </p:cNvSpPr>
          <p:nvPr>
            <p:ph type="sldImg"/>
          </p:nvPr>
        </p:nvSpPr>
        <p:spPr>
          <a:xfrm>
            <a:off x="1150938" y="692150"/>
            <a:ext cx="4556125" cy="3416300"/>
          </a:xfrm>
        </p:spPr>
      </p:sp>
      <p:sp>
        <p:nvSpPr>
          <p:cNvPr id="43011" name="Rectangle 3"/>
          <p:cNvSpPr>
            <a:spLocks noGrp="1"/>
          </p:cNvSpPr>
          <p:nvPr>
            <p:ph type="body" idx="1"/>
          </p:nvPr>
        </p:nvSpPr>
        <p:spPr>
          <a:ln w="9525"/>
        </p:spPr>
        <p:txBody>
          <a:bodyPr wrap="square" lIns="90488" tIns="44450" rIns="90488" bIns="44450" anchor="t" anchorCtr="0"/>
          <a:p>
            <a:pPr lvl="0"/>
            <a:endParaRPr dirty="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60000"/>
            <a:ext cx="10800000" cy="720000"/>
          </a:xfrm>
        </p:spPr>
        <p:txBody>
          <a:bodyPr wrap="square" lIns="0" tIns="0" rIns="0" bIns="0">
            <a:normAutofit/>
          </a:bodyPr>
          <a:lstStyle>
            <a:lvl1pPr algn="l" fontAlgn="base">
              <a:defRPr sz="3200">
                <a:solidFill>
                  <a:schemeClr val="tx1"/>
                </a:solidFill>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p:txBody>
          <a:bodyPr wrap="square">
            <a:normAutofit/>
          </a:body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p>
            <a:endParaRPr lang="en-US" dirty="0"/>
          </a:p>
        </p:txBody>
      </p:sp>
      <p:sp>
        <p:nvSpPr>
          <p:cNvPr id="5" name="灯片编号占位符 4"/>
          <p:cNvSpPr>
            <a:spLocks noGrp="1"/>
          </p:cNvSpPr>
          <p:nvPr>
            <p:ph type="sldNum" sz="quarter" idx="12"/>
            <p:custDataLst>
              <p:tags r:id="rId5"/>
            </p:custDataLst>
          </p:nvPr>
        </p:nvSpPr>
        <p:spPr/>
        <p:txBody>
          <a:bodyPr wrap="square">
            <a:normAutofit/>
          </a:body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5.wmf"/><Relationship Id="rId1"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6.wmf"/><Relationship Id="rId1"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8.wmf"/><Relationship Id="rId1" Type="http://schemas.openxmlformats.org/officeDocument/2006/relationships/oleObject" Target="../embeddings/oleObject4.bin"/></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9.wmf"/><Relationship Id="rId1" Type="http://schemas.openxmlformats.org/officeDocument/2006/relationships/oleObject" Target="../embeddings/oleObject5.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vmlDrawing" Target="../drawings/vmlDrawing6.vml"/><Relationship Id="rId5" Type="http://schemas.openxmlformats.org/officeDocument/2006/relationships/slideLayout" Target="../slideLayouts/slideLayout7.xml"/><Relationship Id="rId4" Type="http://schemas.openxmlformats.org/officeDocument/2006/relationships/image" Target="../media/image11.wmf"/><Relationship Id="rId3" Type="http://schemas.openxmlformats.org/officeDocument/2006/relationships/oleObject" Target="../embeddings/oleObject7.bin"/><Relationship Id="rId2" Type="http://schemas.openxmlformats.org/officeDocument/2006/relationships/image" Target="../media/image10.wmf"/><Relationship Id="rId1" Type="http://schemas.openxmlformats.org/officeDocument/2006/relationships/oleObject" Target="../embeddings/oleObject6.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12.wmf"/><Relationship Id="rId1" Type="http://schemas.openxmlformats.org/officeDocument/2006/relationships/oleObject" Target="../embeddings/oleObject8.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13.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15.wmf"/><Relationship Id="rId1" Type="http://schemas.openxmlformats.org/officeDocument/2006/relationships/oleObject" Target="../embeddings/oleObject9.bin"/></Relationships>
</file>

<file path=ppt/slides/_rels/slide30.xml.rels><?xml version="1.0" encoding="UTF-8" standalone="yes"?>
<Relationships xmlns="http://schemas.openxmlformats.org/package/2006/relationships"><Relationship Id="rId9" Type="http://schemas.openxmlformats.org/officeDocument/2006/relationships/notesSlide" Target="../notesSlides/notesSlide29.xml"/><Relationship Id="rId8" Type="http://schemas.openxmlformats.org/officeDocument/2006/relationships/vmlDrawing" Target="../drawings/vmlDrawing9.vml"/><Relationship Id="rId7" Type="http://schemas.openxmlformats.org/officeDocument/2006/relationships/slideLayout" Target="../slideLayouts/slideLayout7.xml"/><Relationship Id="rId6" Type="http://schemas.openxmlformats.org/officeDocument/2006/relationships/image" Target="../media/image18.wmf"/><Relationship Id="rId5" Type="http://schemas.openxmlformats.org/officeDocument/2006/relationships/oleObject" Target="../embeddings/oleObject12.bin"/><Relationship Id="rId4" Type="http://schemas.openxmlformats.org/officeDocument/2006/relationships/image" Target="../media/image17.wmf"/><Relationship Id="rId3" Type="http://schemas.openxmlformats.org/officeDocument/2006/relationships/oleObject" Target="../embeddings/oleObject11.bin"/><Relationship Id="rId2" Type="http://schemas.openxmlformats.org/officeDocument/2006/relationships/image" Target="../media/image16.wmf"/><Relationship Id="rId1" Type="http://schemas.openxmlformats.org/officeDocument/2006/relationships/oleObject" Target="../embeddings/oleObject10.bin"/></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20.wmf"/><Relationship Id="rId1" Type="http://schemas.openxmlformats.org/officeDocument/2006/relationships/oleObject" Target="../embeddings/oleObject13.bin"/></Relationships>
</file>

<file path=ppt/slides/_rels/slide37.xml.rels><?xml version="1.0" encoding="UTF-8" standalone="yes"?>
<Relationships xmlns="http://schemas.openxmlformats.org/package/2006/relationships"><Relationship Id="rId7" Type="http://schemas.openxmlformats.org/officeDocument/2006/relationships/notesSlide" Target="../notesSlides/notesSlide36.xml"/><Relationship Id="rId6" Type="http://schemas.openxmlformats.org/officeDocument/2006/relationships/vmlDrawing" Target="../drawings/vmlDrawing11.vml"/><Relationship Id="rId5" Type="http://schemas.openxmlformats.org/officeDocument/2006/relationships/slideLayout" Target="../slideLayouts/slideLayout7.xml"/><Relationship Id="rId4" Type="http://schemas.openxmlformats.org/officeDocument/2006/relationships/image" Target="../media/image22.wmf"/><Relationship Id="rId3" Type="http://schemas.openxmlformats.org/officeDocument/2006/relationships/oleObject" Target="../embeddings/oleObject15.bin"/><Relationship Id="rId2" Type="http://schemas.openxmlformats.org/officeDocument/2006/relationships/image" Target="../media/image21.wmf"/><Relationship Id="rId1" Type="http://schemas.openxmlformats.org/officeDocument/2006/relationships/oleObject" Target="../embeddings/oleObject14.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23.wmf"/><Relationship Id="rId1" Type="http://schemas.openxmlformats.org/officeDocument/2006/relationships/oleObject" Target="../embeddings/oleObject16.bin"/></Relationships>
</file>

<file path=ppt/slides/_rels/slide41.xml.rels><?xml version="1.0" encoding="UTF-8" standalone="yes"?>
<Relationships xmlns="http://schemas.openxmlformats.org/package/2006/relationships"><Relationship Id="rId7" Type="http://schemas.openxmlformats.org/officeDocument/2006/relationships/notesSlide" Target="../notesSlides/notesSlide40.xml"/><Relationship Id="rId6" Type="http://schemas.openxmlformats.org/officeDocument/2006/relationships/vmlDrawing" Target="../drawings/vmlDrawing13.vml"/><Relationship Id="rId5" Type="http://schemas.openxmlformats.org/officeDocument/2006/relationships/slideLayout" Target="../slideLayouts/slideLayout7.xml"/><Relationship Id="rId4" Type="http://schemas.openxmlformats.org/officeDocument/2006/relationships/image" Target="../media/image24.wmf"/><Relationship Id="rId3" Type="http://schemas.openxmlformats.org/officeDocument/2006/relationships/oleObject" Target="../embeddings/oleObject18.bin"/><Relationship Id="rId2" Type="http://schemas.openxmlformats.org/officeDocument/2006/relationships/image" Target="../media/image21.wmf"/><Relationship Id="rId1" Type="http://schemas.openxmlformats.org/officeDocument/2006/relationships/oleObject" Target="../embeddings/oleObject17.bin"/></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vmlDrawing" Target="../drawings/vmlDrawing14.vml"/><Relationship Id="rId3" Type="http://schemas.openxmlformats.org/officeDocument/2006/relationships/slideLayout" Target="../slideLayouts/slideLayout7.xml"/><Relationship Id="rId2" Type="http://schemas.openxmlformats.org/officeDocument/2006/relationships/image" Target="../media/image25.wmf"/><Relationship Id="rId1" Type="http://schemas.openxmlformats.org/officeDocument/2006/relationships/oleObject" Target="../embeddings/oleObject19.bin"/></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52.xml"/><Relationship Id="rId4" Type="http://schemas.openxmlformats.org/officeDocument/2006/relationships/vmlDrawing" Target="../drawings/vmlDrawing15.vml"/><Relationship Id="rId3" Type="http://schemas.openxmlformats.org/officeDocument/2006/relationships/slideLayout" Target="../slideLayouts/slideLayout7.xml"/><Relationship Id="rId2" Type="http://schemas.openxmlformats.org/officeDocument/2006/relationships/image" Target="../media/image26.wmf"/><Relationship Id="rId1" Type="http://schemas.openxmlformats.org/officeDocument/2006/relationships/oleObject" Target="../embeddings/oleObject20.bin"/></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5" Type="http://schemas.openxmlformats.org/officeDocument/2006/relationships/notesSlide" Target="../notesSlides/notesSlide54.xml"/><Relationship Id="rId4" Type="http://schemas.openxmlformats.org/officeDocument/2006/relationships/vmlDrawing" Target="../drawings/vmlDrawing16.vml"/><Relationship Id="rId3" Type="http://schemas.openxmlformats.org/officeDocument/2006/relationships/slideLayout" Target="../slideLayouts/slideLayout7.xml"/><Relationship Id="rId2" Type="http://schemas.openxmlformats.org/officeDocument/2006/relationships/image" Target="../media/image27.wmf"/><Relationship Id="rId1" Type="http://schemas.openxmlformats.org/officeDocument/2006/relationships/oleObject" Target="../embeddings/oleObject21.bin"/></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7.xml"/><Relationship Id="rId1"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a:xfrm>
            <a:off x="2057400" y="266700"/>
            <a:ext cx="8001000" cy="1143000"/>
          </a:xfrm>
          <a:noFill/>
          <a:ln>
            <a:noFill/>
          </a:ln>
        </p:spPr>
        <p:txBody>
          <a:bodyPr lIns="90488" tIns="44450" rIns="90488" bIns="44450">
            <a:normAutofit fontScale="90000"/>
          </a:bodyPr>
          <a:p>
            <a:r>
              <a:rPr b="1" dirty="0">
                <a:latin typeface="+mj-lt"/>
                <a:ea typeface="+mj-ea"/>
                <a:cs typeface="+mj-cs"/>
              </a:rPr>
              <a:t>Chapter </a:t>
            </a:r>
            <a:r>
              <a:rPr lang="en-US" b="1" dirty="0">
                <a:latin typeface="+mj-lt"/>
                <a:ea typeface="+mj-ea"/>
                <a:cs typeface="+mj-cs"/>
              </a:rPr>
              <a:t>3</a:t>
            </a:r>
            <a:br>
              <a:rPr b="1" dirty="0">
                <a:latin typeface="+mj-lt"/>
                <a:ea typeface="+mj-ea"/>
                <a:cs typeface="+mj-cs"/>
              </a:rPr>
            </a:br>
            <a:r>
              <a:rPr b="1" dirty="0">
                <a:latin typeface="+mj-lt"/>
                <a:ea typeface="+mj-ea"/>
                <a:cs typeface="+mj-cs"/>
              </a:rPr>
              <a:t>Probability</a:t>
            </a:r>
            <a:endParaRPr b="1" dirty="0">
              <a:latin typeface="+mj-lt"/>
              <a:ea typeface="+mj-ea"/>
              <a:cs typeface="+mj-cs"/>
            </a:endParaRPr>
          </a:p>
        </p:txBody>
      </p:sp>
      <p:sp>
        <p:nvSpPr>
          <p:cNvPr id="7171" name="Text Box 6"/>
          <p:cNvSpPr txBox="1">
            <a:spLocks noChangeArrowheads="1"/>
          </p:cNvSpPr>
          <p:nvPr/>
        </p:nvSpPr>
        <p:spPr bwMode="auto">
          <a:xfrm>
            <a:off x="2209800" y="1676400"/>
            <a:ext cx="8077200" cy="1568450"/>
          </a:xfrm>
          <a:prstGeom prst="rect">
            <a:avLst/>
          </a:prstGeom>
          <a:noFill/>
          <a:ln w="12700">
            <a:noFill/>
            <a:miter lim="800000"/>
          </a:ln>
        </p:spPr>
        <p:txBody>
          <a:bodyPr>
            <a:spAutoFit/>
          </a:bodyPr>
          <a:lstStyle/>
          <a:p>
            <a:pPr marL="635000" marR="0" indent="-635000" defTabSz="628650">
              <a:spcBef>
                <a:spcPct val="50000"/>
              </a:spcBef>
              <a:buClrTx/>
              <a:buSzTx/>
              <a:buFontTx/>
              <a:buNone/>
              <a:defRPr/>
            </a:pPr>
            <a:r>
              <a:rPr kumimoji="0" lang="en-US" sz="2400" kern="1200" cap="none" spc="0" normalizeH="0" baseline="0" noProof="0" dirty="0">
                <a:solidFill>
                  <a:schemeClr val="accent6">
                    <a:lumMod val="75000"/>
                  </a:schemeClr>
                </a:solidFill>
                <a:latin typeface="Arial" panose="020B0604020202020204" pitchFamily="34" charset="0"/>
                <a:ea typeface="+mn-ea"/>
                <a:cs typeface="+mn-cs"/>
              </a:rPr>
              <a:t>3.1. Basic Concepts of Probability</a:t>
            </a:r>
            <a:endParaRPr kumimoji="0" lang="en-US" sz="2400" kern="1200" cap="none" spc="0" normalizeH="0" baseline="0" noProof="0" dirty="0">
              <a:solidFill>
                <a:schemeClr val="accent6">
                  <a:lumMod val="75000"/>
                </a:schemeClr>
              </a:solidFill>
              <a:latin typeface="Arial" panose="020B0604020202020204" pitchFamily="34" charset="0"/>
              <a:ea typeface="+mn-ea"/>
              <a:cs typeface="+mn-cs"/>
            </a:endParaRPr>
          </a:p>
          <a:p>
            <a:pPr marL="635000" marR="0" indent="-635000" defTabSz="628650">
              <a:spcBef>
                <a:spcPct val="50000"/>
              </a:spcBef>
              <a:buClrTx/>
              <a:buSzTx/>
              <a:buFontTx/>
              <a:buNone/>
              <a:defRPr/>
            </a:pPr>
            <a:r>
              <a:rPr kumimoji="0" lang="en-US" sz="2400" b="0" kern="1200" cap="none" spc="0" normalizeH="0" baseline="0" noProof="0" dirty="0">
                <a:latin typeface="Arial" panose="020B0604020202020204" pitchFamily="34" charset="0"/>
                <a:ea typeface="+mn-ea"/>
                <a:cs typeface="+mn-cs"/>
              </a:rPr>
              <a:t>3.2. T</a:t>
            </a:r>
            <a:r>
              <a:rPr sz="2400" dirty="0">
                <a:latin typeface="Arial" panose="020B0604020202020204" pitchFamily="34" charset="0"/>
                <a:sym typeface="+mn-ea"/>
              </a:rPr>
              <a:t>hree approaches to finding th</a:t>
            </a:r>
            <a:r>
              <a:rPr sz="2400" dirty="0">
                <a:solidFill>
                  <a:schemeClr val="tx1"/>
                </a:solidFill>
                <a:latin typeface="Arial" panose="020B0604020202020204" pitchFamily="34" charset="0"/>
                <a:sym typeface="+mn-ea"/>
              </a:rPr>
              <a:t>e probability</a:t>
            </a:r>
            <a:endParaRPr kumimoji="0" lang="en-US" sz="2400" b="0" kern="1200" cap="none" spc="0" normalizeH="0" baseline="0" noProof="0" dirty="0">
              <a:solidFill>
                <a:schemeClr val="tx1"/>
              </a:solidFill>
              <a:latin typeface="Arial" panose="020B0604020202020204" pitchFamily="34" charset="0"/>
              <a:ea typeface="+mn-ea"/>
              <a:cs typeface="+mn-cs"/>
            </a:endParaRPr>
          </a:p>
          <a:p>
            <a:pPr marL="635000" marR="0" indent="-635000" defTabSz="628650">
              <a:spcBef>
                <a:spcPct val="50000"/>
              </a:spcBef>
              <a:buClrTx/>
              <a:buSzTx/>
              <a:buFontTx/>
              <a:buNone/>
              <a:defRPr/>
            </a:pPr>
            <a:r>
              <a:rPr kumimoji="0" lang="en-US" sz="2400" b="0" kern="1200" cap="none" spc="0" normalizeH="0" baseline="0" noProof="0" dirty="0">
                <a:latin typeface="Arial" panose="020B0604020202020204" pitchFamily="34" charset="0"/>
                <a:ea typeface="+mn-ea"/>
                <a:cs typeface="+mn-cs"/>
              </a:rPr>
              <a:t>3.3. Conditional Probability</a:t>
            </a:r>
            <a:endParaRPr kumimoji="0" lang="en-US" sz="2400" b="0" kern="1200" cap="none" spc="0" normalizeH="0" baseline="0" noProof="0" dirty="0">
              <a:latin typeface="Arial" panose="020B0604020202020204" pitchFamily="34" charset="0"/>
              <a:ea typeface="+mn-ea"/>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4"/>
          <p:cNvSpPr/>
          <p:nvPr/>
        </p:nvSpPr>
        <p:spPr>
          <a:xfrm>
            <a:off x="3352800" y="190500"/>
            <a:ext cx="5410200" cy="762000"/>
          </a:xfrm>
          <a:prstGeom prst="rect">
            <a:avLst/>
          </a:prstGeom>
          <a:noFill/>
          <a:ln w="12700">
            <a:noFill/>
          </a:ln>
        </p:spPr>
        <p:txBody>
          <a:bodyPr lIns="90488" tIns="44450" rIns="90488" bIns="44450" anchor="ctr" anchorCtr="0"/>
          <a:p>
            <a:pPr algn="ctr"/>
            <a:r>
              <a:rPr sz="4000" dirty="0">
                <a:solidFill>
                  <a:srgbClr val="008000"/>
                </a:solidFill>
                <a:latin typeface="Arial" panose="020B0604020202020204" pitchFamily="34" charset="0"/>
              </a:rPr>
              <a:t>Key Concept</a:t>
            </a:r>
            <a:endParaRPr sz="4000" dirty="0">
              <a:solidFill>
                <a:srgbClr val="008000"/>
              </a:solidFill>
              <a:latin typeface="Arial" panose="020B0604020202020204" pitchFamily="34" charset="0"/>
            </a:endParaRPr>
          </a:p>
        </p:txBody>
      </p:sp>
      <p:sp>
        <p:nvSpPr>
          <p:cNvPr id="11267" name="Text Box 5"/>
          <p:cNvSpPr txBox="1"/>
          <p:nvPr/>
        </p:nvSpPr>
        <p:spPr>
          <a:xfrm>
            <a:off x="1981200" y="1600200"/>
            <a:ext cx="8382000" cy="368300"/>
          </a:xfrm>
          <a:prstGeom prst="rect">
            <a:avLst/>
          </a:prstGeom>
          <a:noFill/>
          <a:ln w="12700">
            <a:noFill/>
          </a:ln>
        </p:spPr>
        <p:txBody>
          <a:bodyPr>
            <a:spAutoFit/>
          </a:bodyPr>
          <a:p>
            <a:pPr>
              <a:spcBef>
                <a:spcPct val="50000"/>
              </a:spcBef>
            </a:pPr>
            <a:endParaRPr dirty="0">
              <a:latin typeface="Arial" panose="020B0604020202020204" pitchFamily="34" charset="0"/>
            </a:endParaRPr>
          </a:p>
        </p:txBody>
      </p:sp>
      <p:sp>
        <p:nvSpPr>
          <p:cNvPr id="11268" name="Text Box 6"/>
          <p:cNvSpPr txBox="1"/>
          <p:nvPr/>
        </p:nvSpPr>
        <p:spPr>
          <a:xfrm>
            <a:off x="2362200" y="1752600"/>
            <a:ext cx="7924800" cy="1076325"/>
          </a:xfrm>
          <a:prstGeom prst="rect">
            <a:avLst/>
          </a:prstGeom>
          <a:noFill/>
          <a:ln w="12700">
            <a:noFill/>
          </a:ln>
        </p:spPr>
        <p:txBody>
          <a:bodyPr>
            <a:spAutoFit/>
          </a:bodyPr>
          <a:p>
            <a:pPr>
              <a:spcBef>
                <a:spcPct val="50000"/>
              </a:spcBef>
            </a:pPr>
            <a:r>
              <a:rPr sz="3200" b="0" dirty="0">
                <a:latin typeface="Arial" panose="020B0604020202020204" pitchFamily="34" charset="0"/>
              </a:rPr>
              <a:t>This section presents three approaches to finding the </a:t>
            </a:r>
            <a:r>
              <a:rPr sz="3200" b="0" dirty="0">
                <a:solidFill>
                  <a:schemeClr val="hlink"/>
                </a:solidFill>
                <a:latin typeface="Arial" panose="020B0604020202020204" pitchFamily="34" charset="0"/>
              </a:rPr>
              <a:t>probability</a:t>
            </a:r>
            <a:r>
              <a:rPr sz="3200" b="0" dirty="0">
                <a:latin typeface="Arial" panose="020B0604020202020204" pitchFamily="34" charset="0"/>
              </a:rPr>
              <a:t> of an event.</a:t>
            </a:r>
            <a:endParaRPr sz="3200" b="0" dirty="0">
              <a:latin typeface="Arial" panose="020B0604020202020204" pitchFamily="34" charset="0"/>
            </a:endParaRPr>
          </a:p>
        </p:txBody>
      </p:sp>
      <p:sp>
        <p:nvSpPr>
          <p:cNvPr id="11269" name="Text Box 7"/>
          <p:cNvSpPr txBox="1"/>
          <p:nvPr/>
        </p:nvSpPr>
        <p:spPr>
          <a:xfrm>
            <a:off x="2311400" y="3175000"/>
            <a:ext cx="7924800" cy="1568450"/>
          </a:xfrm>
          <a:prstGeom prst="rect">
            <a:avLst/>
          </a:prstGeom>
          <a:noFill/>
          <a:ln w="12700">
            <a:noFill/>
          </a:ln>
        </p:spPr>
        <p:txBody>
          <a:bodyPr>
            <a:spAutoFit/>
          </a:bodyPr>
          <a:p>
            <a:pPr>
              <a:spcBef>
                <a:spcPct val="50000"/>
              </a:spcBef>
            </a:pPr>
            <a:r>
              <a:rPr sz="3200" b="0" dirty="0">
                <a:latin typeface="Arial" panose="020B0604020202020204" pitchFamily="34" charset="0"/>
              </a:rPr>
              <a:t>The most important objective of this section is to learn how to </a:t>
            </a:r>
            <a:r>
              <a:rPr sz="3200" b="0" dirty="0">
                <a:solidFill>
                  <a:schemeClr val="hlink"/>
                </a:solidFill>
                <a:latin typeface="Arial" panose="020B0604020202020204" pitchFamily="34" charset="0"/>
              </a:rPr>
              <a:t>interpret</a:t>
            </a:r>
            <a:r>
              <a:rPr sz="3200" b="0" dirty="0">
                <a:latin typeface="Arial" panose="020B0604020202020204" pitchFamily="34" charset="0"/>
              </a:rPr>
              <a:t> probability values.</a:t>
            </a:r>
            <a:endParaRPr sz="3200" b="0" dirty="0">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p:nvPr/>
        </p:nvSpPr>
        <p:spPr>
          <a:xfrm>
            <a:off x="1898650" y="100013"/>
            <a:ext cx="8074025" cy="1783080"/>
          </a:xfrm>
          <a:prstGeom prst="rect">
            <a:avLst/>
          </a:prstGeom>
          <a:noFill/>
          <a:ln w="12700">
            <a:noFill/>
          </a:ln>
        </p:spPr>
        <p:txBody>
          <a:bodyPr lIns="90488" tIns="44450" rIns="90488" bIns="44450">
            <a:spAutoFit/>
          </a:bodyPr>
          <a:p>
            <a:endParaRPr sz="6000" dirty="0">
              <a:solidFill>
                <a:srgbClr val="00279F"/>
              </a:solidFill>
              <a:latin typeface="Arial" panose="020B0604020202020204" pitchFamily="34" charset="0"/>
            </a:endParaRPr>
          </a:p>
          <a:p>
            <a:pPr>
              <a:spcBef>
                <a:spcPct val="14000"/>
              </a:spcBef>
            </a:pPr>
            <a:r>
              <a:rPr sz="4400" b="0" dirty="0">
                <a:solidFill>
                  <a:schemeClr val="hlink"/>
                </a:solidFill>
                <a:latin typeface="Arial" panose="020B0604020202020204" pitchFamily="34" charset="0"/>
              </a:rPr>
              <a:t>     </a:t>
            </a:r>
            <a:endParaRPr sz="4800" dirty="0">
              <a:solidFill>
                <a:schemeClr val="hlink"/>
              </a:solidFill>
              <a:latin typeface="Arial" panose="020B0604020202020204" pitchFamily="34" charset="0"/>
            </a:endParaRPr>
          </a:p>
        </p:txBody>
      </p:sp>
      <p:sp>
        <p:nvSpPr>
          <p:cNvPr id="12291" name="Rectangle 3"/>
          <p:cNvSpPr>
            <a:spLocks noGrp="1"/>
          </p:cNvSpPr>
          <p:nvPr>
            <p:ph type="title" idx="4294967295"/>
          </p:nvPr>
        </p:nvSpPr>
        <p:spPr>
          <a:xfrm>
            <a:off x="2057400" y="190500"/>
            <a:ext cx="8001000" cy="762000"/>
          </a:xfrm>
          <a:prstGeom prst="rect">
            <a:avLst/>
          </a:prstGeom>
          <a:noFill/>
          <a:ln w="9525">
            <a:noFill/>
          </a:ln>
        </p:spPr>
        <p:txBody>
          <a:bodyPr lIns="90488" tIns="44450" rIns="90488" bIns="44450"/>
          <a:p>
            <a:r>
              <a:rPr dirty="0"/>
              <a:t>Definitions</a:t>
            </a:r>
            <a:endParaRPr dirty="0"/>
          </a:p>
        </p:txBody>
      </p:sp>
      <p:sp>
        <p:nvSpPr>
          <p:cNvPr id="12292" name="Text Box 4"/>
          <p:cNvSpPr txBox="1"/>
          <p:nvPr/>
        </p:nvSpPr>
        <p:spPr>
          <a:xfrm>
            <a:off x="1905000" y="1281113"/>
            <a:ext cx="8305800" cy="1014730"/>
          </a:xfrm>
          <a:prstGeom prst="rect">
            <a:avLst/>
          </a:prstGeom>
          <a:noFill/>
          <a:ln w="12700">
            <a:noFill/>
          </a:ln>
        </p:spPr>
        <p:txBody>
          <a:bodyPr>
            <a:spAutoFit/>
          </a:bodyPr>
          <a:p>
            <a:pPr marL="914400" indent="-914400">
              <a:spcBef>
                <a:spcPct val="50000"/>
              </a:spcBef>
              <a:buClr>
                <a:schemeClr val="accent2"/>
              </a:buClr>
              <a:buFont typeface="Wingdings" panose="05000000000000000000" pitchFamily="2" charset="2"/>
              <a:buChar char="v"/>
            </a:pPr>
            <a:r>
              <a:rPr sz="2400" b="0" dirty="0">
                <a:solidFill>
                  <a:schemeClr val="hlink"/>
                </a:solidFill>
                <a:latin typeface="Arial" panose="020B0604020202020204" pitchFamily="34" charset="0"/>
              </a:rPr>
              <a:t>Event</a:t>
            </a:r>
            <a:r>
              <a:rPr lang="en-US" sz="2400" b="0" dirty="0">
                <a:solidFill>
                  <a:schemeClr val="hlink"/>
                </a:solidFill>
                <a:latin typeface="Arial" panose="020B0604020202020204" pitchFamily="34" charset="0"/>
              </a:rPr>
              <a:t> (Biến cố)</a:t>
            </a:r>
            <a:endParaRPr sz="2400" b="0" dirty="0">
              <a:solidFill>
                <a:schemeClr val="hlink"/>
              </a:solidFill>
              <a:latin typeface="Arial" panose="020B0604020202020204" pitchFamily="34" charset="0"/>
            </a:endParaRPr>
          </a:p>
          <a:p>
            <a:pPr marL="914400" indent="-914400">
              <a:spcBef>
                <a:spcPct val="50000"/>
              </a:spcBef>
              <a:buClr>
                <a:schemeClr val="accent2"/>
              </a:buClr>
              <a:buFont typeface="Wingdings" panose="05000000000000000000" pitchFamily="2" charset="2"/>
            </a:pPr>
            <a:r>
              <a:rPr sz="2400" b="0" dirty="0">
                <a:latin typeface="Arial" panose="020B0604020202020204" pitchFamily="34" charset="0"/>
              </a:rPr>
              <a:t>	any collection of results or outcomes of a procedure</a:t>
            </a:r>
            <a:endParaRPr sz="2400" b="0" dirty="0">
              <a:latin typeface="Arial" panose="020B0604020202020204" pitchFamily="34" charset="0"/>
            </a:endParaRPr>
          </a:p>
        </p:txBody>
      </p:sp>
      <p:sp>
        <p:nvSpPr>
          <p:cNvPr id="237573" name="Text Box 5"/>
          <p:cNvSpPr txBox="1"/>
          <p:nvPr/>
        </p:nvSpPr>
        <p:spPr>
          <a:xfrm>
            <a:off x="1905000" y="2652713"/>
            <a:ext cx="8305800" cy="1383665"/>
          </a:xfrm>
          <a:prstGeom prst="rect">
            <a:avLst/>
          </a:prstGeom>
          <a:noFill/>
          <a:ln w="12700">
            <a:noFill/>
          </a:ln>
        </p:spPr>
        <p:txBody>
          <a:bodyPr>
            <a:spAutoFit/>
          </a:bodyPr>
          <a:p>
            <a:pPr marL="914400" indent="-914400">
              <a:spcBef>
                <a:spcPct val="50000"/>
              </a:spcBef>
              <a:buClr>
                <a:schemeClr val="accent2"/>
              </a:buClr>
              <a:buFont typeface="Wingdings" panose="05000000000000000000" pitchFamily="2" charset="2"/>
              <a:buChar char="v"/>
            </a:pPr>
            <a:r>
              <a:rPr sz="2400" b="0" dirty="0">
                <a:solidFill>
                  <a:schemeClr val="hlink"/>
                </a:solidFill>
                <a:latin typeface="Arial" panose="020B0604020202020204" pitchFamily="34" charset="0"/>
              </a:rPr>
              <a:t>Simple Event</a:t>
            </a:r>
            <a:r>
              <a:rPr lang="en-US" sz="2400" b="0" dirty="0">
                <a:solidFill>
                  <a:schemeClr val="hlink"/>
                </a:solidFill>
                <a:latin typeface="Arial" panose="020B0604020202020204" pitchFamily="34" charset="0"/>
              </a:rPr>
              <a:t> (Biến cố cơ bản)</a:t>
            </a:r>
            <a:endParaRPr sz="2400" b="0" dirty="0">
              <a:solidFill>
                <a:schemeClr val="hlink"/>
              </a:solidFill>
              <a:latin typeface="Arial" panose="020B0604020202020204" pitchFamily="34" charset="0"/>
            </a:endParaRPr>
          </a:p>
          <a:p>
            <a:pPr marL="914400" indent="-914400">
              <a:spcBef>
                <a:spcPct val="50000"/>
              </a:spcBef>
              <a:buClr>
                <a:schemeClr val="accent2"/>
              </a:buClr>
              <a:buFont typeface="Wingdings" panose="05000000000000000000" pitchFamily="2" charset="2"/>
            </a:pPr>
            <a:r>
              <a:rPr sz="2400" b="0" dirty="0">
                <a:latin typeface="Arial" panose="020B0604020202020204" pitchFamily="34" charset="0"/>
              </a:rPr>
              <a:t>	an outcome or an event that cannot be further broken down into simpler components</a:t>
            </a:r>
            <a:endParaRPr sz="2400" b="0" dirty="0">
              <a:latin typeface="Arial" panose="020B0604020202020204" pitchFamily="34" charset="0"/>
            </a:endParaRPr>
          </a:p>
        </p:txBody>
      </p:sp>
      <p:sp>
        <p:nvSpPr>
          <p:cNvPr id="237574" name="Text Box 6"/>
          <p:cNvSpPr txBox="1"/>
          <p:nvPr/>
        </p:nvSpPr>
        <p:spPr>
          <a:xfrm>
            <a:off x="1905000" y="4114800"/>
            <a:ext cx="8305800" cy="1753235"/>
          </a:xfrm>
          <a:prstGeom prst="rect">
            <a:avLst/>
          </a:prstGeom>
          <a:noFill/>
          <a:ln w="12700">
            <a:noFill/>
          </a:ln>
        </p:spPr>
        <p:txBody>
          <a:bodyPr>
            <a:spAutoFit/>
          </a:bodyPr>
          <a:p>
            <a:pPr marL="914400" indent="-914400">
              <a:spcBef>
                <a:spcPct val="50000"/>
              </a:spcBef>
              <a:buClr>
                <a:schemeClr val="accent2"/>
              </a:buClr>
              <a:buFont typeface="Wingdings" panose="05000000000000000000" pitchFamily="2" charset="2"/>
              <a:buChar char="v"/>
            </a:pPr>
            <a:r>
              <a:rPr sz="2400" b="0" dirty="0">
                <a:solidFill>
                  <a:schemeClr val="hlink"/>
                </a:solidFill>
                <a:latin typeface="Arial" panose="020B0604020202020204" pitchFamily="34" charset="0"/>
              </a:rPr>
              <a:t>Sample Space</a:t>
            </a:r>
            <a:r>
              <a:rPr lang="en-US" sz="2400" b="0" dirty="0">
                <a:solidFill>
                  <a:schemeClr val="hlink"/>
                </a:solidFill>
                <a:latin typeface="Arial" panose="020B0604020202020204" pitchFamily="34" charset="0"/>
              </a:rPr>
              <a:t> (Không gian mẫu)</a:t>
            </a:r>
            <a:endParaRPr sz="2400" b="0" dirty="0">
              <a:solidFill>
                <a:schemeClr val="hlink"/>
              </a:solidFill>
              <a:latin typeface="Arial" panose="020B0604020202020204" pitchFamily="34" charset="0"/>
            </a:endParaRPr>
          </a:p>
          <a:p>
            <a:pPr marL="914400" indent="-914400">
              <a:spcBef>
                <a:spcPct val="50000"/>
              </a:spcBef>
              <a:buClr>
                <a:schemeClr val="accent2"/>
              </a:buClr>
              <a:buFont typeface="Wingdings" panose="05000000000000000000" pitchFamily="2" charset="2"/>
            </a:pPr>
            <a:r>
              <a:rPr sz="2400" b="0" dirty="0">
                <a:latin typeface="Arial" panose="020B0604020202020204" pitchFamily="34" charset="0"/>
              </a:rPr>
              <a:t>	for a procedure consists of all possible </a:t>
            </a:r>
            <a:r>
              <a:rPr sz="2400" b="0" dirty="0">
                <a:solidFill>
                  <a:schemeClr val="hlink"/>
                </a:solidFill>
                <a:latin typeface="Arial" panose="020B0604020202020204" pitchFamily="34" charset="0"/>
              </a:rPr>
              <a:t>simple</a:t>
            </a:r>
            <a:r>
              <a:rPr sz="2400" b="0" dirty="0">
                <a:latin typeface="Arial" panose="020B0604020202020204" pitchFamily="34" charset="0"/>
              </a:rPr>
              <a:t> events; that is, the sample space consists of all outcomes that cannot be broken down any further</a:t>
            </a:r>
            <a:endParaRPr sz="2400" b="0"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75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75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3" grpId="0"/>
      <p:bldP spid="23757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p:nvPr/>
        </p:nvSpPr>
        <p:spPr>
          <a:xfrm>
            <a:off x="2438400" y="609600"/>
            <a:ext cx="7162800" cy="1143000"/>
          </a:xfrm>
          <a:prstGeom prst="rect">
            <a:avLst/>
          </a:prstGeom>
          <a:noFill/>
          <a:ln w="12700">
            <a:noFill/>
          </a:ln>
        </p:spPr>
        <p:txBody>
          <a:bodyPr wrap="none" anchor="ctr" anchorCtr="0"/>
          <a:p>
            <a:endParaRPr dirty="0">
              <a:latin typeface="Arial" panose="020B0604020202020204" pitchFamily="34" charset="0"/>
            </a:endParaRPr>
          </a:p>
        </p:txBody>
      </p:sp>
      <p:sp>
        <p:nvSpPr>
          <p:cNvPr id="13315" name="Rectangle 4"/>
          <p:cNvSpPr/>
          <p:nvPr/>
        </p:nvSpPr>
        <p:spPr>
          <a:xfrm>
            <a:off x="2209800" y="254000"/>
            <a:ext cx="7772400" cy="704215"/>
          </a:xfrm>
          <a:prstGeom prst="rect">
            <a:avLst/>
          </a:prstGeom>
          <a:noFill/>
          <a:ln w="12700">
            <a:noFill/>
          </a:ln>
        </p:spPr>
        <p:txBody>
          <a:bodyPr lIns="90488" tIns="44450" rIns="90488" bIns="44450">
            <a:spAutoFit/>
          </a:bodyPr>
          <a:p>
            <a:pPr algn="ctr"/>
            <a:r>
              <a:rPr sz="4000" dirty="0">
                <a:solidFill>
                  <a:srgbClr val="008000"/>
                </a:solidFill>
                <a:latin typeface="Arial" panose="020B0604020202020204" pitchFamily="34" charset="0"/>
              </a:rPr>
              <a:t>Example</a:t>
            </a:r>
            <a:endParaRPr sz="4000" dirty="0">
              <a:solidFill>
                <a:srgbClr val="008000"/>
              </a:solidFill>
              <a:latin typeface="Arial" panose="020B0604020202020204" pitchFamily="34" charset="0"/>
            </a:endParaRPr>
          </a:p>
        </p:txBody>
      </p:sp>
      <p:sp>
        <p:nvSpPr>
          <p:cNvPr id="13316" name="Rectangle 5"/>
          <p:cNvSpPr>
            <a:spLocks noGrp="1"/>
          </p:cNvSpPr>
          <p:nvPr>
            <p:ph type="body" idx="4294967295"/>
          </p:nvPr>
        </p:nvSpPr>
        <p:spPr>
          <a:xfrm>
            <a:off x="2057400" y="1143000"/>
            <a:ext cx="8153400" cy="1143000"/>
          </a:xfrm>
          <a:prstGeom prst="rect">
            <a:avLst/>
          </a:prstGeom>
          <a:noFill/>
          <a:ln w="12700">
            <a:noFill/>
          </a:ln>
        </p:spPr>
        <p:txBody>
          <a:bodyPr lIns="90488" tIns="44450" rIns="90488" bIns="44450"/>
          <a:p>
            <a:pPr marL="0" indent="0" defTabSz="795655">
              <a:lnSpc>
                <a:spcPct val="95000"/>
              </a:lnSpc>
              <a:spcAft>
                <a:spcPct val="30000"/>
              </a:spcAft>
              <a:buNone/>
              <a:tabLst>
                <a:tab pos="1828800" algn="l"/>
              </a:tabLst>
            </a:pPr>
            <a:r>
              <a:rPr sz="2800" b="0" dirty="0"/>
              <a:t>In the following display, we use “b” to  denote a baby boy and “g” to denote a baby girl.</a:t>
            </a:r>
            <a:endParaRPr sz="2800" b="0" dirty="0"/>
          </a:p>
        </p:txBody>
      </p:sp>
      <p:graphicFrame>
        <p:nvGraphicFramePr>
          <p:cNvPr id="5" name="Table 4"/>
          <p:cNvGraphicFramePr>
            <a:graphicFrameLocks noGrp="1"/>
          </p:cNvGraphicFramePr>
          <p:nvPr/>
        </p:nvGraphicFramePr>
        <p:xfrm>
          <a:off x="3124200" y="2590800"/>
          <a:ext cx="6096000" cy="2468245"/>
        </p:xfrm>
        <a:graphic>
          <a:graphicData uri="http://schemas.openxmlformats.org/drawingml/2006/table">
            <a:tbl>
              <a:tblPr firstRow="1" bandRow="1">
                <a:tableStyleId>{5940675A-B579-460E-94D1-54222C63F5DA}</a:tableStyleId>
              </a:tblPr>
              <a:tblGrid>
                <a:gridCol w="2032000"/>
                <a:gridCol w="2032000"/>
                <a:gridCol w="2032000"/>
              </a:tblGrid>
              <a:tr h="640080">
                <a:tc>
                  <a:txBody>
                    <a:bodyPr/>
                    <a:lstStyle/>
                    <a:p>
                      <a:pPr algn="ctr"/>
                      <a:r>
                        <a:rPr lang="en-US" sz="1800" b="1" dirty="0" smtClean="0"/>
                        <a:t>Procedure</a:t>
                      </a:r>
                      <a:endParaRPr lang="en-US" sz="1800" b="1" dirty="0"/>
                    </a:p>
                  </a:txBody>
                  <a:tcPr marT="45714" marB="45714"/>
                </a:tc>
                <a:tc>
                  <a:txBody>
                    <a:bodyPr/>
                    <a:lstStyle/>
                    <a:p>
                      <a:pPr algn="ctr"/>
                      <a:r>
                        <a:rPr lang="en-US" sz="1800" b="1" dirty="0" smtClean="0"/>
                        <a:t>Example of Event</a:t>
                      </a:r>
                      <a:endParaRPr lang="en-US" sz="1800" b="1" dirty="0"/>
                    </a:p>
                  </a:txBody>
                  <a:tcPr marT="45714" marB="45714"/>
                </a:tc>
                <a:tc>
                  <a:txBody>
                    <a:bodyPr/>
                    <a:lstStyle/>
                    <a:p>
                      <a:pPr algn="ctr"/>
                      <a:r>
                        <a:rPr lang="en-US" sz="1800" b="1" dirty="0" smtClean="0"/>
                        <a:t>Sample Space</a:t>
                      </a:r>
                      <a:endParaRPr lang="en-US" sz="1800" b="1" dirty="0"/>
                    </a:p>
                  </a:txBody>
                  <a:tcPr marT="45714" marB="45714"/>
                </a:tc>
              </a:tr>
              <a:tr h="639445">
                <a:tc>
                  <a:txBody>
                    <a:bodyPr/>
                    <a:lstStyle/>
                    <a:p>
                      <a:r>
                        <a:rPr lang="en-US" sz="1800" dirty="0" smtClean="0"/>
                        <a:t>Single birth</a:t>
                      </a:r>
                      <a:endParaRPr lang="en-US" sz="1800" dirty="0"/>
                    </a:p>
                  </a:txBody>
                  <a:tcPr marT="45714" marB="45714"/>
                </a:tc>
                <a:tc>
                  <a:txBody>
                    <a:bodyPr/>
                    <a:lstStyle/>
                    <a:p>
                      <a:r>
                        <a:rPr lang="en-US" sz="1800" dirty="0" smtClean="0"/>
                        <a:t>1 girl (simple event)</a:t>
                      </a:r>
                      <a:endParaRPr lang="en-US" sz="1800" dirty="0"/>
                    </a:p>
                  </a:txBody>
                  <a:tcPr marT="45714" marB="45714"/>
                </a:tc>
                <a:tc>
                  <a:txBody>
                    <a:bodyPr/>
                    <a:lstStyle/>
                    <a:p>
                      <a:r>
                        <a:rPr lang="en-US" sz="1800" dirty="0" smtClean="0"/>
                        <a:t>{b, g}</a:t>
                      </a:r>
                      <a:endParaRPr lang="en-US" sz="1800" dirty="0"/>
                    </a:p>
                  </a:txBody>
                  <a:tcPr marT="45714" marB="45714"/>
                </a:tc>
              </a:tr>
              <a:tr h="1188720">
                <a:tc>
                  <a:txBody>
                    <a:bodyPr/>
                    <a:lstStyle/>
                    <a:p>
                      <a:r>
                        <a:rPr lang="en-US" sz="1800" dirty="0" smtClean="0"/>
                        <a:t>3 births</a:t>
                      </a:r>
                      <a:endParaRPr lang="en-US" sz="1800" dirty="0"/>
                    </a:p>
                  </a:txBody>
                  <a:tcPr marT="45714" marB="45714"/>
                </a:tc>
                <a:tc>
                  <a:txBody>
                    <a:bodyPr/>
                    <a:lstStyle/>
                    <a:p>
                      <a:r>
                        <a:rPr lang="en-US" sz="1800" dirty="0" smtClean="0"/>
                        <a:t>2 boys and 1</a:t>
                      </a:r>
                      <a:r>
                        <a:rPr lang="en-US" sz="1800" baseline="0" dirty="0" smtClean="0"/>
                        <a:t> girl</a:t>
                      </a:r>
                      <a:endParaRPr lang="en-US" sz="1800" baseline="0" dirty="0" smtClean="0"/>
                    </a:p>
                    <a:p>
                      <a:r>
                        <a:rPr lang="en-US" sz="1800" baseline="0" dirty="0" smtClean="0"/>
                        <a:t>(bbg, bgb, and gbb are all simple events)</a:t>
                      </a:r>
                      <a:endParaRPr lang="en-US" sz="1800" dirty="0"/>
                    </a:p>
                  </a:txBody>
                  <a:tcPr marT="45714" marB="45714"/>
                </a:tc>
                <a:tc>
                  <a:txBody>
                    <a:bodyPr/>
                    <a:lstStyle/>
                    <a:p>
                      <a:r>
                        <a:rPr lang="en-US" sz="1800" dirty="0" smtClean="0"/>
                        <a:t>{bbb,</a:t>
                      </a:r>
                      <a:r>
                        <a:rPr lang="en-US" sz="1800" baseline="0" dirty="0" smtClean="0"/>
                        <a:t> bbg, bgb, bgg, gbb, gbg, ggb, ggg}</a:t>
                      </a:r>
                      <a:endParaRPr lang="en-US" sz="1800" dirty="0"/>
                    </a:p>
                  </a:txBody>
                  <a:tcPr marT="45714" marB="45714"/>
                </a:tc>
              </a:tr>
            </a:tbl>
          </a:graphicData>
        </a:graphic>
      </p:graphicFrame>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p:nvPr/>
        </p:nvSpPr>
        <p:spPr>
          <a:xfrm>
            <a:off x="2438400" y="609600"/>
            <a:ext cx="7162800" cy="1143000"/>
          </a:xfrm>
          <a:prstGeom prst="rect">
            <a:avLst/>
          </a:prstGeom>
          <a:noFill/>
          <a:ln w="12700">
            <a:noFill/>
          </a:ln>
        </p:spPr>
        <p:txBody>
          <a:bodyPr wrap="none" anchor="ctr" anchorCtr="0"/>
          <a:p>
            <a:endParaRPr dirty="0">
              <a:latin typeface="Arial" panose="020B0604020202020204" pitchFamily="34" charset="0"/>
            </a:endParaRPr>
          </a:p>
        </p:txBody>
      </p:sp>
      <p:sp>
        <p:nvSpPr>
          <p:cNvPr id="14339" name="Rectangle 4"/>
          <p:cNvSpPr/>
          <p:nvPr/>
        </p:nvSpPr>
        <p:spPr>
          <a:xfrm>
            <a:off x="2209800" y="254000"/>
            <a:ext cx="7772400" cy="1319530"/>
          </a:xfrm>
          <a:prstGeom prst="rect">
            <a:avLst/>
          </a:prstGeom>
          <a:noFill/>
          <a:ln w="12700">
            <a:noFill/>
          </a:ln>
        </p:spPr>
        <p:txBody>
          <a:bodyPr lIns="90488" tIns="44450" rIns="90488" bIns="44450">
            <a:spAutoFit/>
          </a:bodyPr>
          <a:p>
            <a:pPr algn="ctr"/>
            <a:r>
              <a:rPr sz="4000" dirty="0">
                <a:solidFill>
                  <a:srgbClr val="008000"/>
                </a:solidFill>
                <a:latin typeface="Arial" panose="020B0604020202020204" pitchFamily="34" charset="0"/>
              </a:rPr>
              <a:t>Notation for </a:t>
            </a:r>
            <a:endParaRPr sz="4000" dirty="0">
              <a:solidFill>
                <a:srgbClr val="008000"/>
              </a:solidFill>
              <a:latin typeface="Arial" panose="020B0604020202020204" pitchFamily="34" charset="0"/>
            </a:endParaRPr>
          </a:p>
          <a:p>
            <a:pPr algn="ctr"/>
            <a:r>
              <a:rPr sz="4000" dirty="0">
                <a:solidFill>
                  <a:srgbClr val="008000"/>
                </a:solidFill>
                <a:latin typeface="Arial" panose="020B0604020202020204" pitchFamily="34" charset="0"/>
              </a:rPr>
              <a:t>Probabilities</a:t>
            </a:r>
            <a:endParaRPr sz="4000" dirty="0">
              <a:solidFill>
                <a:srgbClr val="008000"/>
              </a:solidFill>
              <a:latin typeface="Arial" panose="020B0604020202020204" pitchFamily="34" charset="0"/>
            </a:endParaRPr>
          </a:p>
        </p:txBody>
      </p:sp>
      <p:sp>
        <p:nvSpPr>
          <p:cNvPr id="12293" name="Rectangle 5"/>
          <p:cNvSpPr>
            <a:spLocks noGrp="1"/>
          </p:cNvSpPr>
          <p:nvPr>
            <p:ph type="body" idx="4294967295"/>
          </p:nvPr>
        </p:nvSpPr>
        <p:spPr>
          <a:xfrm>
            <a:off x="2057400" y="1752600"/>
            <a:ext cx="8153400" cy="3124200"/>
          </a:xfrm>
          <a:prstGeom prst="rect">
            <a:avLst/>
          </a:prstGeom>
          <a:noFill/>
          <a:ln w="12700">
            <a:noFill/>
          </a:ln>
        </p:spPr>
        <p:txBody>
          <a:bodyPr lIns="90488" tIns="44450" rIns="90488" bIns="44450"/>
          <a:p>
            <a:pPr defTabSz="795655">
              <a:lnSpc>
                <a:spcPct val="95000"/>
              </a:lnSpc>
              <a:spcAft>
                <a:spcPct val="30000"/>
              </a:spcAft>
              <a:buNone/>
              <a:tabLst>
                <a:tab pos="1828800" algn="l"/>
              </a:tabLst>
            </a:pPr>
            <a:r>
              <a:rPr sz="3200" b="0" i="1" dirty="0">
                <a:solidFill>
                  <a:schemeClr val="hlink"/>
                </a:solidFill>
              </a:rPr>
              <a:t>P</a:t>
            </a:r>
            <a:r>
              <a:rPr sz="3200" b="0" dirty="0"/>
              <a:t> - denotes a probability.</a:t>
            </a:r>
            <a:endParaRPr sz="3200" b="0" dirty="0"/>
          </a:p>
          <a:p>
            <a:pPr defTabSz="795655">
              <a:lnSpc>
                <a:spcPct val="95000"/>
              </a:lnSpc>
              <a:spcAft>
                <a:spcPct val="30000"/>
              </a:spcAft>
              <a:buNone/>
              <a:tabLst>
                <a:tab pos="1828800" algn="l"/>
              </a:tabLst>
            </a:pPr>
            <a:r>
              <a:rPr sz="3200" b="0" i="1" dirty="0">
                <a:solidFill>
                  <a:schemeClr val="hlink"/>
                </a:solidFill>
              </a:rPr>
              <a:t>A, B</a:t>
            </a:r>
            <a:r>
              <a:rPr sz="3200" b="0" dirty="0">
                <a:solidFill>
                  <a:schemeClr val="hlink"/>
                </a:solidFill>
              </a:rPr>
              <a:t>, and </a:t>
            </a:r>
            <a:r>
              <a:rPr sz="3200" b="0" i="1" dirty="0">
                <a:solidFill>
                  <a:schemeClr val="hlink"/>
                </a:solidFill>
              </a:rPr>
              <a:t>C</a:t>
            </a:r>
            <a:r>
              <a:rPr sz="3200" b="0" dirty="0"/>
              <a:t> - denote specific events.</a:t>
            </a:r>
            <a:endParaRPr sz="3200" b="0" dirty="0"/>
          </a:p>
          <a:p>
            <a:pPr defTabSz="795655">
              <a:lnSpc>
                <a:spcPct val="95000"/>
              </a:lnSpc>
              <a:spcAft>
                <a:spcPct val="30000"/>
              </a:spcAft>
              <a:buNone/>
              <a:tabLst>
                <a:tab pos="1828800" algn="l"/>
              </a:tabLst>
            </a:pPr>
            <a:r>
              <a:rPr sz="3200" b="0" i="1" dirty="0">
                <a:solidFill>
                  <a:schemeClr val="hlink"/>
                </a:solidFill>
              </a:rPr>
              <a:t>P</a:t>
            </a:r>
            <a:r>
              <a:rPr sz="3200" b="0" dirty="0">
                <a:solidFill>
                  <a:schemeClr val="hlink"/>
                </a:solidFill>
              </a:rPr>
              <a:t>(</a:t>
            </a:r>
            <a:r>
              <a:rPr sz="3200" b="0" i="1" dirty="0">
                <a:solidFill>
                  <a:schemeClr val="hlink"/>
                </a:solidFill>
              </a:rPr>
              <a:t>A</a:t>
            </a:r>
            <a:r>
              <a:rPr sz="3200" b="0" dirty="0">
                <a:solidFill>
                  <a:schemeClr val="hlink"/>
                </a:solidFill>
              </a:rPr>
              <a:t>)</a:t>
            </a:r>
            <a:r>
              <a:rPr sz="3200" b="0" dirty="0"/>
              <a:t> -  denotes the probability of 			event </a:t>
            </a:r>
            <a:r>
              <a:rPr sz="3200" b="0" i="1" dirty="0"/>
              <a:t>A</a:t>
            </a:r>
            <a:r>
              <a:rPr sz="3200" b="0" dirty="0"/>
              <a:t> occurring.</a:t>
            </a:r>
            <a:endParaRPr sz="3200" b="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3">
                                            <p:txEl>
                                              <p:charRg st="27" end="6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93">
                                            <p:txEl>
                                              <p:charRg st="65" end="12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p:nvPr/>
        </p:nvSpPr>
        <p:spPr>
          <a:xfrm>
            <a:off x="2667000" y="762000"/>
            <a:ext cx="7162800" cy="1143000"/>
          </a:xfrm>
          <a:prstGeom prst="rect">
            <a:avLst/>
          </a:prstGeom>
          <a:noFill/>
          <a:ln w="12700">
            <a:noFill/>
          </a:ln>
        </p:spPr>
        <p:txBody>
          <a:bodyPr wrap="none" anchor="ctr" anchorCtr="0"/>
          <a:p>
            <a:endParaRPr dirty="0">
              <a:latin typeface="Arial" panose="020B0604020202020204" pitchFamily="34" charset="0"/>
            </a:endParaRPr>
          </a:p>
        </p:txBody>
      </p:sp>
      <p:sp>
        <p:nvSpPr>
          <p:cNvPr id="15363" name="Rectangle 3"/>
          <p:cNvSpPr/>
          <p:nvPr/>
        </p:nvSpPr>
        <p:spPr>
          <a:xfrm>
            <a:off x="1880235" y="2133600"/>
            <a:ext cx="7949565" cy="4114800"/>
          </a:xfrm>
          <a:prstGeom prst="rect">
            <a:avLst/>
          </a:prstGeom>
          <a:noFill/>
          <a:ln w="12700">
            <a:noFill/>
          </a:ln>
        </p:spPr>
        <p:txBody>
          <a:bodyPr wrap="none" anchor="ctr" anchorCtr="0"/>
          <a:p>
            <a:endParaRPr dirty="0">
              <a:latin typeface="Arial" panose="020B0604020202020204" pitchFamily="34" charset="0"/>
            </a:endParaRPr>
          </a:p>
        </p:txBody>
      </p:sp>
      <p:sp>
        <p:nvSpPr>
          <p:cNvPr id="15364" name="Rectangle 4"/>
          <p:cNvSpPr/>
          <p:nvPr/>
        </p:nvSpPr>
        <p:spPr>
          <a:xfrm>
            <a:off x="1524000" y="3581400"/>
            <a:ext cx="8915400" cy="762000"/>
          </a:xfrm>
          <a:prstGeom prst="rect">
            <a:avLst/>
          </a:prstGeom>
          <a:noFill/>
          <a:ln w="12700">
            <a:noFill/>
          </a:ln>
        </p:spPr>
        <p:txBody>
          <a:bodyPr wrap="none" anchor="ctr" anchorCtr="0"/>
          <a:p>
            <a:endParaRPr dirty="0">
              <a:latin typeface="Arial" panose="020B0604020202020204" pitchFamily="34" charset="0"/>
            </a:endParaRPr>
          </a:p>
        </p:txBody>
      </p:sp>
      <p:sp>
        <p:nvSpPr>
          <p:cNvPr id="15365" name="Rectangle 5"/>
          <p:cNvSpPr/>
          <p:nvPr/>
        </p:nvSpPr>
        <p:spPr>
          <a:xfrm>
            <a:off x="3492977" y="158750"/>
            <a:ext cx="5150485" cy="1319530"/>
          </a:xfrm>
          <a:prstGeom prst="rect">
            <a:avLst/>
          </a:prstGeom>
          <a:noFill/>
          <a:ln w="12700">
            <a:noFill/>
          </a:ln>
        </p:spPr>
        <p:txBody>
          <a:bodyPr wrap="none" lIns="90488" tIns="44450" rIns="90488" bIns="44450">
            <a:spAutoFit/>
          </a:bodyPr>
          <a:p>
            <a:pPr algn="ctr"/>
            <a:r>
              <a:rPr lang="en-US" sz="4000" dirty="0">
                <a:solidFill>
                  <a:srgbClr val="008000"/>
                </a:solidFill>
                <a:latin typeface="Arial" panose="020B0604020202020204" pitchFamily="34" charset="0"/>
              </a:rPr>
              <a:t>3.2. </a:t>
            </a:r>
            <a:r>
              <a:rPr sz="4000" dirty="0">
                <a:solidFill>
                  <a:srgbClr val="008000"/>
                </a:solidFill>
                <a:latin typeface="Arial" panose="020B0604020202020204" pitchFamily="34" charset="0"/>
              </a:rPr>
              <a:t>Basic Rules for  </a:t>
            </a:r>
            <a:endParaRPr sz="4000" dirty="0">
              <a:solidFill>
                <a:srgbClr val="008000"/>
              </a:solidFill>
              <a:latin typeface="Arial" panose="020B0604020202020204" pitchFamily="34" charset="0"/>
            </a:endParaRPr>
          </a:p>
          <a:p>
            <a:pPr algn="ctr"/>
            <a:r>
              <a:rPr sz="4000" dirty="0">
                <a:solidFill>
                  <a:srgbClr val="008000"/>
                </a:solidFill>
                <a:latin typeface="Arial" panose="020B0604020202020204" pitchFamily="34" charset="0"/>
              </a:rPr>
              <a:t>Computing Probability</a:t>
            </a:r>
            <a:endParaRPr sz="4000" dirty="0">
              <a:solidFill>
                <a:srgbClr val="008000"/>
              </a:solidFill>
              <a:latin typeface="Arial" panose="020B0604020202020204" pitchFamily="34" charset="0"/>
            </a:endParaRPr>
          </a:p>
        </p:txBody>
      </p:sp>
      <p:sp>
        <p:nvSpPr>
          <p:cNvPr id="15366" name="Rectangle 6"/>
          <p:cNvSpPr>
            <a:spLocks noGrp="1"/>
          </p:cNvSpPr>
          <p:nvPr>
            <p:ph type="body" idx="4294967295"/>
          </p:nvPr>
        </p:nvSpPr>
        <p:spPr>
          <a:xfrm>
            <a:off x="1879600" y="1549400"/>
            <a:ext cx="8763000" cy="2209800"/>
          </a:xfrm>
          <a:prstGeom prst="rect">
            <a:avLst/>
          </a:prstGeom>
          <a:noFill/>
          <a:ln w="12700">
            <a:noFill/>
          </a:ln>
        </p:spPr>
        <p:txBody>
          <a:bodyPr lIns="90488" tIns="44450" rIns="90488" bIns="44450">
            <a:normAutofit lnSpcReduction="10000"/>
          </a:bodyPr>
          <a:p>
            <a:pPr>
              <a:lnSpc>
                <a:spcPct val="95000"/>
              </a:lnSpc>
              <a:buNone/>
            </a:pPr>
            <a:r>
              <a:rPr sz="2800" b="0" dirty="0">
                <a:solidFill>
                  <a:schemeClr val="hlink"/>
                </a:solidFill>
              </a:rPr>
              <a:t>Rule 1: Relative Frequency Approximation of Probability</a:t>
            </a:r>
            <a:r>
              <a:rPr lang="en-US" sz="2800" b="0" dirty="0">
                <a:solidFill>
                  <a:schemeClr val="hlink"/>
                </a:solidFill>
              </a:rPr>
              <a:t> (Xác suất theo lối thống kê/Xác suất theo tần suất)</a:t>
            </a:r>
            <a:endParaRPr sz="2800" b="0" u="sng" dirty="0">
              <a:solidFill>
                <a:schemeClr val="hlink"/>
              </a:solidFill>
            </a:endParaRPr>
          </a:p>
          <a:p>
            <a:pPr>
              <a:lnSpc>
                <a:spcPct val="95000"/>
              </a:lnSpc>
              <a:buSzPct val="150000"/>
              <a:buNone/>
            </a:pPr>
            <a:r>
              <a:rPr sz="2800" b="0" dirty="0"/>
              <a:t>   Conduct (or observe) a procedure, and count the number of times event </a:t>
            </a:r>
            <a:r>
              <a:rPr sz="2800" b="0" i="1" dirty="0"/>
              <a:t>A</a:t>
            </a:r>
            <a:r>
              <a:rPr sz="2800" b="0" dirty="0"/>
              <a:t> actually occurs.  Based on these actual results, </a:t>
            </a:r>
            <a:r>
              <a:rPr sz="2800" b="0" i="1" dirty="0"/>
              <a:t>P</a:t>
            </a:r>
            <a:r>
              <a:rPr sz="2800" b="0" dirty="0"/>
              <a:t>(</a:t>
            </a:r>
            <a:r>
              <a:rPr sz="2800" b="0" i="1" dirty="0"/>
              <a:t>A</a:t>
            </a:r>
            <a:r>
              <a:rPr sz="2800" b="0" dirty="0"/>
              <a:t>) is </a:t>
            </a:r>
            <a:r>
              <a:rPr sz="2800" b="0" dirty="0">
                <a:solidFill>
                  <a:schemeClr val="hlink"/>
                </a:solidFill>
              </a:rPr>
              <a:t>approximated</a:t>
            </a:r>
            <a:r>
              <a:rPr sz="2800" b="0" dirty="0"/>
              <a:t> as follows:</a:t>
            </a:r>
            <a:endParaRPr sz="2800" b="0" dirty="0"/>
          </a:p>
          <a:p>
            <a:pPr>
              <a:buNone/>
            </a:pPr>
            <a:endParaRPr sz="2800" b="0" dirty="0"/>
          </a:p>
        </p:txBody>
      </p:sp>
      <p:grpSp>
        <p:nvGrpSpPr>
          <p:cNvPr id="15367" name="Group 12"/>
          <p:cNvGrpSpPr/>
          <p:nvPr/>
        </p:nvGrpSpPr>
        <p:grpSpPr>
          <a:xfrm>
            <a:off x="1524000" y="3690620"/>
            <a:ext cx="8497888" cy="1109663"/>
            <a:chOff x="240" y="3072"/>
            <a:chExt cx="5353" cy="699"/>
          </a:xfrm>
        </p:grpSpPr>
        <p:sp>
          <p:nvSpPr>
            <p:cNvPr id="15368" name="Rectangle 7"/>
            <p:cNvSpPr/>
            <p:nvPr/>
          </p:nvSpPr>
          <p:spPr>
            <a:xfrm>
              <a:off x="240" y="3072"/>
              <a:ext cx="1303" cy="579"/>
            </a:xfrm>
            <a:prstGeom prst="rect">
              <a:avLst/>
            </a:prstGeom>
            <a:noFill/>
            <a:ln w="12700">
              <a:noFill/>
            </a:ln>
          </p:spPr>
          <p:txBody>
            <a:bodyPr wrap="none" lIns="90488" tIns="44450" rIns="90488" bIns="44450">
              <a:spAutoFit/>
            </a:bodyPr>
            <a:p>
              <a:r>
                <a:rPr sz="5400" b="0" i="1" dirty="0">
                  <a:solidFill>
                    <a:schemeClr val="hlink"/>
                  </a:solidFill>
                  <a:latin typeface="Arial" panose="020B0604020202020204" pitchFamily="34" charset="0"/>
                </a:rPr>
                <a:t>P</a:t>
              </a:r>
              <a:r>
                <a:rPr sz="5400" b="0" dirty="0">
                  <a:solidFill>
                    <a:schemeClr val="hlink"/>
                  </a:solidFill>
                  <a:latin typeface="Arial" panose="020B0604020202020204" pitchFamily="34" charset="0"/>
                </a:rPr>
                <a:t>(</a:t>
              </a:r>
              <a:r>
                <a:rPr sz="5400" b="0" i="1" dirty="0">
                  <a:solidFill>
                    <a:schemeClr val="hlink"/>
                  </a:solidFill>
                  <a:latin typeface="Arial" panose="020B0604020202020204" pitchFamily="34" charset="0"/>
                </a:rPr>
                <a:t>A</a:t>
              </a:r>
              <a:r>
                <a:rPr sz="5400" b="0" dirty="0">
                  <a:solidFill>
                    <a:schemeClr val="hlink"/>
                  </a:solidFill>
                  <a:latin typeface="Arial" panose="020B0604020202020204" pitchFamily="34" charset="0"/>
                </a:rPr>
                <a:t>)</a:t>
              </a:r>
              <a:r>
                <a:rPr sz="5400" b="0" i="1" dirty="0">
                  <a:solidFill>
                    <a:schemeClr val="hlink"/>
                  </a:solidFill>
                  <a:latin typeface="Arial" panose="020B0604020202020204" pitchFamily="34" charset="0"/>
                </a:rPr>
                <a:t> </a:t>
              </a:r>
              <a:r>
                <a:rPr sz="4400" b="0" i="1" dirty="0">
                  <a:solidFill>
                    <a:schemeClr val="hlink"/>
                  </a:solidFill>
                  <a:latin typeface="Arial" panose="020B0604020202020204" pitchFamily="34" charset="0"/>
                </a:rPr>
                <a:t>=</a:t>
              </a:r>
              <a:endParaRPr sz="4400" b="0" i="1" dirty="0">
                <a:solidFill>
                  <a:schemeClr val="hlink"/>
                </a:solidFill>
                <a:latin typeface="Arial" panose="020B0604020202020204" pitchFamily="34" charset="0"/>
              </a:endParaRPr>
            </a:p>
          </p:txBody>
        </p:sp>
        <p:sp>
          <p:nvSpPr>
            <p:cNvPr id="15369" name="Rectangle 8"/>
            <p:cNvSpPr/>
            <p:nvPr/>
          </p:nvSpPr>
          <p:spPr>
            <a:xfrm>
              <a:off x="1908" y="3072"/>
              <a:ext cx="2229" cy="327"/>
            </a:xfrm>
            <a:prstGeom prst="rect">
              <a:avLst/>
            </a:prstGeom>
            <a:noFill/>
            <a:ln w="12700">
              <a:noFill/>
            </a:ln>
          </p:spPr>
          <p:txBody>
            <a:bodyPr wrap="none" lIns="90488" tIns="44450" rIns="90488" bIns="44450">
              <a:spAutoFit/>
            </a:bodyPr>
            <a:p>
              <a:r>
                <a:rPr sz="2800" b="0" dirty="0">
                  <a:solidFill>
                    <a:schemeClr val="hlink"/>
                  </a:solidFill>
                  <a:latin typeface="Arial" panose="020B0604020202020204" pitchFamily="34" charset="0"/>
                </a:rPr>
                <a:t># of times </a:t>
              </a:r>
              <a:r>
                <a:rPr sz="2800" b="0" i="1" dirty="0">
                  <a:solidFill>
                    <a:schemeClr val="hlink"/>
                  </a:solidFill>
                  <a:latin typeface="Arial" panose="020B0604020202020204" pitchFamily="34" charset="0"/>
                </a:rPr>
                <a:t>A</a:t>
              </a:r>
              <a:r>
                <a:rPr sz="2800" b="0" dirty="0">
                  <a:solidFill>
                    <a:schemeClr val="hlink"/>
                  </a:solidFill>
                  <a:latin typeface="Arial" panose="020B0604020202020204" pitchFamily="34" charset="0"/>
                </a:rPr>
                <a:t> occurred</a:t>
              </a:r>
              <a:endParaRPr sz="2800" b="0" dirty="0">
                <a:solidFill>
                  <a:schemeClr val="hlink"/>
                </a:solidFill>
                <a:latin typeface="Arial" panose="020B0604020202020204" pitchFamily="34" charset="0"/>
              </a:endParaRPr>
            </a:p>
          </p:txBody>
        </p:sp>
        <p:sp>
          <p:nvSpPr>
            <p:cNvPr id="15370" name="Rectangle 9"/>
            <p:cNvSpPr/>
            <p:nvPr/>
          </p:nvSpPr>
          <p:spPr>
            <a:xfrm>
              <a:off x="1704" y="3444"/>
              <a:ext cx="3560" cy="327"/>
            </a:xfrm>
            <a:prstGeom prst="rect">
              <a:avLst/>
            </a:prstGeom>
            <a:noFill/>
            <a:ln w="12700">
              <a:noFill/>
            </a:ln>
          </p:spPr>
          <p:txBody>
            <a:bodyPr wrap="none" lIns="90488" tIns="44450" rIns="90488" bIns="44450">
              <a:spAutoFit/>
            </a:bodyPr>
            <a:p>
              <a:r>
                <a:rPr sz="2800" b="0" dirty="0">
                  <a:solidFill>
                    <a:schemeClr val="hlink"/>
                  </a:solidFill>
                  <a:latin typeface="Arial" panose="020B0604020202020204" pitchFamily="34" charset="0"/>
                </a:rPr>
                <a:t># of times procedure was repeated</a:t>
              </a:r>
              <a:endParaRPr sz="2800" b="0" dirty="0">
                <a:solidFill>
                  <a:schemeClr val="hlink"/>
                </a:solidFill>
                <a:latin typeface="Arial" panose="020B0604020202020204" pitchFamily="34" charset="0"/>
              </a:endParaRPr>
            </a:p>
          </p:txBody>
        </p:sp>
        <p:sp>
          <p:nvSpPr>
            <p:cNvPr id="15371" name="Line 10"/>
            <p:cNvSpPr/>
            <p:nvPr/>
          </p:nvSpPr>
          <p:spPr>
            <a:xfrm>
              <a:off x="1625" y="3414"/>
              <a:ext cx="3968" cy="0"/>
            </a:xfrm>
            <a:prstGeom prst="line">
              <a:avLst/>
            </a:prstGeom>
            <a:ln w="25400" cap="flat" cmpd="sng">
              <a:solidFill>
                <a:schemeClr val="hlink"/>
              </a:solidFill>
              <a:prstDash val="solid"/>
              <a:headEnd type="none" w="med" len="med"/>
              <a:tailEnd type="none" w="med" len="med"/>
            </a:ln>
          </p:spPr>
        </p:sp>
      </p:grpSp>
      <p:pic>
        <p:nvPicPr>
          <p:cNvPr id="2" name="Picture 1"/>
          <p:cNvPicPr>
            <a:picLocks noChangeAspect="1"/>
          </p:cNvPicPr>
          <p:nvPr/>
        </p:nvPicPr>
        <p:blipFill>
          <a:blip r:embed="rId1"/>
          <a:stretch>
            <a:fillRect/>
          </a:stretch>
        </p:blipFill>
        <p:spPr>
          <a:xfrm>
            <a:off x="7821930" y="4848225"/>
            <a:ext cx="4370070" cy="202184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7" name="Rectangle 2"/>
          <p:cNvSpPr/>
          <p:nvPr/>
        </p:nvSpPr>
        <p:spPr>
          <a:xfrm>
            <a:off x="2667000" y="762000"/>
            <a:ext cx="7162800" cy="1143000"/>
          </a:xfrm>
          <a:prstGeom prst="rect">
            <a:avLst/>
          </a:prstGeom>
          <a:noFill/>
          <a:ln w="12700">
            <a:noFill/>
          </a:ln>
        </p:spPr>
        <p:txBody>
          <a:bodyPr wrap="none" anchor="ctr" anchorCtr="0"/>
          <a:p>
            <a:endParaRPr dirty="0">
              <a:latin typeface="Arial" panose="020B0604020202020204" pitchFamily="34" charset="0"/>
            </a:endParaRPr>
          </a:p>
        </p:txBody>
      </p:sp>
      <p:sp>
        <p:nvSpPr>
          <p:cNvPr id="1028" name="Rectangle 4"/>
          <p:cNvSpPr/>
          <p:nvPr/>
        </p:nvSpPr>
        <p:spPr>
          <a:xfrm>
            <a:off x="1524000" y="3581400"/>
            <a:ext cx="8915400" cy="762000"/>
          </a:xfrm>
          <a:prstGeom prst="rect">
            <a:avLst/>
          </a:prstGeom>
          <a:noFill/>
          <a:ln w="12700">
            <a:noFill/>
          </a:ln>
        </p:spPr>
        <p:txBody>
          <a:bodyPr wrap="none" anchor="ctr" anchorCtr="0"/>
          <a:p>
            <a:endParaRPr dirty="0">
              <a:latin typeface="Arial" panose="020B0604020202020204" pitchFamily="34" charset="0"/>
            </a:endParaRPr>
          </a:p>
        </p:txBody>
      </p:sp>
      <p:sp>
        <p:nvSpPr>
          <p:cNvPr id="1029" name="Rectangle 5"/>
          <p:cNvSpPr/>
          <p:nvPr/>
        </p:nvSpPr>
        <p:spPr>
          <a:xfrm>
            <a:off x="2216150" y="127000"/>
            <a:ext cx="7993063" cy="1319530"/>
          </a:xfrm>
          <a:prstGeom prst="rect">
            <a:avLst/>
          </a:prstGeom>
          <a:noFill/>
          <a:ln w="12700">
            <a:noFill/>
          </a:ln>
        </p:spPr>
        <p:txBody>
          <a:bodyPr lIns="90488" tIns="44450" rIns="90488" bIns="44450">
            <a:spAutoFit/>
          </a:bodyPr>
          <a:p>
            <a:pPr algn="ctr"/>
            <a:r>
              <a:rPr sz="4000" dirty="0">
                <a:solidFill>
                  <a:srgbClr val="008000"/>
                </a:solidFill>
                <a:latin typeface="Arial" panose="020B0604020202020204" pitchFamily="34" charset="0"/>
              </a:rPr>
              <a:t>Basic Rules for  </a:t>
            </a:r>
            <a:endParaRPr sz="4000" dirty="0">
              <a:solidFill>
                <a:srgbClr val="008000"/>
              </a:solidFill>
              <a:latin typeface="Arial" panose="020B0604020202020204" pitchFamily="34" charset="0"/>
            </a:endParaRPr>
          </a:p>
          <a:p>
            <a:pPr algn="ctr"/>
            <a:r>
              <a:rPr sz="4000" dirty="0">
                <a:solidFill>
                  <a:srgbClr val="008000"/>
                </a:solidFill>
                <a:latin typeface="Arial" panose="020B0604020202020204" pitchFamily="34" charset="0"/>
              </a:rPr>
              <a:t>Computing Probability</a:t>
            </a:r>
            <a:endParaRPr sz="4000" dirty="0">
              <a:solidFill>
                <a:srgbClr val="008000"/>
              </a:solidFill>
              <a:latin typeface="Arial" panose="020B0604020202020204" pitchFamily="34" charset="0"/>
            </a:endParaRPr>
          </a:p>
        </p:txBody>
      </p:sp>
      <p:sp>
        <p:nvSpPr>
          <p:cNvPr id="1030" name="Rectangle 6"/>
          <p:cNvSpPr>
            <a:spLocks noGrp="1"/>
          </p:cNvSpPr>
          <p:nvPr>
            <p:ph type="body" idx="4294967295"/>
          </p:nvPr>
        </p:nvSpPr>
        <p:spPr>
          <a:xfrm>
            <a:off x="1981200" y="1587500"/>
            <a:ext cx="8610600" cy="2209800"/>
          </a:xfrm>
          <a:prstGeom prst="rect">
            <a:avLst/>
          </a:prstGeom>
          <a:noFill/>
          <a:ln w="12700">
            <a:noFill/>
          </a:ln>
        </p:spPr>
        <p:txBody>
          <a:bodyPr lIns="90488" tIns="44450" rIns="90488" bIns="44450">
            <a:normAutofit fontScale="90000"/>
          </a:bodyPr>
          <a:p>
            <a:pPr>
              <a:lnSpc>
                <a:spcPct val="95000"/>
              </a:lnSpc>
              <a:buNone/>
            </a:pPr>
            <a:r>
              <a:rPr sz="2800" b="0" dirty="0">
                <a:solidFill>
                  <a:schemeClr val="hlink"/>
                </a:solidFill>
              </a:rPr>
              <a:t>Rule 2: Classical Approach to Probability </a:t>
            </a:r>
            <a:r>
              <a:rPr lang="en-US" sz="2800" b="0" dirty="0">
                <a:solidFill>
                  <a:schemeClr val="hlink"/>
                </a:solidFill>
              </a:rPr>
              <a:t>(Xác suất cổ điển)</a:t>
            </a:r>
            <a:endParaRPr sz="2800" b="0" dirty="0">
              <a:solidFill>
                <a:schemeClr val="hlink"/>
              </a:solidFill>
            </a:endParaRPr>
          </a:p>
          <a:p>
            <a:pPr>
              <a:lnSpc>
                <a:spcPct val="95000"/>
              </a:lnSpc>
              <a:buNone/>
            </a:pPr>
            <a:r>
              <a:rPr sz="2800" b="0" dirty="0"/>
              <a:t>	Assume that a given procedure has </a:t>
            </a:r>
            <a:r>
              <a:rPr sz="2800" b="0" i="1" dirty="0">
                <a:solidFill>
                  <a:schemeClr val="hlink"/>
                </a:solidFill>
              </a:rPr>
              <a:t>n</a:t>
            </a:r>
            <a:r>
              <a:rPr sz="2800" b="0" dirty="0"/>
              <a:t> different simple events and that </a:t>
            </a:r>
            <a:r>
              <a:rPr sz="2800" b="0" dirty="0">
                <a:solidFill>
                  <a:schemeClr val="hlink"/>
                </a:solidFill>
              </a:rPr>
              <a:t>each of those simple events has an equal chance of occurring</a:t>
            </a:r>
            <a:r>
              <a:rPr lang="en-US" sz="2800" b="0" dirty="0">
                <a:solidFill>
                  <a:schemeClr val="hlink"/>
                </a:solidFill>
              </a:rPr>
              <a:t> (</a:t>
            </a:r>
            <a:r>
              <a:rPr dirty="0">
                <a:solidFill>
                  <a:schemeClr val="hlink"/>
                </a:solidFill>
                <a:sym typeface="+mn-ea"/>
              </a:rPr>
              <a:t>Equally </a:t>
            </a:r>
            <a:r>
              <a:rPr lang="en-US" dirty="0">
                <a:solidFill>
                  <a:schemeClr val="hlink"/>
                </a:solidFill>
                <a:sym typeface="+mn-ea"/>
              </a:rPr>
              <a:t>l</a:t>
            </a:r>
            <a:r>
              <a:rPr dirty="0">
                <a:solidFill>
                  <a:schemeClr val="hlink"/>
                </a:solidFill>
                <a:sym typeface="+mn-ea"/>
              </a:rPr>
              <a:t>ikely</a:t>
            </a:r>
            <a:r>
              <a:rPr lang="en-US" dirty="0">
                <a:solidFill>
                  <a:schemeClr val="hlink"/>
                </a:solidFill>
                <a:sym typeface="+mn-ea"/>
              </a:rPr>
              <a:t>, đồng khả năng</a:t>
            </a:r>
            <a:r>
              <a:rPr dirty="0">
                <a:solidFill>
                  <a:schemeClr val="hlink"/>
                </a:solidFill>
                <a:sym typeface="+mn-ea"/>
              </a:rPr>
              <a:t>)</a:t>
            </a:r>
            <a:r>
              <a:rPr sz="2800" b="0" dirty="0"/>
              <a:t>.  If event </a:t>
            </a:r>
            <a:r>
              <a:rPr sz="2800" b="0" i="1" dirty="0"/>
              <a:t>A</a:t>
            </a:r>
            <a:r>
              <a:rPr sz="2800" b="0" dirty="0"/>
              <a:t> can occur in </a:t>
            </a:r>
            <a:r>
              <a:rPr sz="2800" b="0" i="1" dirty="0">
                <a:solidFill>
                  <a:schemeClr val="hlink"/>
                </a:solidFill>
              </a:rPr>
              <a:t>s</a:t>
            </a:r>
            <a:r>
              <a:rPr sz="2800" b="0" dirty="0"/>
              <a:t> of these </a:t>
            </a:r>
            <a:r>
              <a:rPr sz="2800" b="0" i="1" dirty="0">
                <a:solidFill>
                  <a:schemeClr val="hlink"/>
                </a:solidFill>
              </a:rPr>
              <a:t>n</a:t>
            </a:r>
            <a:r>
              <a:rPr sz="2800" b="0" dirty="0"/>
              <a:t> ways, then</a:t>
            </a:r>
            <a:endParaRPr sz="2800" b="0" dirty="0"/>
          </a:p>
          <a:p>
            <a:pPr>
              <a:buNone/>
            </a:pPr>
            <a:endParaRPr sz="2800" b="0" dirty="0"/>
          </a:p>
        </p:txBody>
      </p:sp>
      <p:graphicFrame>
        <p:nvGraphicFramePr>
          <p:cNvPr id="1026" name="Object 2"/>
          <p:cNvGraphicFramePr>
            <a:graphicFrameLocks noChangeAspect="1"/>
          </p:cNvGraphicFramePr>
          <p:nvPr/>
        </p:nvGraphicFramePr>
        <p:xfrm>
          <a:off x="2216150" y="3797300"/>
          <a:ext cx="7718425" cy="966788"/>
        </p:xfrm>
        <a:graphic>
          <a:graphicData uri="http://schemas.openxmlformats.org/presentationml/2006/ole">
            <mc:AlternateContent xmlns:mc="http://schemas.openxmlformats.org/markup-compatibility/2006">
              <mc:Choice xmlns:v="urn:schemas-microsoft-com:vml" Requires="v">
                <p:oleObj spid="_x0000_s3076" name="" r:id="rId1" imgW="7264400" imgH="914400" progId="Equation.DSMT4">
                  <p:embed/>
                </p:oleObj>
              </mc:Choice>
              <mc:Fallback>
                <p:oleObj name="" r:id="rId1" imgW="7264400" imgH="914400" progId="Equation.DSMT4">
                  <p:embed/>
                  <p:pic>
                    <p:nvPicPr>
                      <p:cNvPr id="0" name="Picture 3075"/>
                      <p:cNvPicPr/>
                      <p:nvPr/>
                    </p:nvPicPr>
                    <p:blipFill>
                      <a:blip r:embed="rId2"/>
                      <a:stretch>
                        <a:fillRect/>
                      </a:stretch>
                    </p:blipFill>
                    <p:spPr>
                      <a:xfrm>
                        <a:off x="2216150" y="3797300"/>
                        <a:ext cx="7718425" cy="966788"/>
                      </a:xfrm>
                      <a:prstGeom prst="rect">
                        <a:avLst/>
                      </a:prstGeom>
                      <a:noFill/>
                      <a:ln w="38100">
                        <a:noFill/>
                        <a:miter/>
                      </a:ln>
                    </p:spPr>
                  </p:pic>
                </p:oleObj>
              </mc:Fallback>
            </mc:AlternateContent>
          </a:graphicData>
        </a:graphic>
      </p:graphicFrame>
      <p:pic>
        <p:nvPicPr>
          <p:cNvPr id="2" name="Picture 1"/>
          <p:cNvPicPr>
            <a:picLocks noChangeAspect="1"/>
          </p:cNvPicPr>
          <p:nvPr/>
        </p:nvPicPr>
        <p:blipFill>
          <a:blip r:embed="rId3"/>
          <a:stretch>
            <a:fillRect/>
          </a:stretch>
        </p:blipFill>
        <p:spPr>
          <a:xfrm>
            <a:off x="4476750" y="4764405"/>
            <a:ext cx="3009900" cy="2009775"/>
          </a:xfrm>
          <a:prstGeom prst="rect">
            <a:avLst/>
          </a:prstGeo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p:nvPr/>
        </p:nvSpPr>
        <p:spPr>
          <a:xfrm>
            <a:off x="2667000" y="762000"/>
            <a:ext cx="7162800" cy="1143000"/>
          </a:xfrm>
          <a:prstGeom prst="rect">
            <a:avLst/>
          </a:prstGeom>
          <a:noFill/>
          <a:ln w="12700">
            <a:noFill/>
          </a:ln>
        </p:spPr>
        <p:txBody>
          <a:bodyPr wrap="none" anchor="ctr" anchorCtr="0"/>
          <a:p>
            <a:endParaRPr dirty="0">
              <a:latin typeface="Arial" panose="020B0604020202020204" pitchFamily="34" charset="0"/>
            </a:endParaRPr>
          </a:p>
        </p:txBody>
      </p:sp>
      <p:sp>
        <p:nvSpPr>
          <p:cNvPr id="16387" name="Rectangle 4"/>
          <p:cNvSpPr/>
          <p:nvPr/>
        </p:nvSpPr>
        <p:spPr>
          <a:xfrm>
            <a:off x="1524000" y="3581400"/>
            <a:ext cx="8915400" cy="762000"/>
          </a:xfrm>
          <a:prstGeom prst="rect">
            <a:avLst/>
          </a:prstGeom>
          <a:noFill/>
          <a:ln w="12700">
            <a:noFill/>
          </a:ln>
        </p:spPr>
        <p:txBody>
          <a:bodyPr wrap="none" anchor="ctr" anchorCtr="0"/>
          <a:p>
            <a:endParaRPr dirty="0">
              <a:latin typeface="Arial" panose="020B0604020202020204" pitchFamily="34" charset="0"/>
            </a:endParaRPr>
          </a:p>
        </p:txBody>
      </p:sp>
      <p:sp>
        <p:nvSpPr>
          <p:cNvPr id="16388" name="Rectangle 5"/>
          <p:cNvSpPr/>
          <p:nvPr/>
        </p:nvSpPr>
        <p:spPr>
          <a:xfrm>
            <a:off x="2132013" y="158750"/>
            <a:ext cx="8104187" cy="1319530"/>
          </a:xfrm>
          <a:prstGeom prst="rect">
            <a:avLst/>
          </a:prstGeom>
          <a:noFill/>
          <a:ln w="12700">
            <a:noFill/>
          </a:ln>
        </p:spPr>
        <p:txBody>
          <a:bodyPr lIns="90488" tIns="44450" rIns="90488" bIns="44450">
            <a:spAutoFit/>
          </a:bodyPr>
          <a:p>
            <a:pPr algn="ctr"/>
            <a:r>
              <a:rPr sz="4000" dirty="0">
                <a:solidFill>
                  <a:srgbClr val="008000"/>
                </a:solidFill>
                <a:latin typeface="Arial" panose="020B0604020202020204" pitchFamily="34" charset="0"/>
              </a:rPr>
              <a:t>Basic Rules for  </a:t>
            </a:r>
            <a:endParaRPr sz="4000" dirty="0">
              <a:solidFill>
                <a:srgbClr val="008000"/>
              </a:solidFill>
              <a:latin typeface="Arial" panose="020B0604020202020204" pitchFamily="34" charset="0"/>
            </a:endParaRPr>
          </a:p>
          <a:p>
            <a:pPr algn="ctr"/>
            <a:r>
              <a:rPr sz="4000" dirty="0">
                <a:solidFill>
                  <a:srgbClr val="008000"/>
                </a:solidFill>
                <a:latin typeface="Arial" panose="020B0604020202020204" pitchFamily="34" charset="0"/>
              </a:rPr>
              <a:t>Computing Probability</a:t>
            </a:r>
            <a:endParaRPr sz="3200" dirty="0">
              <a:solidFill>
                <a:srgbClr val="008000"/>
              </a:solidFill>
              <a:latin typeface="Arial" panose="020B0604020202020204" pitchFamily="34" charset="0"/>
            </a:endParaRPr>
          </a:p>
        </p:txBody>
      </p:sp>
      <p:sp>
        <p:nvSpPr>
          <p:cNvPr id="16389" name="Rectangle 6"/>
          <p:cNvSpPr>
            <a:spLocks noGrp="1"/>
          </p:cNvSpPr>
          <p:nvPr>
            <p:ph type="body" idx="4294967295"/>
          </p:nvPr>
        </p:nvSpPr>
        <p:spPr>
          <a:xfrm>
            <a:off x="1111250" y="1461770"/>
            <a:ext cx="8458200" cy="2209800"/>
          </a:xfrm>
          <a:prstGeom prst="rect">
            <a:avLst/>
          </a:prstGeom>
          <a:noFill/>
          <a:ln w="12700">
            <a:noFill/>
          </a:ln>
        </p:spPr>
        <p:txBody>
          <a:bodyPr lIns="90488" tIns="44450" rIns="90488" bIns="44450"/>
          <a:p>
            <a:pPr>
              <a:lnSpc>
                <a:spcPct val="95000"/>
              </a:lnSpc>
              <a:buNone/>
            </a:pPr>
            <a:r>
              <a:rPr sz="2800" b="0" dirty="0">
                <a:solidFill>
                  <a:schemeClr val="hlink"/>
                </a:solidFill>
              </a:rPr>
              <a:t>Rule 3: Subjective Probabilities</a:t>
            </a:r>
            <a:endParaRPr sz="2800" b="0" u="sng" dirty="0">
              <a:solidFill>
                <a:schemeClr val="hlink"/>
              </a:solidFill>
            </a:endParaRPr>
          </a:p>
          <a:p>
            <a:pPr>
              <a:lnSpc>
                <a:spcPct val="120000"/>
              </a:lnSpc>
              <a:buSzPct val="150000"/>
              <a:buNone/>
            </a:pPr>
            <a:r>
              <a:rPr sz="2800" b="0" dirty="0"/>
              <a:t>   </a:t>
            </a:r>
            <a:endParaRPr sz="2800" b="0" dirty="0"/>
          </a:p>
        </p:txBody>
      </p:sp>
      <p:sp>
        <p:nvSpPr>
          <p:cNvPr id="16390" name="Text Box 7"/>
          <p:cNvSpPr txBox="1"/>
          <p:nvPr/>
        </p:nvSpPr>
        <p:spPr>
          <a:xfrm>
            <a:off x="1143000" y="1948815"/>
            <a:ext cx="7848600" cy="1771015"/>
          </a:xfrm>
          <a:prstGeom prst="rect">
            <a:avLst/>
          </a:prstGeom>
          <a:noFill/>
          <a:ln w="12700">
            <a:noFill/>
          </a:ln>
        </p:spPr>
        <p:txBody>
          <a:bodyPr>
            <a:spAutoFit/>
          </a:bodyPr>
          <a:p>
            <a:pPr>
              <a:lnSpc>
                <a:spcPct val="120000"/>
              </a:lnSpc>
              <a:spcBef>
                <a:spcPct val="30000"/>
              </a:spcBef>
              <a:buSzPct val="150000"/>
            </a:pPr>
            <a:r>
              <a:rPr sz="2800" b="0" i="1" dirty="0">
                <a:latin typeface="Arial" panose="020B0604020202020204" pitchFamily="34" charset="0"/>
              </a:rPr>
              <a:t>P</a:t>
            </a:r>
            <a:r>
              <a:rPr sz="2800" b="0" dirty="0">
                <a:latin typeface="Arial" panose="020B0604020202020204" pitchFamily="34" charset="0"/>
              </a:rPr>
              <a:t>(</a:t>
            </a:r>
            <a:r>
              <a:rPr sz="2800" b="0" i="1" dirty="0">
                <a:latin typeface="Arial" panose="020B0604020202020204" pitchFamily="34" charset="0"/>
              </a:rPr>
              <a:t>A</a:t>
            </a:r>
            <a:r>
              <a:rPr sz="2800" b="0" dirty="0">
                <a:latin typeface="Arial" panose="020B0604020202020204" pitchFamily="34" charset="0"/>
              </a:rPr>
              <a:t>), the probability of event </a:t>
            </a:r>
            <a:r>
              <a:rPr sz="2800" b="0" i="1" dirty="0">
                <a:latin typeface="Arial" panose="020B0604020202020204" pitchFamily="34" charset="0"/>
              </a:rPr>
              <a:t>A</a:t>
            </a:r>
            <a:r>
              <a:rPr sz="2800" b="0" dirty="0">
                <a:latin typeface="Arial" panose="020B0604020202020204" pitchFamily="34" charset="0"/>
              </a:rPr>
              <a:t>, is </a:t>
            </a:r>
            <a:r>
              <a:rPr sz="2800" b="0" dirty="0">
                <a:solidFill>
                  <a:schemeClr val="hlink"/>
                </a:solidFill>
                <a:latin typeface="Arial" panose="020B0604020202020204" pitchFamily="34" charset="0"/>
              </a:rPr>
              <a:t>estimated</a:t>
            </a:r>
            <a:r>
              <a:rPr sz="2800" b="0" dirty="0">
                <a:latin typeface="Arial" panose="020B0604020202020204" pitchFamily="34" charset="0"/>
              </a:rPr>
              <a:t> by using knowledge of the relevant circumstances.</a:t>
            </a:r>
            <a:endParaRPr sz="2800" b="0" dirty="0">
              <a:latin typeface="Arial" panose="020B0604020202020204" pitchFamily="34" charset="0"/>
            </a:endParaRPr>
          </a:p>
          <a:p>
            <a:pPr>
              <a:spcBef>
                <a:spcPct val="50000"/>
              </a:spcBef>
            </a:pPr>
            <a:endParaRPr sz="2800" b="0" dirty="0">
              <a:latin typeface="Arial" panose="020B0604020202020204" pitchFamily="34" charset="0"/>
            </a:endParaRPr>
          </a:p>
        </p:txBody>
      </p:sp>
      <p:sp>
        <p:nvSpPr>
          <p:cNvPr id="2" name="Text Box 1"/>
          <p:cNvSpPr txBox="1"/>
          <p:nvPr/>
        </p:nvSpPr>
        <p:spPr>
          <a:xfrm>
            <a:off x="1108075" y="3111500"/>
            <a:ext cx="7419975" cy="3518535"/>
          </a:xfrm>
          <a:prstGeom prst="rect">
            <a:avLst/>
          </a:prstGeom>
        </p:spPr>
        <p:txBody>
          <a:bodyPr wrap="square">
            <a:noAutofit/>
          </a:bodyPr>
          <a:p>
            <a:pPr algn="just"/>
            <a:r>
              <a:rPr lang="en-US" sz="2800">
                <a:solidFill>
                  <a:srgbClr val="231F20"/>
                </a:solidFill>
                <a:latin typeface="Arial" panose="020B0604020202020204" pitchFamily="34" charset="0"/>
                <a:ea typeface="Gotham-Book"/>
                <a:cs typeface="Arial" panose="020B0604020202020204" pitchFamily="34" charset="0"/>
              </a:rPr>
              <a:t>Example: </a:t>
            </a:r>
            <a:r>
              <a:rPr sz="2800">
                <a:solidFill>
                  <a:srgbClr val="231F20"/>
                </a:solidFill>
                <a:latin typeface="Arial" panose="020B0604020202020204" pitchFamily="34" charset="0"/>
                <a:ea typeface="Gotham-Book"/>
                <a:cs typeface="Arial" panose="020B0604020202020204" pitchFamily="34" charset="0"/>
              </a:rPr>
              <a:t>When trying to estimate the probability of an astronaut surviving a mission in a space shuttle, experts consider past events along with changes in technologies and conditions to develop an estimate of the probability. As of this writing, that probability has been estimated by NASA scientists as 0.99.</a:t>
            </a:r>
            <a:endParaRPr sz="2800">
              <a:solidFill>
                <a:srgbClr val="231F20"/>
              </a:solidFill>
              <a:latin typeface="Arial" panose="020B0604020202020204" pitchFamily="34" charset="0"/>
              <a:ea typeface="Gotham-Book"/>
              <a:cs typeface="Arial" panose="020B0604020202020204" pitchFamily="34" charset="0"/>
            </a:endParaRPr>
          </a:p>
        </p:txBody>
      </p:sp>
      <p:pic>
        <p:nvPicPr>
          <p:cNvPr id="3" name="Picture 2"/>
          <p:cNvPicPr>
            <a:picLocks noChangeAspect="1"/>
          </p:cNvPicPr>
          <p:nvPr/>
        </p:nvPicPr>
        <p:blipFill>
          <a:blip r:embed="rId1"/>
          <a:stretch>
            <a:fillRect/>
          </a:stretch>
        </p:blipFill>
        <p:spPr>
          <a:xfrm>
            <a:off x="8991600" y="2635885"/>
            <a:ext cx="3128645" cy="3361690"/>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p:nvPr/>
        </p:nvSpPr>
        <p:spPr>
          <a:xfrm>
            <a:off x="2590800" y="762000"/>
            <a:ext cx="7162800" cy="1143000"/>
          </a:xfrm>
          <a:prstGeom prst="rect">
            <a:avLst/>
          </a:prstGeom>
          <a:noFill/>
          <a:ln w="12700">
            <a:noFill/>
          </a:ln>
        </p:spPr>
        <p:txBody>
          <a:bodyPr wrap="none" anchor="ctr" anchorCtr="0"/>
          <a:p>
            <a:endParaRPr dirty="0">
              <a:latin typeface="Arial" panose="020B0604020202020204" pitchFamily="34" charset="0"/>
            </a:endParaRPr>
          </a:p>
        </p:txBody>
      </p:sp>
      <p:sp>
        <p:nvSpPr>
          <p:cNvPr id="17411" name="Rectangle 3"/>
          <p:cNvSpPr/>
          <p:nvPr/>
        </p:nvSpPr>
        <p:spPr>
          <a:xfrm>
            <a:off x="2667000" y="2133600"/>
            <a:ext cx="7162800" cy="4114800"/>
          </a:xfrm>
          <a:prstGeom prst="rect">
            <a:avLst/>
          </a:prstGeom>
          <a:noFill/>
          <a:ln w="12700">
            <a:noFill/>
          </a:ln>
        </p:spPr>
        <p:txBody>
          <a:bodyPr wrap="none" anchor="ctr" anchorCtr="0"/>
          <a:p>
            <a:endParaRPr dirty="0">
              <a:latin typeface="Arial" panose="020B0604020202020204" pitchFamily="34" charset="0"/>
            </a:endParaRPr>
          </a:p>
        </p:txBody>
      </p:sp>
      <p:sp>
        <p:nvSpPr>
          <p:cNvPr id="17412" name="Rectangle 4"/>
          <p:cNvSpPr/>
          <p:nvPr/>
        </p:nvSpPr>
        <p:spPr>
          <a:xfrm>
            <a:off x="1524000" y="3962400"/>
            <a:ext cx="8534400" cy="762000"/>
          </a:xfrm>
          <a:prstGeom prst="rect">
            <a:avLst/>
          </a:prstGeom>
          <a:noFill/>
          <a:ln w="12700">
            <a:noFill/>
          </a:ln>
        </p:spPr>
        <p:txBody>
          <a:bodyPr wrap="none" anchor="ctr" anchorCtr="0"/>
          <a:p>
            <a:endParaRPr dirty="0">
              <a:latin typeface="Arial" panose="020B0604020202020204" pitchFamily="34" charset="0"/>
            </a:endParaRPr>
          </a:p>
        </p:txBody>
      </p:sp>
      <p:sp>
        <p:nvSpPr>
          <p:cNvPr id="17413" name="Rectangle 5"/>
          <p:cNvSpPr/>
          <p:nvPr/>
        </p:nvSpPr>
        <p:spPr>
          <a:xfrm>
            <a:off x="3424714" y="287338"/>
            <a:ext cx="5318760" cy="1319530"/>
          </a:xfrm>
          <a:prstGeom prst="rect">
            <a:avLst/>
          </a:prstGeom>
          <a:noFill/>
          <a:ln w="12700">
            <a:noFill/>
          </a:ln>
        </p:spPr>
        <p:txBody>
          <a:bodyPr wrap="none" lIns="90488" tIns="44450" rIns="90488" bIns="44450">
            <a:spAutoFit/>
          </a:bodyPr>
          <a:p>
            <a:pPr algn="ctr"/>
            <a:r>
              <a:rPr sz="4000" dirty="0">
                <a:solidFill>
                  <a:srgbClr val="008000"/>
                </a:solidFill>
                <a:latin typeface="Arial" panose="020B0604020202020204" pitchFamily="34" charset="0"/>
              </a:rPr>
              <a:t>Law of Large Numbers</a:t>
            </a:r>
            <a:endParaRPr sz="4000" dirty="0">
              <a:solidFill>
                <a:srgbClr val="008000"/>
              </a:solidFill>
              <a:latin typeface="Arial" panose="020B0604020202020204" pitchFamily="34" charset="0"/>
            </a:endParaRPr>
          </a:p>
          <a:p>
            <a:pPr algn="ctr"/>
            <a:r>
              <a:rPr lang="en-US" sz="4000" dirty="0">
                <a:solidFill>
                  <a:srgbClr val="008000"/>
                </a:solidFill>
                <a:latin typeface="Arial" panose="020B0604020202020204" pitchFamily="34" charset="0"/>
              </a:rPr>
              <a:t>(Luật số lớn)</a:t>
            </a:r>
            <a:endParaRPr lang="en-US" sz="4000" dirty="0">
              <a:solidFill>
                <a:srgbClr val="008000"/>
              </a:solidFill>
              <a:latin typeface="Arial" panose="020B0604020202020204" pitchFamily="34" charset="0"/>
            </a:endParaRPr>
          </a:p>
        </p:txBody>
      </p:sp>
      <p:sp>
        <p:nvSpPr>
          <p:cNvPr id="17414" name="Rectangle 6"/>
          <p:cNvSpPr>
            <a:spLocks noGrp="1"/>
          </p:cNvSpPr>
          <p:nvPr>
            <p:ph type="body" idx="4294967295"/>
          </p:nvPr>
        </p:nvSpPr>
        <p:spPr>
          <a:xfrm>
            <a:off x="2119313" y="2125663"/>
            <a:ext cx="8267700" cy="2649537"/>
          </a:xfrm>
          <a:prstGeom prst="rect">
            <a:avLst/>
          </a:prstGeom>
          <a:noFill/>
          <a:ln w="12700">
            <a:noFill/>
          </a:ln>
        </p:spPr>
        <p:txBody>
          <a:bodyPr lIns="90488" tIns="44450" rIns="90488" bIns="44450"/>
          <a:p>
            <a:pPr>
              <a:lnSpc>
                <a:spcPct val="110000"/>
              </a:lnSpc>
              <a:spcBef>
                <a:spcPct val="0"/>
              </a:spcBef>
              <a:buNone/>
            </a:pPr>
            <a:r>
              <a:rPr sz="2800" b="0" dirty="0"/>
              <a:t>   As a procedure is repeated again and again, the relative frequency probability of an event tends to approach the actual probability.</a:t>
            </a:r>
            <a:endParaRPr sz="2800" b="0"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1" name="Rectangle 2"/>
          <p:cNvSpPr/>
          <p:nvPr/>
        </p:nvSpPr>
        <p:spPr>
          <a:xfrm>
            <a:off x="2590800" y="762000"/>
            <a:ext cx="7162800" cy="1143000"/>
          </a:xfrm>
          <a:prstGeom prst="rect">
            <a:avLst/>
          </a:prstGeom>
          <a:noFill/>
          <a:ln w="12700">
            <a:noFill/>
          </a:ln>
        </p:spPr>
        <p:txBody>
          <a:bodyPr wrap="none" anchor="ctr" anchorCtr="0"/>
          <a:p>
            <a:endParaRPr dirty="0">
              <a:latin typeface="Arial" panose="020B0604020202020204" pitchFamily="34" charset="0"/>
            </a:endParaRPr>
          </a:p>
        </p:txBody>
      </p:sp>
      <p:sp>
        <p:nvSpPr>
          <p:cNvPr id="2052" name="Rectangle 3"/>
          <p:cNvSpPr/>
          <p:nvPr/>
        </p:nvSpPr>
        <p:spPr>
          <a:xfrm>
            <a:off x="2667000" y="2133600"/>
            <a:ext cx="7162800" cy="4114800"/>
          </a:xfrm>
          <a:prstGeom prst="rect">
            <a:avLst/>
          </a:prstGeom>
          <a:noFill/>
          <a:ln w="12700">
            <a:noFill/>
          </a:ln>
        </p:spPr>
        <p:txBody>
          <a:bodyPr wrap="none" anchor="ctr" anchorCtr="0"/>
          <a:p>
            <a:endParaRPr dirty="0">
              <a:latin typeface="Arial" panose="020B0604020202020204" pitchFamily="34" charset="0"/>
            </a:endParaRPr>
          </a:p>
        </p:txBody>
      </p:sp>
      <p:sp>
        <p:nvSpPr>
          <p:cNvPr id="2053" name="Rectangle 4"/>
          <p:cNvSpPr/>
          <p:nvPr/>
        </p:nvSpPr>
        <p:spPr>
          <a:xfrm>
            <a:off x="1524000" y="3962400"/>
            <a:ext cx="8534400" cy="762000"/>
          </a:xfrm>
          <a:prstGeom prst="rect">
            <a:avLst/>
          </a:prstGeom>
          <a:noFill/>
          <a:ln w="12700">
            <a:noFill/>
          </a:ln>
        </p:spPr>
        <p:txBody>
          <a:bodyPr wrap="none" anchor="ctr" anchorCtr="0"/>
          <a:p>
            <a:endParaRPr dirty="0">
              <a:latin typeface="Arial" panose="020B0604020202020204" pitchFamily="34" charset="0"/>
            </a:endParaRPr>
          </a:p>
        </p:txBody>
      </p:sp>
      <p:sp>
        <p:nvSpPr>
          <p:cNvPr id="2054" name="Rectangle 5"/>
          <p:cNvSpPr/>
          <p:nvPr/>
        </p:nvSpPr>
        <p:spPr>
          <a:xfrm>
            <a:off x="5005546" y="254000"/>
            <a:ext cx="2157095" cy="704215"/>
          </a:xfrm>
          <a:prstGeom prst="rect">
            <a:avLst/>
          </a:prstGeom>
          <a:noFill/>
          <a:ln w="12700">
            <a:noFill/>
          </a:ln>
        </p:spPr>
        <p:txBody>
          <a:bodyPr wrap="none" lIns="90488" tIns="44450" rIns="90488" bIns="44450">
            <a:spAutoFit/>
          </a:bodyPr>
          <a:p>
            <a:pPr algn="ctr"/>
            <a:r>
              <a:rPr sz="4000" dirty="0">
                <a:solidFill>
                  <a:srgbClr val="008000"/>
                </a:solidFill>
                <a:latin typeface="Arial" panose="020B0604020202020204" pitchFamily="34" charset="0"/>
              </a:rPr>
              <a:t>Example</a:t>
            </a:r>
            <a:endParaRPr sz="4000" dirty="0">
              <a:solidFill>
                <a:srgbClr val="008000"/>
              </a:solidFill>
              <a:latin typeface="Arial" panose="020B0604020202020204" pitchFamily="34" charset="0"/>
            </a:endParaRPr>
          </a:p>
        </p:txBody>
      </p:sp>
      <p:sp>
        <p:nvSpPr>
          <p:cNvPr id="14342" name="Rectangle 6"/>
          <p:cNvSpPr>
            <a:spLocks noGrp="1" noChangeArrowheads="1"/>
          </p:cNvSpPr>
          <p:nvPr>
            <p:ph type="body" idx="4294967295"/>
          </p:nvPr>
        </p:nvSpPr>
        <p:spPr bwMode="auto">
          <a:xfrm>
            <a:off x="2119313" y="1143000"/>
            <a:ext cx="8267700" cy="3124200"/>
          </a:xfrm>
          <a:prstGeom prst="rect">
            <a:avLst/>
          </a:prstGeom>
          <a:ln w="12700">
            <a:noFill/>
            <a:miter lim="800000"/>
          </a:ln>
        </p:spPr>
        <p:txBody>
          <a:bodyPr lIns="90488" tIns="44450" rIns="90488" bIns="44450"/>
          <a:lstStyle/>
          <a:p>
            <a:pPr marL="285750" marR="0" lvl="0" indent="-285750" algn="l" defTabSz="914400" rtl="0" eaLnBrk="0" fontAlgn="base" latinLnBrk="0" hangingPunct="0">
              <a:lnSpc>
                <a:spcPct val="110000"/>
              </a:lnSpc>
              <a:spcBef>
                <a:spcPct val="0"/>
              </a:spcBef>
              <a:spcAft>
                <a:spcPct val="0"/>
              </a:spcAft>
              <a:buClrTx/>
              <a:buSzPct val="100000"/>
              <a:buFontTx/>
              <a:buNone/>
              <a:defRPr/>
            </a:pPr>
            <a:r>
              <a:rPr kumimoji="0" lang="en-US" sz="2800" b="0" i="0" u="none" strike="noStrike" kern="0" cap="none" spc="0" normalizeH="0" baseline="0" noProof="0" dirty="0" smtClean="0">
                <a:ln>
                  <a:noFill/>
                </a:ln>
                <a:solidFill>
                  <a:schemeClr val="tx1"/>
                </a:solidFill>
                <a:effectLst/>
                <a:uLnTx/>
                <a:uFillTx/>
                <a:latin typeface="+mn-lt"/>
                <a:ea typeface="+mn-ea"/>
                <a:cs typeface="+mn-cs"/>
              </a:rPr>
              <a:t>When three children are born, the sample space is:</a:t>
            </a:r>
            <a:endParaRPr kumimoji="0" lang="en-US" sz="2800" b="0" i="0" u="none" strike="noStrike" kern="0" cap="none" spc="0" normalizeH="0" baseline="0" noProof="0" dirty="0" smtClean="0">
              <a:ln>
                <a:noFill/>
              </a:ln>
              <a:solidFill>
                <a:schemeClr val="tx1"/>
              </a:solidFill>
              <a:effectLst/>
              <a:uLnTx/>
              <a:uFillTx/>
              <a:latin typeface="+mn-lt"/>
              <a:ea typeface="+mn-ea"/>
              <a:cs typeface="+mn-cs"/>
            </a:endParaRPr>
          </a:p>
          <a:p>
            <a:pPr marL="285750" marR="0" lvl="0" indent="-285750" algn="l" defTabSz="914400" rtl="0" eaLnBrk="0" fontAlgn="base" latinLnBrk="0" hangingPunct="0">
              <a:lnSpc>
                <a:spcPct val="110000"/>
              </a:lnSpc>
              <a:spcBef>
                <a:spcPct val="0"/>
              </a:spcBef>
              <a:spcAft>
                <a:spcPct val="0"/>
              </a:spcAft>
              <a:buClrTx/>
              <a:buSzPct val="100000"/>
              <a:buFontTx/>
              <a:buNone/>
              <a:defRPr/>
            </a:pPr>
            <a:r>
              <a:rPr kumimoji="0" lang="en-US" sz="2800" b="0" i="0" u="none" strike="noStrike" kern="0" cap="none" spc="0" normalizeH="0" baseline="0" noProof="0" dirty="0" smtClean="0">
                <a:ln>
                  <a:noFill/>
                </a:ln>
                <a:solidFill>
                  <a:schemeClr val="tx1"/>
                </a:solidFill>
                <a:effectLst/>
                <a:uLnTx/>
                <a:uFillTx/>
                <a:latin typeface="+mn-lt"/>
                <a:ea typeface="+mn-ea"/>
                <a:cs typeface="+mn-cs"/>
              </a:rPr>
              <a:t>{bbb, bbg, bgb, bgg, gbb, gbg, ggb, ggg}</a:t>
            </a:r>
            <a:endParaRPr kumimoji="0" lang="en-US" sz="2800" b="0" i="0" u="none" strike="noStrike" kern="0" cap="none" spc="0" normalizeH="0" baseline="0" noProof="0" dirty="0" smtClean="0">
              <a:ln>
                <a:noFill/>
              </a:ln>
              <a:solidFill>
                <a:schemeClr val="tx1"/>
              </a:solidFill>
              <a:effectLst/>
              <a:uLnTx/>
              <a:uFillTx/>
              <a:latin typeface="+mn-lt"/>
              <a:ea typeface="+mn-ea"/>
              <a:cs typeface="+mn-cs"/>
            </a:endParaRPr>
          </a:p>
          <a:p>
            <a:pPr marL="285750" marR="0" lvl="0" indent="-285750" algn="l" defTabSz="914400" rtl="0" eaLnBrk="0" fontAlgn="base" latinLnBrk="0" hangingPunct="0">
              <a:lnSpc>
                <a:spcPct val="110000"/>
              </a:lnSpc>
              <a:spcBef>
                <a:spcPct val="0"/>
              </a:spcBef>
              <a:spcAft>
                <a:spcPct val="0"/>
              </a:spcAft>
              <a:buClrTx/>
              <a:buSzPct val="100000"/>
              <a:buFontTx/>
              <a:buNone/>
              <a:defRPr/>
            </a:pPr>
            <a:endParaRPr kumimoji="0" lang="en-US" sz="28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10000"/>
              </a:lnSpc>
              <a:spcBef>
                <a:spcPct val="0"/>
              </a:spcBef>
              <a:spcAft>
                <a:spcPct val="0"/>
              </a:spcAft>
              <a:buClrTx/>
              <a:buSzPct val="100000"/>
              <a:buFontTx/>
              <a:buNone/>
              <a:defRPr/>
            </a:pPr>
            <a:r>
              <a:rPr kumimoji="0" lang="en-US" sz="2800" b="0" i="0" u="none" strike="noStrike" kern="0" cap="none" spc="0" normalizeH="0" baseline="0" noProof="0" dirty="0" smtClean="0">
                <a:ln>
                  <a:noFill/>
                </a:ln>
                <a:solidFill>
                  <a:schemeClr val="tx1"/>
                </a:solidFill>
                <a:effectLst/>
                <a:uLnTx/>
                <a:uFillTx/>
                <a:latin typeface="+mn-lt"/>
                <a:ea typeface="+mn-ea"/>
                <a:cs typeface="+mn-cs"/>
              </a:rPr>
              <a:t>Assuming that boys and girls are </a:t>
            </a:r>
            <a:r>
              <a:rPr kumimoji="0" lang="en-US" sz="2800" b="0" i="0" u="none" strike="noStrike" kern="0" cap="none" spc="0" normalizeH="0" baseline="0" noProof="0" dirty="0" smtClean="0">
                <a:ln>
                  <a:noFill/>
                </a:ln>
                <a:solidFill>
                  <a:srgbClr val="FF0000"/>
                </a:solidFill>
                <a:effectLst/>
                <a:uLnTx/>
                <a:uFillTx/>
                <a:latin typeface="+mn-lt"/>
                <a:ea typeface="+mn-ea"/>
                <a:cs typeface="+mn-cs"/>
              </a:rPr>
              <a:t>equally likely</a:t>
            </a:r>
            <a:r>
              <a:rPr kumimoji="0" lang="en-US" sz="2800" b="0" i="0" u="none" strike="noStrike" kern="0" cap="none" spc="0" normalizeH="0" baseline="0" noProof="0" dirty="0" smtClean="0">
                <a:ln>
                  <a:noFill/>
                </a:ln>
                <a:solidFill>
                  <a:schemeClr val="tx1"/>
                </a:solidFill>
                <a:effectLst/>
                <a:uLnTx/>
                <a:uFillTx/>
                <a:latin typeface="+mn-lt"/>
                <a:ea typeface="+mn-ea"/>
                <a:cs typeface="+mn-cs"/>
              </a:rPr>
              <a:t>, find the probability of getting three children of all the same gender.</a:t>
            </a:r>
            <a:endParaRPr kumimoji="0" lang="en-US" sz="2800" b="0" i="0" u="none" strike="noStrike" kern="0" cap="none" spc="0" normalizeH="0" baseline="0" noProof="0" dirty="0" smtClean="0">
              <a:ln>
                <a:noFill/>
              </a:ln>
              <a:solidFill>
                <a:schemeClr val="tx1"/>
              </a:solidFill>
              <a:effectLst/>
              <a:uLnTx/>
              <a:uFillTx/>
              <a:latin typeface="+mn-lt"/>
              <a:ea typeface="+mn-ea"/>
              <a:cs typeface="+mn-cs"/>
            </a:endParaRPr>
          </a:p>
          <a:p>
            <a:pPr marL="285750" marR="0" lvl="0" indent="-285750" algn="l" defTabSz="914400" rtl="0" eaLnBrk="0" fontAlgn="base" latinLnBrk="0" hangingPunct="0">
              <a:lnSpc>
                <a:spcPct val="110000"/>
              </a:lnSpc>
              <a:spcBef>
                <a:spcPct val="0"/>
              </a:spcBef>
              <a:spcAft>
                <a:spcPct val="0"/>
              </a:spcAft>
              <a:buClrTx/>
              <a:buSzPct val="100000"/>
              <a:buFontTx/>
              <a:buNone/>
              <a:defRPr/>
            </a:pPr>
            <a:endParaRPr kumimoji="0" lang="en-US" sz="2800" b="0" i="0" u="none" strike="noStrike" kern="0" cap="none" spc="0" normalizeH="0" baseline="0" noProof="0" dirty="0" smtClean="0">
              <a:ln>
                <a:noFill/>
              </a:ln>
              <a:solidFill>
                <a:schemeClr val="tx1"/>
              </a:solidFill>
              <a:effectLst/>
              <a:uLnTx/>
              <a:uFillTx/>
              <a:latin typeface="+mn-lt"/>
              <a:ea typeface="+mn-ea"/>
              <a:cs typeface="+mn-cs"/>
            </a:endParaRPr>
          </a:p>
        </p:txBody>
      </p:sp>
      <p:graphicFrame>
        <p:nvGraphicFramePr>
          <p:cNvPr id="2050" name="Object 2"/>
          <p:cNvGraphicFramePr>
            <a:graphicFrameLocks noChangeAspect="1"/>
          </p:cNvGraphicFramePr>
          <p:nvPr/>
        </p:nvGraphicFramePr>
        <p:xfrm>
          <a:off x="1963738" y="4495800"/>
          <a:ext cx="8086725" cy="1066800"/>
        </p:xfrm>
        <a:graphic>
          <a:graphicData uri="http://schemas.openxmlformats.org/presentationml/2006/ole">
            <mc:AlternateContent xmlns:mc="http://schemas.openxmlformats.org/markup-compatibility/2006">
              <mc:Choice xmlns:v="urn:schemas-microsoft-com:vml" Requires="v">
                <p:oleObj spid="_x0000_s3080" name="" r:id="rId1" imgW="2984500" imgH="393700" progId="Equation.DSMT4">
                  <p:embed/>
                </p:oleObj>
              </mc:Choice>
              <mc:Fallback>
                <p:oleObj name="" r:id="rId1" imgW="2984500" imgH="393700" progId="Equation.DSMT4">
                  <p:embed/>
                  <p:pic>
                    <p:nvPicPr>
                      <p:cNvPr id="0" name="Picture 3079"/>
                      <p:cNvPicPr/>
                      <p:nvPr/>
                    </p:nvPicPr>
                    <p:blipFill>
                      <a:blip r:embed="rId2"/>
                      <a:stretch>
                        <a:fillRect/>
                      </a:stretch>
                    </p:blipFill>
                    <p:spPr>
                      <a:xfrm>
                        <a:off x="1963738" y="4495800"/>
                        <a:ext cx="8086725" cy="1066800"/>
                      </a:xfrm>
                      <a:prstGeom prst="rect">
                        <a:avLst/>
                      </a:prstGeom>
                      <a:noFill/>
                      <a:ln w="38100">
                        <a:noFill/>
                        <a:miter/>
                      </a:ln>
                    </p:spPr>
                  </p:pic>
                </p:oleObj>
              </mc:Fallback>
            </mc:AlternateContent>
          </a:graphicData>
        </a:graphic>
      </p:graphicFrame>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p:nvPr/>
        </p:nvSpPr>
        <p:spPr>
          <a:xfrm>
            <a:off x="2590800" y="762000"/>
            <a:ext cx="7162800" cy="1143000"/>
          </a:xfrm>
          <a:prstGeom prst="rect">
            <a:avLst/>
          </a:prstGeom>
          <a:noFill/>
          <a:ln w="12700">
            <a:noFill/>
          </a:ln>
        </p:spPr>
        <p:txBody>
          <a:bodyPr wrap="none" anchor="ctr" anchorCtr="0"/>
          <a:p>
            <a:endParaRPr dirty="0">
              <a:latin typeface="Arial" panose="020B0604020202020204" pitchFamily="34" charset="0"/>
            </a:endParaRPr>
          </a:p>
        </p:txBody>
      </p:sp>
      <p:sp>
        <p:nvSpPr>
          <p:cNvPr id="18435" name="Rectangle 3"/>
          <p:cNvSpPr/>
          <p:nvPr/>
        </p:nvSpPr>
        <p:spPr>
          <a:xfrm>
            <a:off x="2667000" y="2133600"/>
            <a:ext cx="7162800" cy="4114800"/>
          </a:xfrm>
          <a:prstGeom prst="rect">
            <a:avLst/>
          </a:prstGeom>
          <a:noFill/>
          <a:ln w="12700">
            <a:noFill/>
          </a:ln>
        </p:spPr>
        <p:txBody>
          <a:bodyPr wrap="none" anchor="ctr" anchorCtr="0"/>
          <a:p>
            <a:endParaRPr dirty="0">
              <a:latin typeface="Arial" panose="020B0604020202020204" pitchFamily="34" charset="0"/>
            </a:endParaRPr>
          </a:p>
        </p:txBody>
      </p:sp>
      <p:sp>
        <p:nvSpPr>
          <p:cNvPr id="18436" name="Rectangle 4"/>
          <p:cNvSpPr/>
          <p:nvPr/>
        </p:nvSpPr>
        <p:spPr>
          <a:xfrm>
            <a:off x="1524000" y="3962400"/>
            <a:ext cx="8534400" cy="762000"/>
          </a:xfrm>
          <a:prstGeom prst="rect">
            <a:avLst/>
          </a:prstGeom>
          <a:noFill/>
          <a:ln w="12700">
            <a:noFill/>
          </a:ln>
        </p:spPr>
        <p:txBody>
          <a:bodyPr wrap="none" anchor="ctr" anchorCtr="0"/>
          <a:p>
            <a:endParaRPr dirty="0">
              <a:latin typeface="Arial" panose="020B0604020202020204" pitchFamily="34" charset="0"/>
            </a:endParaRPr>
          </a:p>
        </p:txBody>
      </p:sp>
      <p:sp>
        <p:nvSpPr>
          <p:cNvPr id="18437" name="Rectangle 5"/>
          <p:cNvSpPr/>
          <p:nvPr/>
        </p:nvSpPr>
        <p:spPr>
          <a:xfrm>
            <a:off x="4680744" y="254000"/>
            <a:ext cx="2806700" cy="1319530"/>
          </a:xfrm>
          <a:prstGeom prst="rect">
            <a:avLst/>
          </a:prstGeom>
          <a:noFill/>
          <a:ln w="12700">
            <a:noFill/>
          </a:ln>
        </p:spPr>
        <p:txBody>
          <a:bodyPr wrap="none" lIns="90488" tIns="44450" rIns="90488" bIns="44450">
            <a:spAutoFit/>
          </a:bodyPr>
          <a:p>
            <a:pPr algn="ctr"/>
            <a:r>
              <a:rPr sz="4000" dirty="0">
                <a:solidFill>
                  <a:srgbClr val="008000"/>
                </a:solidFill>
                <a:latin typeface="Arial" panose="020B0604020202020204" pitchFamily="34" charset="0"/>
              </a:rPr>
              <a:t>Simulations</a:t>
            </a:r>
            <a:endParaRPr sz="4000" dirty="0">
              <a:solidFill>
                <a:srgbClr val="008000"/>
              </a:solidFill>
              <a:latin typeface="Arial" panose="020B0604020202020204" pitchFamily="34" charset="0"/>
            </a:endParaRPr>
          </a:p>
          <a:p>
            <a:pPr algn="ctr"/>
            <a:r>
              <a:rPr lang="en-US" sz="4000" dirty="0">
                <a:solidFill>
                  <a:srgbClr val="008000"/>
                </a:solidFill>
                <a:latin typeface="Arial" panose="020B0604020202020204" pitchFamily="34" charset="0"/>
              </a:rPr>
              <a:t>(Mô phỏng)</a:t>
            </a:r>
            <a:endParaRPr lang="en-US" sz="4000" dirty="0">
              <a:solidFill>
                <a:srgbClr val="008000"/>
              </a:solidFill>
              <a:latin typeface="Arial" panose="020B0604020202020204" pitchFamily="34" charset="0"/>
            </a:endParaRPr>
          </a:p>
        </p:txBody>
      </p:sp>
      <p:sp>
        <p:nvSpPr>
          <p:cNvPr id="18438" name="Rectangle 6"/>
          <p:cNvSpPr>
            <a:spLocks noGrp="1"/>
          </p:cNvSpPr>
          <p:nvPr>
            <p:ph type="body" idx="4294967295"/>
          </p:nvPr>
        </p:nvSpPr>
        <p:spPr>
          <a:xfrm>
            <a:off x="2114550" y="2133600"/>
            <a:ext cx="8267700" cy="2649538"/>
          </a:xfrm>
          <a:prstGeom prst="rect">
            <a:avLst/>
          </a:prstGeom>
          <a:noFill/>
          <a:ln w="12700">
            <a:noFill/>
          </a:ln>
        </p:spPr>
        <p:txBody>
          <a:bodyPr lIns="90488" tIns="44450" rIns="90488" bIns="44450"/>
          <a:p>
            <a:pPr>
              <a:lnSpc>
                <a:spcPct val="110000"/>
              </a:lnSpc>
              <a:spcBef>
                <a:spcPct val="0"/>
              </a:spcBef>
              <a:buNone/>
            </a:pPr>
            <a:r>
              <a:rPr sz="2800" b="0" dirty="0"/>
              <a:t>	A </a:t>
            </a:r>
            <a:r>
              <a:rPr sz="2800" b="0" dirty="0">
                <a:solidFill>
                  <a:srgbClr val="FF0000"/>
                </a:solidFill>
              </a:rPr>
              <a:t>simulation</a:t>
            </a:r>
            <a:r>
              <a:rPr sz="2800" b="0" dirty="0"/>
              <a:t> of a procedure is a process that behaves in the same ways as the procedure itself so that similar results are produced.</a:t>
            </a:r>
            <a:endParaRPr sz="2800" b="0"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5" name="Rectangle 2"/>
          <p:cNvSpPr>
            <a:spLocks noGrp="1"/>
          </p:cNvSpPr>
          <p:nvPr>
            <p:ph type="title" idx="4294967295"/>
          </p:nvPr>
        </p:nvSpPr>
        <p:spPr>
          <a:xfrm>
            <a:off x="2514600" y="298450"/>
            <a:ext cx="7162800" cy="723900"/>
          </a:xfrm>
          <a:prstGeom prst="rect">
            <a:avLst/>
          </a:prstGeom>
          <a:noFill/>
          <a:ln w="9525">
            <a:noFill/>
          </a:ln>
        </p:spPr>
        <p:txBody>
          <a:bodyPr lIns="90488" tIns="44450" rIns="90488" bIns="44450">
            <a:normAutofit fontScale="90000"/>
          </a:bodyPr>
          <a:p>
            <a:r>
              <a:rPr dirty="0"/>
              <a:t>Probability Limits</a:t>
            </a:r>
            <a:endParaRPr dirty="0"/>
          </a:p>
        </p:txBody>
      </p:sp>
      <p:sp>
        <p:nvSpPr>
          <p:cNvPr id="3076" name="Rectangle 3"/>
          <p:cNvSpPr/>
          <p:nvPr/>
        </p:nvSpPr>
        <p:spPr>
          <a:xfrm>
            <a:off x="2667000" y="133350"/>
            <a:ext cx="7162800" cy="1143000"/>
          </a:xfrm>
          <a:prstGeom prst="rect">
            <a:avLst/>
          </a:prstGeom>
          <a:noFill/>
          <a:ln w="12700">
            <a:noFill/>
          </a:ln>
        </p:spPr>
        <p:txBody>
          <a:bodyPr wrap="none" anchor="ctr" anchorCtr="0"/>
          <a:p>
            <a:endParaRPr dirty="0">
              <a:latin typeface="Arial" panose="020B0604020202020204" pitchFamily="34" charset="0"/>
            </a:endParaRPr>
          </a:p>
        </p:txBody>
      </p:sp>
      <p:sp>
        <p:nvSpPr>
          <p:cNvPr id="3077" name="Rectangle 5"/>
          <p:cNvSpPr>
            <a:spLocks noGrp="1"/>
          </p:cNvSpPr>
          <p:nvPr>
            <p:ph type="body" idx="4294967295"/>
          </p:nvPr>
        </p:nvSpPr>
        <p:spPr>
          <a:xfrm>
            <a:off x="2057400" y="3208338"/>
            <a:ext cx="8413750" cy="1174750"/>
          </a:xfrm>
          <a:prstGeom prst="rect">
            <a:avLst/>
          </a:prstGeom>
          <a:noFill/>
          <a:ln w="12700">
            <a:noFill/>
          </a:ln>
        </p:spPr>
        <p:txBody>
          <a:bodyPr lIns="90488" tIns="44450" rIns="90488" bIns="44450"/>
          <a:p>
            <a:pPr marL="0" indent="0" defTabSz="457200">
              <a:lnSpc>
                <a:spcPct val="95000"/>
              </a:lnSpc>
              <a:spcAft>
                <a:spcPct val="30000"/>
              </a:spcAft>
              <a:buClr>
                <a:schemeClr val="accent2"/>
              </a:buClr>
              <a:buFont typeface="Wingdings" panose="05000000000000000000" pitchFamily="2" charset="2"/>
              <a:buChar char="v"/>
            </a:pPr>
            <a:r>
              <a:rPr sz="2800" b="0" dirty="0"/>
              <a:t> The probability of an event that is certain</a:t>
            </a:r>
            <a:r>
              <a:rPr lang="en-US" sz="2800" b="0" dirty="0"/>
              <a:t> </a:t>
            </a:r>
            <a:r>
              <a:rPr sz="2800" b="0" dirty="0"/>
              <a:t>to</a:t>
            </a:r>
            <a:r>
              <a:rPr lang="en-US" sz="2800" b="0" dirty="0"/>
              <a:t> </a:t>
            </a:r>
            <a:r>
              <a:rPr sz="2800" b="0" dirty="0"/>
              <a:t>occur</a:t>
            </a:r>
            <a:r>
              <a:rPr lang="en-US" sz="2800" b="0" dirty="0"/>
              <a:t> </a:t>
            </a:r>
            <a:r>
              <a:rPr lang="en-US" dirty="0">
                <a:sym typeface="+mn-ea"/>
              </a:rPr>
              <a:t>(biến cố chắc chắn)</a:t>
            </a:r>
            <a:r>
              <a:rPr sz="2800" b="0" dirty="0"/>
              <a:t> is 1.</a:t>
            </a:r>
            <a:endParaRPr sz="2800" b="0" dirty="0">
              <a:solidFill>
                <a:schemeClr val="hlink"/>
              </a:solidFill>
            </a:endParaRPr>
          </a:p>
        </p:txBody>
      </p:sp>
      <p:grpSp>
        <p:nvGrpSpPr>
          <p:cNvPr id="3078" name="Group 5"/>
          <p:cNvGrpSpPr/>
          <p:nvPr/>
        </p:nvGrpSpPr>
        <p:grpSpPr>
          <a:xfrm>
            <a:off x="2057400" y="1473200"/>
            <a:ext cx="8267700" cy="1862138"/>
            <a:chOff x="336" y="928"/>
            <a:chExt cx="5208" cy="1173"/>
          </a:xfrm>
        </p:grpSpPr>
        <p:sp>
          <p:nvSpPr>
            <p:cNvPr id="3080" name="Text Box 6"/>
            <p:cNvSpPr txBox="1"/>
            <p:nvPr/>
          </p:nvSpPr>
          <p:spPr>
            <a:xfrm>
              <a:off x="336" y="1528"/>
              <a:ext cx="5208" cy="573"/>
            </a:xfrm>
            <a:prstGeom prst="rect">
              <a:avLst/>
            </a:prstGeom>
            <a:noFill/>
            <a:ln w="12700">
              <a:noFill/>
            </a:ln>
          </p:spPr>
          <p:txBody>
            <a:bodyPr>
              <a:spAutoFit/>
            </a:bodyPr>
            <a:p>
              <a:pPr>
                <a:lnSpc>
                  <a:spcPct val="95000"/>
                </a:lnSpc>
                <a:spcBef>
                  <a:spcPct val="30000"/>
                </a:spcBef>
                <a:spcAft>
                  <a:spcPct val="30000"/>
                </a:spcAft>
                <a:buClr>
                  <a:schemeClr val="accent2"/>
                </a:buClr>
                <a:buFont typeface="Wingdings" panose="05000000000000000000" pitchFamily="2" charset="2"/>
                <a:buChar char="v"/>
              </a:pPr>
              <a:r>
                <a:rPr sz="2800" b="0" dirty="0">
                  <a:latin typeface="Arial" panose="020B0604020202020204" pitchFamily="34" charset="0"/>
                </a:rPr>
                <a:t> The probability of an impossible event</a:t>
              </a:r>
              <a:r>
                <a:rPr lang="en-US" sz="2800" b="0" dirty="0">
                  <a:latin typeface="Arial" panose="020B0604020202020204" pitchFamily="34" charset="0"/>
                </a:rPr>
                <a:t> (biến cố không thể)</a:t>
              </a:r>
              <a:r>
                <a:rPr sz="2800" b="0" dirty="0">
                  <a:latin typeface="Arial" panose="020B0604020202020204" pitchFamily="34" charset="0"/>
                </a:rPr>
                <a:t> is 0.</a:t>
              </a:r>
              <a:endParaRPr sz="2800" b="0" dirty="0">
                <a:latin typeface="Arial" panose="020B0604020202020204" pitchFamily="34" charset="0"/>
              </a:endParaRPr>
            </a:p>
          </p:txBody>
        </p:sp>
        <p:sp>
          <p:nvSpPr>
            <p:cNvPr id="3081" name="Text Box 8"/>
            <p:cNvSpPr txBox="1"/>
            <p:nvPr/>
          </p:nvSpPr>
          <p:spPr>
            <a:xfrm>
              <a:off x="336" y="928"/>
              <a:ext cx="5208" cy="573"/>
            </a:xfrm>
            <a:prstGeom prst="rect">
              <a:avLst/>
            </a:prstGeom>
            <a:noFill/>
            <a:ln w="12700">
              <a:noFill/>
            </a:ln>
          </p:spPr>
          <p:txBody>
            <a:bodyPr>
              <a:spAutoFit/>
            </a:bodyPr>
            <a:p>
              <a:pPr>
                <a:lnSpc>
                  <a:spcPct val="95000"/>
                </a:lnSpc>
                <a:spcBef>
                  <a:spcPct val="30000"/>
                </a:spcBef>
                <a:spcAft>
                  <a:spcPct val="30000"/>
                </a:spcAft>
                <a:buClr>
                  <a:schemeClr val="accent2"/>
                </a:buClr>
                <a:buFont typeface="Wingdings" panose="05000000000000000000" pitchFamily="2" charset="2"/>
              </a:pPr>
              <a:r>
                <a:rPr sz="2800" b="0" dirty="0">
                  <a:latin typeface="Arial" panose="020B0604020202020204" pitchFamily="34" charset="0"/>
                </a:rPr>
                <a:t>Always express a probability as a fraction or decimal number between 0 and 1.</a:t>
              </a:r>
              <a:endParaRPr sz="2800" b="0" dirty="0">
                <a:latin typeface="Arial" panose="020B0604020202020204" pitchFamily="34" charset="0"/>
              </a:endParaRPr>
            </a:p>
          </p:txBody>
        </p:sp>
      </p:grpSp>
      <p:sp>
        <p:nvSpPr>
          <p:cNvPr id="3079" name="Text Box 7"/>
          <p:cNvSpPr txBox="1"/>
          <p:nvPr/>
        </p:nvSpPr>
        <p:spPr>
          <a:xfrm>
            <a:off x="2057400" y="4322763"/>
            <a:ext cx="8305800" cy="1318260"/>
          </a:xfrm>
          <a:prstGeom prst="rect">
            <a:avLst/>
          </a:prstGeom>
          <a:noFill/>
          <a:ln w="12700">
            <a:noFill/>
          </a:ln>
        </p:spPr>
        <p:txBody>
          <a:bodyPr>
            <a:spAutoFit/>
          </a:bodyPr>
          <a:p>
            <a:pPr marL="457200" indent="-457200">
              <a:lnSpc>
                <a:spcPct val="95000"/>
              </a:lnSpc>
              <a:buClr>
                <a:schemeClr val="accent2"/>
              </a:buClr>
              <a:buFont typeface="Wingdings" panose="05000000000000000000" pitchFamily="2" charset="2"/>
              <a:buChar char="v"/>
            </a:pPr>
            <a:r>
              <a:rPr sz="2800" b="0" dirty="0">
                <a:latin typeface="Arial" panose="020B0604020202020204" pitchFamily="34" charset="0"/>
              </a:rPr>
              <a:t>For any event </a:t>
            </a:r>
            <a:r>
              <a:rPr sz="2800" b="0" i="1" dirty="0">
                <a:latin typeface="Arial" panose="020B0604020202020204" pitchFamily="34" charset="0"/>
              </a:rPr>
              <a:t>A</a:t>
            </a:r>
            <a:r>
              <a:rPr sz="2800" b="0" dirty="0">
                <a:latin typeface="Arial" panose="020B0604020202020204" pitchFamily="34" charset="0"/>
              </a:rPr>
              <a:t>, the probability of </a:t>
            </a:r>
            <a:r>
              <a:rPr sz="2800" b="0" i="1" dirty="0">
                <a:latin typeface="Arial" panose="020B0604020202020204" pitchFamily="34" charset="0"/>
              </a:rPr>
              <a:t>A</a:t>
            </a:r>
            <a:r>
              <a:rPr sz="2800" b="0" dirty="0">
                <a:latin typeface="Arial" panose="020B0604020202020204" pitchFamily="34" charset="0"/>
              </a:rPr>
              <a:t> is      between 0 and 1 inclusive.  </a:t>
            </a:r>
            <a:endParaRPr sz="2800" b="0" dirty="0">
              <a:latin typeface="Arial" panose="020B0604020202020204" pitchFamily="34" charset="0"/>
            </a:endParaRPr>
          </a:p>
          <a:p>
            <a:pPr marL="457200" indent="-457200">
              <a:lnSpc>
                <a:spcPct val="95000"/>
              </a:lnSpc>
              <a:buClr>
                <a:schemeClr val="accent2"/>
              </a:buClr>
              <a:buFont typeface="Wingdings" panose="05000000000000000000" pitchFamily="2" charset="2"/>
            </a:pPr>
            <a:r>
              <a:rPr sz="2800" b="0" dirty="0">
                <a:latin typeface="Arial" panose="020B0604020202020204" pitchFamily="34" charset="0"/>
              </a:rPr>
              <a:t>	That is,</a:t>
            </a:r>
            <a:r>
              <a:rPr sz="2800" b="0" i="1" dirty="0">
                <a:latin typeface="Arial" panose="020B0604020202020204" pitchFamily="34" charset="0"/>
              </a:rPr>
              <a:t> </a:t>
            </a:r>
            <a:r>
              <a:rPr sz="2800" b="0" dirty="0">
                <a:latin typeface="Arial" panose="020B0604020202020204" pitchFamily="34" charset="0"/>
              </a:rPr>
              <a:t>                     .</a:t>
            </a:r>
            <a:endParaRPr sz="2800" b="0" i="1" dirty="0">
              <a:latin typeface="Arial" panose="020B0604020202020204" pitchFamily="34" charset="0"/>
            </a:endParaRPr>
          </a:p>
        </p:txBody>
      </p:sp>
      <p:graphicFrame>
        <p:nvGraphicFramePr>
          <p:cNvPr id="3074" name="Object 2"/>
          <p:cNvGraphicFramePr>
            <a:graphicFrameLocks noChangeAspect="1"/>
          </p:cNvGraphicFramePr>
          <p:nvPr/>
        </p:nvGraphicFramePr>
        <p:xfrm>
          <a:off x="3983038" y="5232400"/>
          <a:ext cx="1876425" cy="415925"/>
        </p:xfrm>
        <a:graphic>
          <a:graphicData uri="http://schemas.openxmlformats.org/presentationml/2006/ole">
            <mc:AlternateContent xmlns:mc="http://schemas.openxmlformats.org/markup-compatibility/2006">
              <mc:Choice xmlns:v="urn:schemas-microsoft-com:vml" Requires="v">
                <p:oleObj spid="_x0000_s2" name="" r:id="rId1" imgW="1765300" imgH="393700" progId="Equation.DSMT4">
                  <p:embed/>
                </p:oleObj>
              </mc:Choice>
              <mc:Fallback>
                <p:oleObj name="" r:id="rId1" imgW="1765300" imgH="393700" progId="Equation.DSMT4">
                  <p:embed/>
                  <p:pic>
                    <p:nvPicPr>
                      <p:cNvPr id="0" name="Picture 1"/>
                      <p:cNvPicPr/>
                      <p:nvPr/>
                    </p:nvPicPr>
                    <p:blipFill>
                      <a:blip r:embed="rId2"/>
                      <a:stretch>
                        <a:fillRect/>
                      </a:stretch>
                    </p:blipFill>
                    <p:spPr>
                      <a:xfrm>
                        <a:off x="3983038" y="5232400"/>
                        <a:ext cx="1876425" cy="415925"/>
                      </a:xfrm>
                      <a:prstGeom prst="rect">
                        <a:avLst/>
                      </a:prstGeom>
                      <a:noFill/>
                      <a:ln w="38100">
                        <a:noFill/>
                        <a:miter/>
                      </a:ln>
                    </p:spPr>
                  </p:pic>
                </p:oleObj>
              </mc:Fallback>
            </mc:AlternateContent>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idx="4294967295"/>
          </p:nvPr>
        </p:nvSpPr>
        <p:spPr>
          <a:xfrm>
            <a:off x="1644650" y="1187450"/>
            <a:ext cx="5540375" cy="1295400"/>
          </a:xfrm>
          <a:prstGeom prst="rect">
            <a:avLst/>
          </a:prstGeom>
          <a:noFill/>
          <a:ln w="9525">
            <a:noFill/>
          </a:ln>
        </p:spPr>
        <p:txBody>
          <a:bodyPr lIns="90488" tIns="44450" rIns="90488" bIns="44450">
            <a:normAutofit fontScale="90000"/>
          </a:bodyPr>
          <a:p>
            <a:r>
              <a:rPr dirty="0"/>
              <a:t>Possible Values </a:t>
            </a:r>
            <a:br>
              <a:rPr dirty="0"/>
            </a:br>
            <a:r>
              <a:rPr dirty="0"/>
              <a:t>for Probabilities</a:t>
            </a:r>
            <a:endParaRPr dirty="0"/>
          </a:p>
        </p:txBody>
      </p:sp>
      <p:sp>
        <p:nvSpPr>
          <p:cNvPr id="19459" name="Rectangle 23"/>
          <p:cNvSpPr/>
          <p:nvPr/>
        </p:nvSpPr>
        <p:spPr>
          <a:xfrm>
            <a:off x="4648200" y="1752600"/>
            <a:ext cx="5181600" cy="1600200"/>
          </a:xfrm>
          <a:prstGeom prst="rect">
            <a:avLst/>
          </a:prstGeom>
          <a:noFill/>
          <a:ln w="12700">
            <a:noFill/>
          </a:ln>
        </p:spPr>
        <p:txBody>
          <a:bodyPr wrap="none" anchor="ctr" anchorCtr="0"/>
          <a:p>
            <a:endParaRPr dirty="0">
              <a:latin typeface="Arial" panose="020B0604020202020204" pitchFamily="34" charset="0"/>
            </a:endParaRPr>
          </a:p>
        </p:txBody>
      </p:sp>
      <p:pic>
        <p:nvPicPr>
          <p:cNvPr id="19460" name="Picture 28" descr="3_02"/>
          <p:cNvPicPr>
            <a:picLocks noChangeAspect="1"/>
          </p:cNvPicPr>
          <p:nvPr/>
        </p:nvPicPr>
        <p:blipFill>
          <a:blip r:embed="rId1"/>
          <a:stretch>
            <a:fillRect/>
          </a:stretch>
        </p:blipFill>
        <p:spPr>
          <a:xfrm>
            <a:off x="6977063" y="288925"/>
            <a:ext cx="2516187" cy="5959475"/>
          </a:xfrm>
          <a:prstGeom prst="rect">
            <a:avLst/>
          </a:prstGeom>
          <a:noFill/>
          <a:ln w="9525">
            <a:noFill/>
          </a:ln>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Rectangle 3"/>
          <p:cNvSpPr/>
          <p:nvPr/>
        </p:nvSpPr>
        <p:spPr>
          <a:xfrm>
            <a:off x="2438400" y="609600"/>
            <a:ext cx="7162800" cy="1143000"/>
          </a:xfrm>
          <a:prstGeom prst="rect">
            <a:avLst/>
          </a:prstGeom>
          <a:noFill/>
          <a:ln w="12700">
            <a:noFill/>
          </a:ln>
        </p:spPr>
        <p:txBody>
          <a:bodyPr wrap="none" anchor="ctr" anchorCtr="0"/>
          <a:p>
            <a:endParaRPr dirty="0">
              <a:latin typeface="Arial" panose="020B0604020202020204" pitchFamily="34" charset="0"/>
            </a:endParaRPr>
          </a:p>
        </p:txBody>
      </p:sp>
      <p:sp>
        <p:nvSpPr>
          <p:cNvPr id="4100" name="Rectangle 4"/>
          <p:cNvSpPr/>
          <p:nvPr/>
        </p:nvSpPr>
        <p:spPr>
          <a:xfrm>
            <a:off x="1933575" y="254000"/>
            <a:ext cx="9173210" cy="704215"/>
          </a:xfrm>
          <a:prstGeom prst="rect">
            <a:avLst/>
          </a:prstGeom>
          <a:noFill/>
          <a:ln w="12700">
            <a:noFill/>
          </a:ln>
        </p:spPr>
        <p:txBody>
          <a:bodyPr wrap="square" lIns="90488" tIns="44450" rIns="90488" bIns="44450">
            <a:spAutoFit/>
          </a:bodyPr>
          <a:p>
            <a:pPr algn="ctr"/>
            <a:r>
              <a:rPr sz="4000" dirty="0">
                <a:solidFill>
                  <a:srgbClr val="008000"/>
                </a:solidFill>
                <a:latin typeface="Arial" panose="020B0604020202020204" pitchFamily="34" charset="0"/>
              </a:rPr>
              <a:t>Complementary Events</a:t>
            </a:r>
            <a:r>
              <a:rPr lang="en-US" sz="4000" dirty="0">
                <a:solidFill>
                  <a:srgbClr val="008000"/>
                </a:solidFill>
                <a:latin typeface="Arial" panose="020B0604020202020204" pitchFamily="34" charset="0"/>
              </a:rPr>
              <a:t> (Biến cố đối)</a:t>
            </a:r>
            <a:endParaRPr lang="en-US" sz="4000" dirty="0">
              <a:solidFill>
                <a:srgbClr val="008000"/>
              </a:solidFill>
              <a:latin typeface="Arial" panose="020B0604020202020204" pitchFamily="34" charset="0"/>
            </a:endParaRPr>
          </a:p>
        </p:txBody>
      </p:sp>
      <p:sp>
        <p:nvSpPr>
          <p:cNvPr id="4101" name="Text Box 12"/>
          <p:cNvSpPr txBox="1"/>
          <p:nvPr/>
        </p:nvSpPr>
        <p:spPr>
          <a:xfrm>
            <a:off x="2133600" y="2082800"/>
            <a:ext cx="8153400" cy="2108835"/>
          </a:xfrm>
          <a:prstGeom prst="rect">
            <a:avLst/>
          </a:prstGeom>
          <a:noFill/>
          <a:ln w="12700">
            <a:noFill/>
          </a:ln>
        </p:spPr>
        <p:txBody>
          <a:bodyPr>
            <a:spAutoFit/>
          </a:bodyPr>
          <a:p>
            <a:pPr>
              <a:lnSpc>
                <a:spcPct val="120000"/>
              </a:lnSpc>
              <a:spcBef>
                <a:spcPct val="50000"/>
              </a:spcBef>
            </a:pPr>
            <a:r>
              <a:rPr sz="3200" b="0" dirty="0">
                <a:latin typeface="Arial" panose="020B0604020202020204" pitchFamily="34" charset="0"/>
              </a:rPr>
              <a:t>The </a:t>
            </a:r>
            <a:r>
              <a:rPr sz="3200" b="0" dirty="0">
                <a:solidFill>
                  <a:srgbClr val="FF0000"/>
                </a:solidFill>
                <a:latin typeface="Arial" panose="020B0604020202020204" pitchFamily="34" charset="0"/>
              </a:rPr>
              <a:t>complement </a:t>
            </a:r>
            <a:r>
              <a:rPr sz="3200" b="0" dirty="0">
                <a:latin typeface="Arial" panose="020B0604020202020204" pitchFamily="34" charset="0"/>
              </a:rPr>
              <a:t>of event </a:t>
            </a:r>
            <a:r>
              <a:rPr sz="3200" b="0" i="1" dirty="0">
                <a:latin typeface="Arial" panose="020B0604020202020204" pitchFamily="34" charset="0"/>
              </a:rPr>
              <a:t>A</a:t>
            </a:r>
            <a:r>
              <a:rPr sz="3200" b="0" dirty="0">
                <a:latin typeface="Arial" panose="020B0604020202020204" pitchFamily="34" charset="0"/>
              </a:rPr>
              <a:t>, denoted by    </a:t>
            </a:r>
            <a:endParaRPr sz="3200" b="0" dirty="0">
              <a:latin typeface="Arial" panose="020B0604020202020204" pitchFamily="34" charset="0"/>
            </a:endParaRPr>
          </a:p>
          <a:p>
            <a:pPr>
              <a:lnSpc>
                <a:spcPct val="120000"/>
              </a:lnSpc>
              <a:spcBef>
                <a:spcPct val="50000"/>
              </a:spcBef>
            </a:pPr>
            <a:r>
              <a:rPr sz="3200" b="0" dirty="0">
                <a:latin typeface="Arial" panose="020B0604020202020204" pitchFamily="34" charset="0"/>
              </a:rPr>
              <a:t>   , consists of all outcomes in which the event </a:t>
            </a:r>
            <a:r>
              <a:rPr sz="3200" b="0" i="1" dirty="0">
                <a:latin typeface="Arial" panose="020B0604020202020204" pitchFamily="34" charset="0"/>
              </a:rPr>
              <a:t>A</a:t>
            </a:r>
            <a:r>
              <a:rPr sz="3200" b="0" dirty="0">
                <a:latin typeface="Arial" panose="020B0604020202020204" pitchFamily="34" charset="0"/>
              </a:rPr>
              <a:t> does </a:t>
            </a:r>
            <a:r>
              <a:rPr sz="3200" b="0" dirty="0">
                <a:solidFill>
                  <a:schemeClr val="hlink"/>
                </a:solidFill>
                <a:latin typeface="Arial" panose="020B0604020202020204" pitchFamily="34" charset="0"/>
              </a:rPr>
              <a:t>not</a:t>
            </a:r>
            <a:r>
              <a:rPr sz="3200" b="0" dirty="0">
                <a:latin typeface="Arial" panose="020B0604020202020204" pitchFamily="34" charset="0"/>
              </a:rPr>
              <a:t> occur.</a:t>
            </a:r>
            <a:endParaRPr sz="3200" b="0" dirty="0">
              <a:latin typeface="Arial" panose="020B0604020202020204" pitchFamily="34" charset="0"/>
            </a:endParaRPr>
          </a:p>
        </p:txBody>
      </p:sp>
      <p:graphicFrame>
        <p:nvGraphicFramePr>
          <p:cNvPr id="4098" name="Object 4"/>
          <p:cNvGraphicFramePr>
            <a:graphicFrameLocks noChangeAspect="1"/>
          </p:cNvGraphicFramePr>
          <p:nvPr/>
        </p:nvGraphicFramePr>
        <p:xfrm>
          <a:off x="2208213" y="2876550"/>
          <a:ext cx="422275" cy="552450"/>
        </p:xfrm>
        <a:graphic>
          <a:graphicData uri="http://schemas.openxmlformats.org/presentationml/2006/ole">
            <mc:AlternateContent xmlns:mc="http://schemas.openxmlformats.org/markup-compatibility/2006">
              <mc:Choice xmlns:v="urn:schemas-microsoft-com:vml" Requires="v">
                <p:oleObj spid="_x0000_s3082" name="" r:id="rId1" imgW="292100" imgH="381000" progId="Equation.DSMT4">
                  <p:embed/>
                </p:oleObj>
              </mc:Choice>
              <mc:Fallback>
                <p:oleObj name="" r:id="rId1" imgW="292100" imgH="381000" progId="Equation.DSMT4">
                  <p:embed/>
                  <p:pic>
                    <p:nvPicPr>
                      <p:cNvPr id="0" name="Picture 3081"/>
                      <p:cNvPicPr/>
                      <p:nvPr/>
                    </p:nvPicPr>
                    <p:blipFill>
                      <a:blip r:embed="rId2"/>
                      <a:stretch>
                        <a:fillRect/>
                      </a:stretch>
                    </p:blipFill>
                    <p:spPr>
                      <a:xfrm>
                        <a:off x="2208213" y="2876550"/>
                        <a:ext cx="422275" cy="552450"/>
                      </a:xfrm>
                      <a:prstGeom prst="rect">
                        <a:avLst/>
                      </a:prstGeom>
                      <a:noFill/>
                      <a:ln w="38100">
                        <a:noFill/>
                        <a:miter/>
                      </a:ln>
                    </p:spPr>
                  </p:pic>
                </p:oleObj>
              </mc:Fallback>
            </mc:AlternateContent>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Rectangle 2"/>
          <p:cNvSpPr/>
          <p:nvPr/>
        </p:nvSpPr>
        <p:spPr>
          <a:xfrm>
            <a:off x="2590800" y="762000"/>
            <a:ext cx="7162800" cy="1143000"/>
          </a:xfrm>
          <a:prstGeom prst="rect">
            <a:avLst/>
          </a:prstGeom>
          <a:noFill/>
          <a:ln w="12700">
            <a:noFill/>
          </a:ln>
        </p:spPr>
        <p:txBody>
          <a:bodyPr wrap="none" anchor="ctr" anchorCtr="0"/>
          <a:p>
            <a:endParaRPr dirty="0">
              <a:latin typeface="Arial" panose="020B0604020202020204" pitchFamily="34" charset="0"/>
            </a:endParaRPr>
          </a:p>
        </p:txBody>
      </p:sp>
      <p:sp>
        <p:nvSpPr>
          <p:cNvPr id="5124" name="Rectangle 3"/>
          <p:cNvSpPr/>
          <p:nvPr/>
        </p:nvSpPr>
        <p:spPr>
          <a:xfrm>
            <a:off x="2667000" y="2133600"/>
            <a:ext cx="7162800" cy="4114800"/>
          </a:xfrm>
          <a:prstGeom prst="rect">
            <a:avLst/>
          </a:prstGeom>
          <a:noFill/>
          <a:ln w="12700">
            <a:noFill/>
          </a:ln>
        </p:spPr>
        <p:txBody>
          <a:bodyPr wrap="none" anchor="ctr" anchorCtr="0"/>
          <a:p>
            <a:endParaRPr dirty="0">
              <a:latin typeface="Arial" panose="020B0604020202020204" pitchFamily="34" charset="0"/>
            </a:endParaRPr>
          </a:p>
        </p:txBody>
      </p:sp>
      <p:sp>
        <p:nvSpPr>
          <p:cNvPr id="5125" name="Rectangle 4"/>
          <p:cNvSpPr/>
          <p:nvPr/>
        </p:nvSpPr>
        <p:spPr>
          <a:xfrm>
            <a:off x="1524000" y="3962400"/>
            <a:ext cx="8534400" cy="762000"/>
          </a:xfrm>
          <a:prstGeom prst="rect">
            <a:avLst/>
          </a:prstGeom>
          <a:noFill/>
          <a:ln w="12700">
            <a:noFill/>
          </a:ln>
        </p:spPr>
        <p:txBody>
          <a:bodyPr wrap="none" anchor="ctr" anchorCtr="0"/>
          <a:p>
            <a:endParaRPr dirty="0">
              <a:latin typeface="Arial" panose="020B0604020202020204" pitchFamily="34" charset="0"/>
            </a:endParaRPr>
          </a:p>
        </p:txBody>
      </p:sp>
      <p:sp>
        <p:nvSpPr>
          <p:cNvPr id="5126" name="Rectangle 5"/>
          <p:cNvSpPr/>
          <p:nvPr/>
        </p:nvSpPr>
        <p:spPr>
          <a:xfrm>
            <a:off x="5005546" y="254000"/>
            <a:ext cx="2157095" cy="704215"/>
          </a:xfrm>
          <a:prstGeom prst="rect">
            <a:avLst/>
          </a:prstGeom>
          <a:noFill/>
          <a:ln w="12700">
            <a:noFill/>
          </a:ln>
        </p:spPr>
        <p:txBody>
          <a:bodyPr wrap="none" lIns="90488" tIns="44450" rIns="90488" bIns="44450">
            <a:spAutoFit/>
          </a:bodyPr>
          <a:p>
            <a:pPr algn="ctr"/>
            <a:r>
              <a:rPr sz="4000" dirty="0">
                <a:solidFill>
                  <a:srgbClr val="008000"/>
                </a:solidFill>
                <a:latin typeface="Arial" panose="020B0604020202020204" pitchFamily="34" charset="0"/>
              </a:rPr>
              <a:t>Example</a:t>
            </a:r>
            <a:endParaRPr sz="4000" dirty="0">
              <a:solidFill>
                <a:srgbClr val="008000"/>
              </a:solidFill>
              <a:latin typeface="Arial" panose="020B0604020202020204" pitchFamily="34" charset="0"/>
            </a:endParaRPr>
          </a:p>
        </p:txBody>
      </p:sp>
      <p:sp>
        <p:nvSpPr>
          <p:cNvPr id="5127" name="Rectangle 6"/>
          <p:cNvSpPr>
            <a:spLocks noGrp="1" noChangeArrowheads="1"/>
          </p:cNvSpPr>
          <p:nvPr>
            <p:ph type="body" idx="4294967295"/>
          </p:nvPr>
        </p:nvSpPr>
        <p:spPr bwMode="auto">
          <a:xfrm>
            <a:off x="2119313" y="990600"/>
            <a:ext cx="8267700" cy="2057400"/>
          </a:xfrm>
          <a:prstGeom prst="rect">
            <a:avLst/>
          </a:prstGeom>
        </p:spPr>
        <p:txBody>
          <a:bodyPr lIns="90488" tIns="44450" rIns="90488" bIns="44450"/>
          <a:lstStyle/>
          <a:p>
            <a:pPr marL="0" marR="0" lvl="0" indent="-285750" algn="l" defTabSz="914400" rtl="0" eaLnBrk="0" fontAlgn="base" latinLnBrk="0" hangingPunct="0">
              <a:lnSpc>
                <a:spcPct val="110000"/>
              </a:lnSpc>
              <a:spcBef>
                <a:spcPct val="0"/>
              </a:spcBef>
              <a:spcAft>
                <a:spcPct val="0"/>
              </a:spcAft>
              <a:buClrTx/>
              <a:buSzPct val="100000"/>
              <a:buFontTx/>
              <a:buNone/>
              <a:defRPr/>
            </a:pPr>
            <a:r>
              <a:rPr kumimoji="0" lang="en-US" sz="2800" b="0" i="0" u="none" strike="noStrike" kern="0" cap="none" spc="0" normalizeH="0" baseline="0" noProof="0" dirty="0" smtClean="0">
                <a:ln>
                  <a:noFill/>
                </a:ln>
                <a:solidFill>
                  <a:schemeClr val="tx1"/>
                </a:solidFill>
                <a:effectLst/>
                <a:uLnTx/>
                <a:uFillTx/>
                <a:latin typeface="+mn-lt"/>
                <a:ea typeface="+mn-ea"/>
                <a:cs typeface="+mn-cs"/>
              </a:rPr>
              <a:t>1010 United States adults were surveyed and 202 of them were smokers.</a:t>
            </a:r>
            <a:endParaRPr kumimoji="0" lang="en-US" sz="2800" b="0" i="0" u="none" strike="noStrike" kern="0" cap="none" spc="0" normalizeH="0" baseline="0" noProof="0" dirty="0" smtClean="0">
              <a:ln>
                <a:noFill/>
              </a:ln>
              <a:solidFill>
                <a:schemeClr val="tx1"/>
              </a:solidFill>
              <a:effectLst/>
              <a:uLnTx/>
              <a:uFillTx/>
              <a:latin typeface="+mn-lt"/>
              <a:ea typeface="+mn-ea"/>
              <a:cs typeface="+mn-cs"/>
            </a:endParaRPr>
          </a:p>
          <a:p>
            <a:pPr marL="285750" marR="0" lvl="0" indent="-285750" algn="l" defTabSz="914400" rtl="0" eaLnBrk="0" fontAlgn="base" latinLnBrk="0" hangingPunct="0">
              <a:lnSpc>
                <a:spcPct val="110000"/>
              </a:lnSpc>
              <a:spcBef>
                <a:spcPct val="0"/>
              </a:spcBef>
              <a:spcAft>
                <a:spcPct val="0"/>
              </a:spcAft>
              <a:buClrTx/>
              <a:buSzPct val="100000"/>
              <a:buFontTx/>
              <a:buNone/>
              <a:defRPr/>
            </a:pPr>
            <a:endParaRPr kumimoji="0" lang="en-US" sz="2800" b="0" i="0" u="none" strike="noStrike" kern="0" cap="none" spc="0" normalizeH="0" baseline="0" noProof="0" dirty="0" smtClean="0">
              <a:ln>
                <a:noFill/>
              </a:ln>
              <a:solidFill>
                <a:schemeClr val="tx1"/>
              </a:solidFill>
              <a:effectLst/>
              <a:uLnTx/>
              <a:uFillTx/>
              <a:latin typeface="+mn-lt"/>
              <a:ea typeface="+mn-ea"/>
              <a:cs typeface="+mn-cs"/>
            </a:endParaRPr>
          </a:p>
          <a:p>
            <a:pPr marL="285750" marR="0" lvl="0" indent="-285750" algn="l" defTabSz="914400" rtl="0" eaLnBrk="0" fontAlgn="base" latinLnBrk="0" hangingPunct="0">
              <a:lnSpc>
                <a:spcPct val="110000"/>
              </a:lnSpc>
              <a:spcBef>
                <a:spcPct val="0"/>
              </a:spcBef>
              <a:spcAft>
                <a:spcPct val="0"/>
              </a:spcAft>
              <a:buClrTx/>
              <a:buSzPct val="100000"/>
              <a:buFontTx/>
              <a:buNone/>
              <a:defRPr/>
            </a:pPr>
            <a:r>
              <a:rPr kumimoji="0" lang="en-US" sz="2800" b="0" i="0" u="none" strike="noStrike" kern="0" cap="none" spc="0" normalizeH="0" baseline="0" noProof="0" dirty="0" smtClean="0">
                <a:ln>
                  <a:noFill/>
                </a:ln>
                <a:solidFill>
                  <a:schemeClr val="tx1"/>
                </a:solidFill>
                <a:effectLst/>
                <a:uLnTx/>
                <a:uFillTx/>
                <a:latin typeface="+mn-lt"/>
                <a:ea typeface="+mn-ea"/>
                <a:cs typeface="+mn-cs"/>
              </a:rPr>
              <a:t>It follows that: </a:t>
            </a:r>
            <a:endParaRPr kumimoji="0" lang="en-US" sz="2800" b="0" i="0" u="none" strike="noStrike" kern="0" cap="none" spc="0" normalizeH="0" baseline="0" noProof="0" dirty="0" smtClean="0">
              <a:ln>
                <a:noFill/>
              </a:ln>
              <a:solidFill>
                <a:schemeClr val="tx1"/>
              </a:solidFill>
              <a:effectLst/>
              <a:uLnTx/>
              <a:uFillTx/>
              <a:latin typeface="+mn-lt"/>
              <a:ea typeface="+mn-ea"/>
              <a:cs typeface="+mn-cs"/>
            </a:endParaRPr>
          </a:p>
        </p:txBody>
      </p:sp>
      <p:graphicFrame>
        <p:nvGraphicFramePr>
          <p:cNvPr id="5122" name="Object 2"/>
          <p:cNvGraphicFramePr>
            <a:graphicFrameLocks noChangeAspect="1"/>
          </p:cNvGraphicFramePr>
          <p:nvPr/>
        </p:nvGraphicFramePr>
        <p:xfrm>
          <a:off x="3471863" y="3124200"/>
          <a:ext cx="5386387" cy="1981200"/>
        </p:xfrm>
        <a:graphic>
          <a:graphicData uri="http://schemas.openxmlformats.org/presentationml/2006/ole">
            <mc:AlternateContent xmlns:mc="http://schemas.openxmlformats.org/markup-compatibility/2006">
              <mc:Choice xmlns:v="urn:schemas-microsoft-com:vml" Requires="v">
                <p:oleObj spid="_x0000_s3079" name="" r:id="rId1" imgW="2208530" imgH="812165" progId="Equation.DSMT4">
                  <p:embed/>
                </p:oleObj>
              </mc:Choice>
              <mc:Fallback>
                <p:oleObj name="" r:id="rId1" imgW="2208530" imgH="812165" progId="Equation.DSMT4">
                  <p:embed/>
                  <p:pic>
                    <p:nvPicPr>
                      <p:cNvPr id="0" name="Picture 3078"/>
                      <p:cNvPicPr/>
                      <p:nvPr/>
                    </p:nvPicPr>
                    <p:blipFill>
                      <a:blip r:embed="rId2"/>
                      <a:stretch>
                        <a:fillRect/>
                      </a:stretch>
                    </p:blipFill>
                    <p:spPr>
                      <a:xfrm>
                        <a:off x="3471863" y="3124200"/>
                        <a:ext cx="5386387" cy="1981200"/>
                      </a:xfrm>
                      <a:prstGeom prst="rect">
                        <a:avLst/>
                      </a:prstGeom>
                      <a:noFill/>
                      <a:ln w="38100">
                        <a:noFill/>
                        <a:miter/>
                      </a:ln>
                    </p:spPr>
                  </p:pic>
                </p:oleObj>
              </mc:Fallback>
            </mc:AlternateContent>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idx="4294967295"/>
          </p:nvPr>
        </p:nvSpPr>
        <p:spPr>
          <a:xfrm>
            <a:off x="2409825" y="304800"/>
            <a:ext cx="7296150" cy="762000"/>
          </a:xfrm>
          <a:prstGeom prst="rect">
            <a:avLst/>
          </a:prstGeom>
          <a:noFill/>
          <a:ln w="9525">
            <a:noFill/>
          </a:ln>
        </p:spPr>
        <p:txBody>
          <a:bodyPr lIns="90488" tIns="44450" rIns="90488" bIns="44450"/>
          <a:p>
            <a:r>
              <a:rPr dirty="0"/>
              <a:t>Rounding Off Probabilities</a:t>
            </a:r>
            <a:endParaRPr dirty="0"/>
          </a:p>
        </p:txBody>
      </p:sp>
      <p:sp>
        <p:nvSpPr>
          <p:cNvPr id="20483" name="Text Box 4"/>
          <p:cNvSpPr txBox="1"/>
          <p:nvPr/>
        </p:nvSpPr>
        <p:spPr>
          <a:xfrm>
            <a:off x="1981200" y="1600200"/>
            <a:ext cx="8153400" cy="368300"/>
          </a:xfrm>
          <a:prstGeom prst="rect">
            <a:avLst/>
          </a:prstGeom>
          <a:noFill/>
          <a:ln w="12700">
            <a:noFill/>
          </a:ln>
        </p:spPr>
        <p:txBody>
          <a:bodyPr>
            <a:spAutoFit/>
          </a:bodyPr>
          <a:p>
            <a:pPr>
              <a:spcBef>
                <a:spcPct val="50000"/>
              </a:spcBef>
            </a:pPr>
            <a:endParaRPr dirty="0">
              <a:latin typeface="Arial" panose="020B0604020202020204" pitchFamily="34" charset="0"/>
            </a:endParaRPr>
          </a:p>
        </p:txBody>
      </p:sp>
      <p:sp>
        <p:nvSpPr>
          <p:cNvPr id="20484" name="Text Box 5"/>
          <p:cNvSpPr txBox="1"/>
          <p:nvPr/>
        </p:nvSpPr>
        <p:spPr>
          <a:xfrm>
            <a:off x="2057400" y="1782763"/>
            <a:ext cx="8305800" cy="3538220"/>
          </a:xfrm>
          <a:prstGeom prst="rect">
            <a:avLst/>
          </a:prstGeom>
          <a:noFill/>
          <a:ln w="12700">
            <a:noFill/>
          </a:ln>
        </p:spPr>
        <p:txBody>
          <a:bodyPr>
            <a:spAutoFit/>
          </a:bodyPr>
          <a:p>
            <a:pPr>
              <a:lnSpc>
                <a:spcPct val="100000"/>
              </a:lnSpc>
              <a:spcBef>
                <a:spcPct val="50000"/>
              </a:spcBef>
            </a:pPr>
            <a:r>
              <a:rPr sz="2800" b="0" dirty="0">
                <a:latin typeface="Arial" panose="020B0604020202020204" pitchFamily="34" charset="0"/>
              </a:rPr>
              <a:t>When expressing the value of a probability, either give the </a:t>
            </a:r>
            <a:r>
              <a:rPr sz="2800" b="0" dirty="0">
                <a:solidFill>
                  <a:schemeClr val="hlink"/>
                </a:solidFill>
                <a:latin typeface="Arial" panose="020B0604020202020204" pitchFamily="34" charset="0"/>
              </a:rPr>
              <a:t>exact</a:t>
            </a:r>
            <a:r>
              <a:rPr sz="2800" b="0" dirty="0">
                <a:latin typeface="Arial" panose="020B0604020202020204" pitchFamily="34" charset="0"/>
              </a:rPr>
              <a:t> fraction or decimal or round off final decimal results to </a:t>
            </a:r>
            <a:r>
              <a:rPr sz="2800" b="0" dirty="0">
                <a:solidFill>
                  <a:schemeClr val="accent1"/>
                </a:solidFill>
                <a:latin typeface="Arial" panose="020B0604020202020204" pitchFamily="34" charset="0"/>
              </a:rPr>
              <a:t>three significant digits</a:t>
            </a:r>
            <a:r>
              <a:rPr sz="2800" b="0" dirty="0">
                <a:latin typeface="Arial" panose="020B0604020202020204" pitchFamily="34" charset="0"/>
              </a:rPr>
              <a:t>.  (</a:t>
            </a:r>
            <a:r>
              <a:rPr sz="2800" b="0" i="1" dirty="0">
                <a:latin typeface="Arial" panose="020B0604020202020204" pitchFamily="34" charset="0"/>
              </a:rPr>
              <a:t>Suggestion</a:t>
            </a:r>
            <a:r>
              <a:rPr sz="2800" b="0" dirty="0">
                <a:latin typeface="Arial" panose="020B0604020202020204" pitchFamily="34" charset="0"/>
              </a:rPr>
              <a:t>:  When a probability is not a simple fraction such as 2/3 or 5/9, express it as a decimal so that the number can be better understood.) All digits are significant except for the zeros that are included for proper placement of the decimal point.</a:t>
            </a:r>
            <a:endParaRPr sz="2800" b="0" dirty="0">
              <a:latin typeface="Arial" panose="020B0604020202020204" pitchFamily="34"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02335" y="900430"/>
            <a:ext cx="10323195" cy="5513705"/>
          </a:xfrm>
          <a:prstGeom prst="rect">
            <a:avLst/>
          </a:prstGeom>
        </p:spPr>
        <p:txBody>
          <a:bodyPr wrap="square">
            <a:noAutofit/>
          </a:bodyPr>
          <a:p>
            <a:pPr indent="0" algn="just" fontAlgn="auto">
              <a:spcAft>
                <a:spcPts val="600"/>
              </a:spcAft>
            </a:pPr>
            <a:r>
              <a:rPr lang="en-US" sz="2400">
                <a:solidFill>
                  <a:srgbClr val="231F20"/>
                </a:solidFill>
                <a:latin typeface="Arial" panose="020B0604020202020204" pitchFamily="34" charset="0"/>
                <a:ea typeface="AGaramond"/>
                <a:cs typeface="Arial" panose="020B0604020202020204" pitchFamily="34" charset="0"/>
              </a:rPr>
              <a:t>Example:</a:t>
            </a:r>
            <a:endParaRPr sz="2400">
              <a:solidFill>
                <a:srgbClr val="231F20"/>
              </a:solidFill>
              <a:latin typeface="Arial" panose="020B0604020202020204" pitchFamily="34" charset="0"/>
              <a:ea typeface="AGaramond"/>
              <a:cs typeface="Arial" panose="020B0604020202020204" pitchFamily="34" charset="0"/>
            </a:endParaRPr>
          </a:p>
          <a:p>
            <a:pPr indent="0" algn="just" fontAlgn="auto">
              <a:spcAft>
                <a:spcPts val="600"/>
              </a:spcAft>
            </a:pPr>
            <a:r>
              <a:rPr lang="en-US" sz="2400">
                <a:solidFill>
                  <a:srgbClr val="231F20"/>
                </a:solidFill>
                <a:latin typeface="Arial" panose="020B0604020202020204" pitchFamily="34" charset="0"/>
                <a:ea typeface="AGaramond"/>
                <a:cs typeface="Arial" panose="020B0604020202020204" pitchFamily="34" charset="0"/>
              </a:rPr>
              <a:t>* </a:t>
            </a:r>
            <a:r>
              <a:rPr sz="2400">
                <a:solidFill>
                  <a:srgbClr val="231F20"/>
                </a:solidFill>
                <a:latin typeface="Arial" panose="020B0604020202020204" pitchFamily="34" charset="0"/>
                <a:ea typeface="AGaramond"/>
                <a:cs typeface="Arial" panose="020B0604020202020204" pitchFamily="34" charset="0"/>
              </a:rPr>
              <a:t>The probability of 0.04799219 has seven significant digits </a:t>
            </a:r>
            <a:r>
              <a:rPr lang="en-US" sz="2400">
                <a:solidFill>
                  <a:srgbClr val="231F20"/>
                </a:solidFill>
                <a:latin typeface="Arial" panose="020B0604020202020204" pitchFamily="34" charset="0"/>
                <a:ea typeface="AGaramond"/>
                <a:cs typeface="Arial" panose="020B0604020202020204" pitchFamily="34" charset="0"/>
              </a:rPr>
              <a:t>(</a:t>
            </a:r>
            <a:r>
              <a:rPr sz="2400">
                <a:solidFill>
                  <a:srgbClr val="231F20"/>
                </a:solidFill>
                <a:latin typeface="Arial" panose="020B0604020202020204" pitchFamily="34" charset="0"/>
                <a:ea typeface="AGaramond"/>
                <a:cs typeface="Arial" panose="020B0604020202020204" pitchFamily="34" charset="0"/>
              </a:rPr>
              <a:t>4799219), and it can be rounded to three significant digits as 0.0480. (The zero to the immediate right of the decimal point is </a:t>
            </a:r>
            <a:r>
              <a:rPr sz="2400" i="1">
                <a:solidFill>
                  <a:srgbClr val="231F20"/>
                </a:solidFill>
                <a:latin typeface="Arial" panose="020B0604020202020204" pitchFamily="34" charset="0"/>
                <a:ea typeface="AGaramond-Italic"/>
                <a:cs typeface="Arial" panose="020B0604020202020204" pitchFamily="34" charset="0"/>
              </a:rPr>
              <a:t>not </a:t>
            </a:r>
            <a:r>
              <a:rPr sz="2400">
                <a:solidFill>
                  <a:srgbClr val="231F20"/>
                </a:solidFill>
                <a:latin typeface="Arial" panose="020B0604020202020204" pitchFamily="34" charset="0"/>
                <a:ea typeface="AGaramond"/>
                <a:cs typeface="Arial" panose="020B0604020202020204" pitchFamily="34" charset="0"/>
              </a:rPr>
              <a:t>significant because it is necessary for correct placement of the decimal point, but the zero at the ex</a:t>
            </a:r>
            <a:endParaRPr sz="2400">
              <a:solidFill>
                <a:srgbClr val="231F20"/>
              </a:solidFill>
              <a:latin typeface="Arial" panose="020B0604020202020204" pitchFamily="34" charset="0"/>
              <a:ea typeface="AGaramond"/>
              <a:cs typeface="Arial" panose="020B0604020202020204" pitchFamily="34" charset="0"/>
            </a:endParaRPr>
          </a:p>
          <a:p>
            <a:pPr indent="0" algn="just" fontAlgn="auto">
              <a:spcAft>
                <a:spcPts val="600"/>
              </a:spcAft>
            </a:pPr>
            <a:r>
              <a:rPr sz="2400">
                <a:solidFill>
                  <a:srgbClr val="231F20"/>
                </a:solidFill>
                <a:latin typeface="Arial" panose="020B0604020202020204" pitchFamily="34" charset="0"/>
                <a:ea typeface="AGaramond"/>
                <a:cs typeface="Arial" panose="020B0604020202020204" pitchFamily="34" charset="0"/>
              </a:rPr>
              <a:t>treme right is significant because it is not necessary for correct placement of the decimal point.) </a:t>
            </a:r>
            <a:endParaRPr sz="2400">
              <a:solidFill>
                <a:srgbClr val="231F20"/>
              </a:solidFill>
              <a:latin typeface="Arial" panose="020B0604020202020204" pitchFamily="34" charset="0"/>
              <a:ea typeface="AGaramond"/>
              <a:cs typeface="Arial" panose="020B0604020202020204" pitchFamily="34" charset="0"/>
            </a:endParaRPr>
          </a:p>
          <a:p>
            <a:pPr indent="0" algn="just" fontAlgn="auto">
              <a:spcAft>
                <a:spcPts val="600"/>
              </a:spcAft>
            </a:pPr>
            <a:r>
              <a:rPr sz="2400" b="1">
                <a:solidFill>
                  <a:srgbClr val="0053A5"/>
                </a:solidFill>
                <a:latin typeface="Arial" panose="020B0604020202020204" pitchFamily="34" charset="0"/>
                <a:ea typeface="Gotham-Bold"/>
                <a:cs typeface="Arial" panose="020B0604020202020204" pitchFamily="34" charset="0"/>
              </a:rPr>
              <a:t>• </a:t>
            </a:r>
            <a:r>
              <a:rPr sz="2400">
                <a:solidFill>
                  <a:srgbClr val="231F20"/>
                </a:solidFill>
                <a:latin typeface="Arial" panose="020B0604020202020204" pitchFamily="34" charset="0"/>
                <a:ea typeface="AGaramond"/>
                <a:cs typeface="Arial" panose="020B0604020202020204" pitchFamily="34" charset="0"/>
              </a:rPr>
              <a:t>The probability of </a:t>
            </a:r>
            <a:r>
              <a:rPr lang="en-US" sz="2400">
                <a:solidFill>
                  <a:srgbClr val="231F20"/>
                </a:solidFill>
                <a:latin typeface="Arial" panose="020B0604020202020204" pitchFamily="34" charset="0"/>
                <a:ea typeface="AGaramond"/>
                <a:cs typeface="Arial" panose="020B0604020202020204" pitchFamily="34" charset="0"/>
              </a:rPr>
              <a:t>1/3 </a:t>
            </a:r>
            <a:r>
              <a:rPr sz="2400">
                <a:solidFill>
                  <a:srgbClr val="231F20"/>
                </a:solidFill>
                <a:latin typeface="Arial" panose="020B0604020202020204" pitchFamily="34" charset="0"/>
                <a:ea typeface="AGaramond"/>
                <a:cs typeface="Arial" panose="020B0604020202020204" pitchFamily="34" charset="0"/>
              </a:rPr>
              <a:t>can be left as a fraction, or rounded to 0.333. (Do </a:t>
            </a:r>
            <a:r>
              <a:rPr sz="2400" i="1">
                <a:solidFill>
                  <a:srgbClr val="231F20"/>
                </a:solidFill>
                <a:latin typeface="Arial" panose="020B0604020202020204" pitchFamily="34" charset="0"/>
                <a:ea typeface="AGaramond-Italic"/>
                <a:cs typeface="Arial" panose="020B0604020202020204" pitchFamily="34" charset="0"/>
              </a:rPr>
              <a:t>not </a:t>
            </a:r>
            <a:r>
              <a:rPr sz="2400">
                <a:solidFill>
                  <a:srgbClr val="231F20"/>
                </a:solidFill>
                <a:latin typeface="Arial" panose="020B0604020202020204" pitchFamily="34" charset="0"/>
                <a:ea typeface="AGaramond"/>
                <a:cs typeface="Arial" panose="020B0604020202020204" pitchFamily="34" charset="0"/>
              </a:rPr>
              <a:t>round to 0.3.) </a:t>
            </a:r>
            <a:endParaRPr sz="2400">
              <a:solidFill>
                <a:srgbClr val="231F20"/>
              </a:solidFill>
              <a:latin typeface="Arial" panose="020B0604020202020204" pitchFamily="34" charset="0"/>
              <a:ea typeface="AGaramond"/>
              <a:cs typeface="Arial" panose="020B0604020202020204" pitchFamily="34" charset="0"/>
            </a:endParaRPr>
          </a:p>
          <a:p>
            <a:pPr indent="0" algn="just" fontAlgn="auto">
              <a:spcAft>
                <a:spcPts val="600"/>
              </a:spcAft>
            </a:pPr>
            <a:r>
              <a:rPr sz="2400" b="1">
                <a:solidFill>
                  <a:srgbClr val="0053A5"/>
                </a:solidFill>
                <a:latin typeface="Arial" panose="020B0604020202020204" pitchFamily="34" charset="0"/>
                <a:ea typeface="Gotham-Bold"/>
                <a:cs typeface="Arial" panose="020B0604020202020204" pitchFamily="34" charset="0"/>
              </a:rPr>
              <a:t>• </a:t>
            </a:r>
            <a:r>
              <a:rPr sz="2400">
                <a:solidFill>
                  <a:srgbClr val="231F20"/>
                </a:solidFill>
                <a:latin typeface="Arial" panose="020B0604020202020204" pitchFamily="34" charset="0"/>
                <a:ea typeface="AGaramond"/>
                <a:cs typeface="Arial" panose="020B0604020202020204" pitchFamily="34" charset="0"/>
              </a:rPr>
              <a:t>The probability of </a:t>
            </a:r>
            <a:r>
              <a:rPr lang="en-US" sz="2400">
                <a:solidFill>
                  <a:srgbClr val="231F20"/>
                </a:solidFill>
                <a:latin typeface="Arial" panose="020B0604020202020204" pitchFamily="34" charset="0"/>
                <a:ea typeface="AGaramond"/>
                <a:cs typeface="Arial" panose="020B0604020202020204" pitchFamily="34" charset="0"/>
              </a:rPr>
              <a:t>2/4 </a:t>
            </a:r>
            <a:r>
              <a:rPr sz="2400">
                <a:solidFill>
                  <a:srgbClr val="231F20"/>
                </a:solidFill>
                <a:latin typeface="Arial" panose="020B0604020202020204" pitchFamily="34" charset="0"/>
                <a:ea typeface="AGaramond"/>
                <a:cs typeface="Arial" panose="020B0604020202020204" pitchFamily="34" charset="0"/>
              </a:rPr>
              <a:t>can be expressed as or 0.5; because 0.5 is exact, there’s no need to express it with three significant digits as 0.500. </a:t>
            </a:r>
            <a:endParaRPr sz="2400">
              <a:solidFill>
                <a:srgbClr val="231F20"/>
              </a:solidFill>
              <a:latin typeface="Arial" panose="020B0604020202020204" pitchFamily="34" charset="0"/>
              <a:ea typeface="AGaramond"/>
              <a:cs typeface="Arial" panose="020B0604020202020204" pitchFamily="34" charset="0"/>
            </a:endParaRPr>
          </a:p>
          <a:p>
            <a:pPr indent="0" algn="just" fontAlgn="auto">
              <a:spcAft>
                <a:spcPts val="600"/>
              </a:spcAft>
            </a:pPr>
            <a:r>
              <a:rPr sz="2400" b="1">
                <a:solidFill>
                  <a:srgbClr val="0053A5"/>
                </a:solidFill>
                <a:latin typeface="Arial" panose="020B0604020202020204" pitchFamily="34" charset="0"/>
                <a:ea typeface="Gotham-Bold"/>
                <a:cs typeface="Arial" panose="020B0604020202020204" pitchFamily="34" charset="0"/>
              </a:rPr>
              <a:t>• </a:t>
            </a:r>
            <a:r>
              <a:rPr sz="2400">
                <a:solidFill>
                  <a:srgbClr val="231F20"/>
                </a:solidFill>
                <a:latin typeface="Arial" panose="020B0604020202020204" pitchFamily="34" charset="0"/>
                <a:ea typeface="AGaramond"/>
                <a:cs typeface="Arial" panose="020B0604020202020204" pitchFamily="34" charset="0"/>
              </a:rPr>
              <a:t>The fraction </a:t>
            </a:r>
            <a:r>
              <a:rPr lang="en-US" altLang="en-US" sz="2400">
                <a:solidFill>
                  <a:srgbClr val="231F20"/>
                </a:solidFill>
                <a:latin typeface="Arial" panose="020B0604020202020204" pitchFamily="34" charset="0"/>
                <a:ea typeface="AGaramond"/>
                <a:cs typeface="Arial" panose="020B0604020202020204" pitchFamily="34" charset="0"/>
              </a:rPr>
              <a:t>1941/3405</a:t>
            </a:r>
            <a:r>
              <a:rPr sz="2400">
                <a:solidFill>
                  <a:srgbClr val="231F20"/>
                </a:solidFill>
                <a:latin typeface="Arial" panose="020B0604020202020204" pitchFamily="34" charset="0"/>
                <a:ea typeface="AGaramond"/>
                <a:cs typeface="Arial" panose="020B0604020202020204" pitchFamily="34" charset="0"/>
              </a:rPr>
              <a:t> is exact, but its value isn’t obvious, so express it as the decimal 0.570.</a:t>
            </a:r>
            <a:endParaRPr sz="2400">
              <a:solidFill>
                <a:srgbClr val="231F20"/>
              </a:solidFill>
              <a:latin typeface="Arial" panose="020B0604020202020204" pitchFamily="34" charset="0"/>
              <a:ea typeface="AGaramond"/>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p:nvPr/>
        </p:nvSpPr>
        <p:spPr>
          <a:xfrm>
            <a:off x="1898650" y="100013"/>
            <a:ext cx="8074025" cy="1783080"/>
          </a:xfrm>
          <a:prstGeom prst="rect">
            <a:avLst/>
          </a:prstGeom>
          <a:noFill/>
          <a:ln w="12700">
            <a:noFill/>
          </a:ln>
        </p:spPr>
        <p:txBody>
          <a:bodyPr lIns="90488" tIns="44450" rIns="90488" bIns="44450">
            <a:spAutoFit/>
          </a:bodyPr>
          <a:p>
            <a:endParaRPr sz="6000" dirty="0">
              <a:solidFill>
                <a:srgbClr val="00279F"/>
              </a:solidFill>
              <a:latin typeface="Arial" panose="020B0604020202020204" pitchFamily="34" charset="0"/>
            </a:endParaRPr>
          </a:p>
          <a:p>
            <a:pPr>
              <a:spcBef>
                <a:spcPct val="14000"/>
              </a:spcBef>
            </a:pPr>
            <a:r>
              <a:rPr sz="4400" b="0" dirty="0">
                <a:solidFill>
                  <a:schemeClr val="hlink"/>
                </a:solidFill>
                <a:latin typeface="Arial" panose="020B0604020202020204" pitchFamily="34" charset="0"/>
              </a:rPr>
              <a:t>     </a:t>
            </a:r>
            <a:endParaRPr sz="4800" dirty="0">
              <a:solidFill>
                <a:schemeClr val="hlink"/>
              </a:solidFill>
              <a:latin typeface="Arial" panose="020B0604020202020204" pitchFamily="34" charset="0"/>
            </a:endParaRPr>
          </a:p>
        </p:txBody>
      </p:sp>
      <p:sp>
        <p:nvSpPr>
          <p:cNvPr id="21507" name="Rectangle 3"/>
          <p:cNvSpPr>
            <a:spLocks noGrp="1"/>
          </p:cNvSpPr>
          <p:nvPr>
            <p:ph type="title" idx="4294967295"/>
          </p:nvPr>
        </p:nvSpPr>
        <p:spPr>
          <a:xfrm>
            <a:off x="2057400" y="1079500"/>
            <a:ext cx="8001000" cy="762000"/>
          </a:xfrm>
          <a:prstGeom prst="rect">
            <a:avLst/>
          </a:prstGeom>
          <a:noFill/>
          <a:ln w="9525">
            <a:noFill/>
          </a:ln>
        </p:spPr>
        <p:txBody>
          <a:bodyPr lIns="90488" tIns="44450" rIns="90488" bIns="44450"/>
          <a:p>
            <a:r>
              <a:rPr dirty="0"/>
              <a:t>Definition</a:t>
            </a:r>
            <a:endParaRPr dirty="0"/>
          </a:p>
        </p:txBody>
      </p:sp>
      <p:sp>
        <p:nvSpPr>
          <p:cNvPr id="21508" name="Text Box 5"/>
          <p:cNvSpPr txBox="1"/>
          <p:nvPr/>
        </p:nvSpPr>
        <p:spPr>
          <a:xfrm>
            <a:off x="2133600" y="2317750"/>
            <a:ext cx="8305800" cy="2891790"/>
          </a:xfrm>
          <a:prstGeom prst="rect">
            <a:avLst/>
          </a:prstGeom>
          <a:noFill/>
          <a:ln w="12700">
            <a:noFill/>
          </a:ln>
        </p:spPr>
        <p:txBody>
          <a:bodyPr>
            <a:spAutoFit/>
          </a:bodyPr>
          <a:p>
            <a:pPr>
              <a:lnSpc>
                <a:spcPct val="100000"/>
              </a:lnSpc>
              <a:spcBef>
                <a:spcPct val="50000"/>
              </a:spcBef>
            </a:pPr>
            <a:r>
              <a:rPr sz="2800" b="0" dirty="0">
                <a:latin typeface="Arial" panose="020B0604020202020204" pitchFamily="34" charset="0"/>
              </a:rPr>
              <a:t>An event is </a:t>
            </a:r>
            <a:r>
              <a:rPr sz="2800" dirty="0">
                <a:solidFill>
                  <a:srgbClr val="FF0000"/>
                </a:solidFill>
                <a:latin typeface="Arial" panose="020B0604020202020204" pitchFamily="34" charset="0"/>
              </a:rPr>
              <a:t>unlikely</a:t>
            </a:r>
            <a:r>
              <a:rPr sz="2800" b="0" dirty="0">
                <a:latin typeface="Arial" panose="020B0604020202020204" pitchFamily="34" charset="0"/>
              </a:rPr>
              <a:t> if its probability is very small, such as 0.05 or less.</a:t>
            </a:r>
            <a:endParaRPr sz="2800" b="0" dirty="0">
              <a:latin typeface="Arial" panose="020B0604020202020204" pitchFamily="34" charset="0"/>
            </a:endParaRPr>
          </a:p>
          <a:p>
            <a:pPr>
              <a:lnSpc>
                <a:spcPct val="100000"/>
              </a:lnSpc>
              <a:spcBef>
                <a:spcPct val="50000"/>
              </a:spcBef>
            </a:pPr>
            <a:r>
              <a:rPr sz="2800" b="0" dirty="0">
                <a:latin typeface="Arial" panose="020B0604020202020204" pitchFamily="34" charset="0"/>
              </a:rPr>
              <a:t>An event has an </a:t>
            </a:r>
            <a:r>
              <a:rPr sz="2800" dirty="0">
                <a:solidFill>
                  <a:srgbClr val="FF0000"/>
                </a:solidFill>
                <a:latin typeface="Arial" panose="020B0604020202020204" pitchFamily="34" charset="0"/>
              </a:rPr>
              <a:t>usually low number </a:t>
            </a:r>
            <a:r>
              <a:rPr sz="2800" b="0" dirty="0">
                <a:latin typeface="Arial" panose="020B0604020202020204" pitchFamily="34" charset="0"/>
              </a:rPr>
              <a:t>of outcomes of a particular type or an </a:t>
            </a:r>
            <a:r>
              <a:rPr sz="2800" dirty="0">
                <a:solidFill>
                  <a:srgbClr val="FF0000"/>
                </a:solidFill>
                <a:latin typeface="Arial" panose="020B0604020202020204" pitchFamily="34" charset="0"/>
              </a:rPr>
              <a:t>unusually high number </a:t>
            </a:r>
            <a:r>
              <a:rPr sz="2800" b="0" dirty="0">
                <a:latin typeface="Arial" panose="020B0604020202020204" pitchFamily="34" charset="0"/>
              </a:rPr>
              <a:t>of those outcomes if that number is far from what we typically expect.</a:t>
            </a:r>
            <a:endParaRPr sz="2800" b="0" dirty="0">
              <a:latin typeface="Arial" panose="020B0604020202020204" pitchFamily="34"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Rectangle 9"/>
          <p:cNvSpPr/>
          <p:nvPr/>
        </p:nvSpPr>
        <p:spPr>
          <a:xfrm>
            <a:off x="2092325" y="2789238"/>
            <a:ext cx="8077200" cy="1565910"/>
          </a:xfrm>
          <a:prstGeom prst="rect">
            <a:avLst/>
          </a:prstGeom>
          <a:noFill/>
          <a:ln w="12700">
            <a:noFill/>
          </a:ln>
        </p:spPr>
        <p:txBody>
          <a:bodyPr lIns="90488" tIns="44450" rIns="90488" bIns="44450">
            <a:spAutoFit/>
          </a:bodyPr>
          <a:p>
            <a:pPr>
              <a:lnSpc>
                <a:spcPct val="100000"/>
              </a:lnSpc>
              <a:buClr>
                <a:schemeClr val="accent2"/>
              </a:buClr>
              <a:buFont typeface="Wingdings" panose="05000000000000000000" pitchFamily="2" charset="2"/>
            </a:pPr>
            <a:r>
              <a:rPr sz="2400" b="0" dirty="0">
                <a:solidFill>
                  <a:schemeClr val="hlink"/>
                </a:solidFill>
                <a:latin typeface="Arial" panose="020B0604020202020204" pitchFamily="34" charset="0"/>
              </a:rPr>
              <a:t>The actual odds in favor </a:t>
            </a:r>
            <a:r>
              <a:rPr sz="2400" b="0" dirty="0">
                <a:latin typeface="Arial" panose="020B0604020202020204" pitchFamily="34" charset="0"/>
              </a:rPr>
              <a:t>of</a:t>
            </a:r>
            <a:r>
              <a:rPr sz="2400" b="0" dirty="0">
                <a:solidFill>
                  <a:schemeClr val="hlink"/>
                </a:solidFill>
                <a:latin typeface="Arial" panose="020B0604020202020204" pitchFamily="34" charset="0"/>
              </a:rPr>
              <a:t> </a:t>
            </a:r>
            <a:r>
              <a:rPr sz="2400" b="0" dirty="0">
                <a:latin typeface="Arial" panose="020B0604020202020204" pitchFamily="34" charset="0"/>
              </a:rPr>
              <a:t>event </a:t>
            </a:r>
            <a:r>
              <a:rPr sz="2400" b="0" i="1" dirty="0">
                <a:latin typeface="Arial" panose="020B0604020202020204" pitchFamily="34" charset="0"/>
              </a:rPr>
              <a:t>A</a:t>
            </a:r>
            <a:r>
              <a:rPr sz="2400" b="0" dirty="0">
                <a:latin typeface="Arial" panose="020B0604020202020204" pitchFamily="34" charset="0"/>
              </a:rPr>
              <a:t> occurring are the ratio </a:t>
            </a:r>
            <a:r>
              <a:rPr sz="2400" b="0" i="1" dirty="0">
                <a:latin typeface="Arial" panose="020B0604020202020204" pitchFamily="34" charset="0"/>
              </a:rPr>
              <a:t>                                                         	        , </a:t>
            </a:r>
            <a:r>
              <a:rPr sz="2400" b="0" dirty="0">
                <a:latin typeface="Arial" panose="020B0604020202020204" pitchFamily="34" charset="0"/>
              </a:rPr>
              <a:t>which is the reciprocal of the actual odds against the event.  If the odds against </a:t>
            </a:r>
            <a:r>
              <a:rPr sz="2400" b="0" i="1" dirty="0">
                <a:latin typeface="Arial" panose="020B0604020202020204" pitchFamily="34" charset="0"/>
              </a:rPr>
              <a:t>A</a:t>
            </a:r>
            <a:r>
              <a:rPr sz="2400" b="0" dirty="0">
                <a:latin typeface="Arial" panose="020B0604020202020204" pitchFamily="34" charset="0"/>
              </a:rPr>
              <a:t> are </a:t>
            </a:r>
            <a:r>
              <a:rPr sz="2400" b="0" i="1" dirty="0">
                <a:solidFill>
                  <a:schemeClr val="hlink"/>
                </a:solidFill>
                <a:latin typeface="Arial" panose="020B0604020202020204" pitchFamily="34" charset="0"/>
              </a:rPr>
              <a:t>a</a:t>
            </a:r>
            <a:r>
              <a:rPr sz="2400" b="0" dirty="0">
                <a:solidFill>
                  <a:schemeClr val="hlink"/>
                </a:solidFill>
                <a:latin typeface="Arial" panose="020B0604020202020204" pitchFamily="34" charset="0"/>
              </a:rPr>
              <a:t>:</a:t>
            </a:r>
            <a:r>
              <a:rPr sz="2400" b="0" i="1" dirty="0">
                <a:solidFill>
                  <a:schemeClr val="hlink"/>
                </a:solidFill>
                <a:latin typeface="Arial" panose="020B0604020202020204" pitchFamily="34" charset="0"/>
              </a:rPr>
              <a:t>b</a:t>
            </a:r>
            <a:r>
              <a:rPr sz="2400" b="0" dirty="0">
                <a:latin typeface="Arial" panose="020B0604020202020204" pitchFamily="34" charset="0"/>
              </a:rPr>
              <a:t>, then the odds in favor of </a:t>
            </a:r>
            <a:r>
              <a:rPr sz="2400" b="0" i="1" dirty="0">
                <a:latin typeface="Arial" panose="020B0604020202020204" pitchFamily="34" charset="0"/>
              </a:rPr>
              <a:t>A</a:t>
            </a:r>
            <a:r>
              <a:rPr sz="2400" b="0" dirty="0">
                <a:latin typeface="Arial" panose="020B0604020202020204" pitchFamily="34" charset="0"/>
              </a:rPr>
              <a:t> are </a:t>
            </a:r>
            <a:r>
              <a:rPr sz="2400" b="0" i="1" dirty="0">
                <a:solidFill>
                  <a:schemeClr val="hlink"/>
                </a:solidFill>
                <a:latin typeface="Arial" panose="020B0604020202020204" pitchFamily="34" charset="0"/>
              </a:rPr>
              <a:t>b</a:t>
            </a:r>
            <a:r>
              <a:rPr sz="2400" b="0" dirty="0">
                <a:solidFill>
                  <a:schemeClr val="hlink"/>
                </a:solidFill>
                <a:latin typeface="Arial" panose="020B0604020202020204" pitchFamily="34" charset="0"/>
              </a:rPr>
              <a:t>:</a:t>
            </a:r>
            <a:r>
              <a:rPr sz="2400" b="0" i="1" dirty="0">
                <a:solidFill>
                  <a:schemeClr val="hlink"/>
                </a:solidFill>
                <a:latin typeface="Arial" panose="020B0604020202020204" pitchFamily="34" charset="0"/>
              </a:rPr>
              <a:t>a</a:t>
            </a:r>
            <a:r>
              <a:rPr sz="2400" b="0" dirty="0">
                <a:latin typeface="Arial" panose="020B0604020202020204" pitchFamily="34" charset="0"/>
              </a:rPr>
              <a:t>.</a:t>
            </a:r>
            <a:endParaRPr sz="2400" b="0" dirty="0">
              <a:latin typeface="Arial" panose="020B0604020202020204" pitchFamily="34" charset="0"/>
            </a:endParaRPr>
          </a:p>
        </p:txBody>
      </p:sp>
      <p:sp>
        <p:nvSpPr>
          <p:cNvPr id="6149" name="Rectangle 4"/>
          <p:cNvSpPr/>
          <p:nvPr/>
        </p:nvSpPr>
        <p:spPr>
          <a:xfrm>
            <a:off x="2133600" y="1143000"/>
            <a:ext cx="8305800" cy="1196340"/>
          </a:xfrm>
          <a:prstGeom prst="rect">
            <a:avLst/>
          </a:prstGeom>
          <a:noFill/>
          <a:ln w="12700">
            <a:noFill/>
          </a:ln>
        </p:spPr>
        <p:txBody>
          <a:bodyPr lIns="90488" tIns="44450" rIns="90488" bIns="44450">
            <a:spAutoFit/>
          </a:bodyPr>
          <a:p>
            <a:pPr>
              <a:lnSpc>
                <a:spcPct val="100000"/>
              </a:lnSpc>
              <a:buClr>
                <a:schemeClr val="accent2"/>
              </a:buClr>
              <a:buFont typeface="Wingdings" panose="05000000000000000000" pitchFamily="2" charset="2"/>
            </a:pPr>
            <a:r>
              <a:rPr sz="2400" b="0" dirty="0">
                <a:latin typeface="Arial" panose="020B0604020202020204" pitchFamily="34" charset="0"/>
              </a:rPr>
              <a:t>The</a:t>
            </a:r>
            <a:r>
              <a:rPr sz="2400" b="0" dirty="0">
                <a:solidFill>
                  <a:schemeClr val="hlink"/>
                </a:solidFill>
                <a:latin typeface="Arial" panose="020B0604020202020204" pitchFamily="34" charset="0"/>
              </a:rPr>
              <a:t> actual odds against </a:t>
            </a:r>
            <a:r>
              <a:rPr sz="2400" b="0" dirty="0">
                <a:latin typeface="Arial" panose="020B0604020202020204" pitchFamily="34" charset="0"/>
              </a:rPr>
              <a:t>event </a:t>
            </a:r>
            <a:r>
              <a:rPr sz="2400" b="0" i="1" dirty="0">
                <a:latin typeface="Arial" panose="020B0604020202020204" pitchFamily="34" charset="0"/>
              </a:rPr>
              <a:t>A</a:t>
            </a:r>
            <a:r>
              <a:rPr sz="2400" b="0" dirty="0">
                <a:latin typeface="Arial" panose="020B0604020202020204" pitchFamily="34" charset="0"/>
              </a:rPr>
              <a:t> occurring are the ratio       </a:t>
            </a:r>
            <a:endParaRPr sz="2400" b="0" dirty="0">
              <a:latin typeface="Arial" panose="020B0604020202020204" pitchFamily="34" charset="0"/>
            </a:endParaRPr>
          </a:p>
          <a:p>
            <a:pPr>
              <a:lnSpc>
                <a:spcPct val="100000"/>
              </a:lnSpc>
              <a:buClr>
                <a:schemeClr val="accent2"/>
              </a:buClr>
              <a:buFont typeface="Wingdings" panose="05000000000000000000" pitchFamily="2" charset="2"/>
            </a:pPr>
            <a:r>
              <a:rPr sz="2400" b="0" dirty="0">
                <a:latin typeface="Arial" panose="020B0604020202020204" pitchFamily="34" charset="0"/>
              </a:rPr>
              <a:t>                 </a:t>
            </a:r>
            <a:r>
              <a:rPr sz="2400" b="0" i="1" dirty="0">
                <a:latin typeface="Arial" panose="020B0604020202020204" pitchFamily="34" charset="0"/>
              </a:rPr>
              <a:t>,</a:t>
            </a:r>
            <a:r>
              <a:rPr sz="2400" b="0" dirty="0">
                <a:latin typeface="Arial" panose="020B0604020202020204" pitchFamily="34" charset="0"/>
              </a:rPr>
              <a:t> usually expressed in the form of </a:t>
            </a:r>
            <a:r>
              <a:rPr sz="2400" b="0" i="1" dirty="0">
                <a:solidFill>
                  <a:schemeClr val="hlink"/>
                </a:solidFill>
                <a:latin typeface="Arial" panose="020B0604020202020204" pitchFamily="34" charset="0"/>
              </a:rPr>
              <a:t>a</a:t>
            </a:r>
            <a:r>
              <a:rPr sz="2400" b="0" dirty="0">
                <a:solidFill>
                  <a:schemeClr val="hlink"/>
                </a:solidFill>
                <a:latin typeface="Arial" panose="020B0604020202020204" pitchFamily="34" charset="0"/>
              </a:rPr>
              <a:t>:</a:t>
            </a:r>
            <a:r>
              <a:rPr sz="2400" b="0" i="1" dirty="0">
                <a:solidFill>
                  <a:schemeClr val="hlink"/>
                </a:solidFill>
                <a:latin typeface="Arial" panose="020B0604020202020204" pitchFamily="34" charset="0"/>
              </a:rPr>
              <a:t>b</a:t>
            </a:r>
            <a:r>
              <a:rPr sz="2400" b="0" dirty="0">
                <a:latin typeface="Arial" panose="020B0604020202020204" pitchFamily="34" charset="0"/>
              </a:rPr>
              <a:t> (or “</a:t>
            </a:r>
            <a:r>
              <a:rPr sz="2400" b="0" i="1" dirty="0">
                <a:solidFill>
                  <a:schemeClr val="hlink"/>
                </a:solidFill>
                <a:latin typeface="Arial" panose="020B0604020202020204" pitchFamily="34" charset="0"/>
              </a:rPr>
              <a:t>a</a:t>
            </a:r>
            <a:r>
              <a:rPr sz="2400" b="0" dirty="0">
                <a:latin typeface="Arial" panose="020B0604020202020204" pitchFamily="34" charset="0"/>
              </a:rPr>
              <a:t> to </a:t>
            </a:r>
            <a:r>
              <a:rPr sz="2400" b="0" i="1" dirty="0">
                <a:solidFill>
                  <a:schemeClr val="hlink"/>
                </a:solidFill>
                <a:latin typeface="Arial" panose="020B0604020202020204" pitchFamily="34" charset="0"/>
              </a:rPr>
              <a:t>b</a:t>
            </a:r>
            <a:r>
              <a:rPr sz="2400" b="0" dirty="0">
                <a:latin typeface="Arial" panose="020B0604020202020204" pitchFamily="34" charset="0"/>
              </a:rPr>
              <a:t>”), where </a:t>
            </a:r>
            <a:r>
              <a:rPr sz="2400" b="0" i="1" dirty="0">
                <a:latin typeface="Arial" panose="020B0604020202020204" pitchFamily="34" charset="0"/>
              </a:rPr>
              <a:t>a</a:t>
            </a:r>
            <a:r>
              <a:rPr sz="2400" b="0" dirty="0">
                <a:latin typeface="Arial" panose="020B0604020202020204" pitchFamily="34" charset="0"/>
              </a:rPr>
              <a:t> and </a:t>
            </a:r>
            <a:r>
              <a:rPr sz="2400" b="0" i="1" dirty="0">
                <a:latin typeface="Arial" panose="020B0604020202020204" pitchFamily="34" charset="0"/>
              </a:rPr>
              <a:t>b</a:t>
            </a:r>
            <a:r>
              <a:rPr sz="2400" b="0" dirty="0">
                <a:latin typeface="Arial" panose="020B0604020202020204" pitchFamily="34" charset="0"/>
              </a:rPr>
              <a:t> are integers having no common factors.</a:t>
            </a:r>
            <a:endParaRPr sz="2400" b="0" dirty="0">
              <a:latin typeface="Arial" panose="020B0604020202020204" pitchFamily="34" charset="0"/>
            </a:endParaRPr>
          </a:p>
        </p:txBody>
      </p:sp>
      <p:sp>
        <p:nvSpPr>
          <p:cNvPr id="6150" name="Rectangle 2"/>
          <p:cNvSpPr>
            <a:spLocks noGrp="1"/>
          </p:cNvSpPr>
          <p:nvPr>
            <p:ph type="title" idx="4294967295"/>
          </p:nvPr>
        </p:nvSpPr>
        <p:spPr>
          <a:xfrm>
            <a:off x="2209800" y="381000"/>
            <a:ext cx="7162800" cy="762000"/>
          </a:xfrm>
          <a:prstGeom prst="rect">
            <a:avLst/>
          </a:prstGeom>
          <a:noFill/>
          <a:ln w="9525">
            <a:noFill/>
          </a:ln>
        </p:spPr>
        <p:txBody>
          <a:bodyPr lIns="90488" tIns="44450" rIns="90488" bIns="44450"/>
          <a:p>
            <a:r>
              <a:rPr dirty="0"/>
              <a:t>Odds</a:t>
            </a:r>
            <a:r>
              <a:rPr lang="en-US" dirty="0"/>
              <a:t> (T)</a:t>
            </a:r>
            <a:endParaRPr lang="en-US" dirty="0"/>
          </a:p>
        </p:txBody>
      </p:sp>
      <p:sp>
        <p:nvSpPr>
          <p:cNvPr id="6151" name="Rectangle 11"/>
          <p:cNvSpPr/>
          <p:nvPr/>
        </p:nvSpPr>
        <p:spPr>
          <a:xfrm>
            <a:off x="1730375" y="4605338"/>
            <a:ext cx="8472488" cy="827405"/>
          </a:xfrm>
          <a:prstGeom prst="rect">
            <a:avLst/>
          </a:prstGeom>
          <a:noFill/>
          <a:ln w="12700">
            <a:noFill/>
          </a:ln>
        </p:spPr>
        <p:txBody>
          <a:bodyPr lIns="90488" tIns="44450" rIns="90488" bIns="44450">
            <a:spAutoFit/>
          </a:bodyPr>
          <a:p>
            <a:pPr marL="403225">
              <a:lnSpc>
                <a:spcPct val="100000"/>
              </a:lnSpc>
              <a:buClr>
                <a:schemeClr val="accent2"/>
              </a:buClr>
              <a:buFont typeface="Wingdings" panose="05000000000000000000" pitchFamily="2" charset="2"/>
            </a:pPr>
            <a:r>
              <a:rPr sz="2400" b="0" dirty="0">
                <a:solidFill>
                  <a:schemeClr val="hlink"/>
                </a:solidFill>
                <a:latin typeface="Arial" panose="020B0604020202020204" pitchFamily="34" charset="0"/>
              </a:rPr>
              <a:t>The payoff odds </a:t>
            </a:r>
            <a:r>
              <a:rPr sz="2400" b="0" dirty="0">
                <a:latin typeface="Arial" panose="020B0604020202020204" pitchFamily="34" charset="0"/>
              </a:rPr>
              <a:t>against event </a:t>
            </a:r>
            <a:r>
              <a:rPr sz="2400" b="0" i="1" dirty="0">
                <a:latin typeface="Arial" panose="020B0604020202020204" pitchFamily="34" charset="0"/>
              </a:rPr>
              <a:t>A</a:t>
            </a:r>
            <a:r>
              <a:rPr sz="2400" b="0" dirty="0">
                <a:latin typeface="Arial" panose="020B0604020202020204" pitchFamily="34" charset="0"/>
              </a:rPr>
              <a:t> occurring are the ratio of the net profit (if you win) to the amount bet.</a:t>
            </a:r>
            <a:endParaRPr sz="2400" b="0" dirty="0">
              <a:solidFill>
                <a:schemeClr val="hlink"/>
              </a:solidFill>
              <a:latin typeface="Arial" panose="020B0604020202020204" pitchFamily="34" charset="0"/>
            </a:endParaRPr>
          </a:p>
        </p:txBody>
      </p:sp>
      <p:sp>
        <p:nvSpPr>
          <p:cNvPr id="6152" name="Rectangle 13"/>
          <p:cNvSpPr/>
          <p:nvPr/>
        </p:nvSpPr>
        <p:spPr>
          <a:xfrm>
            <a:off x="2044700" y="5765800"/>
            <a:ext cx="7654290" cy="460375"/>
          </a:xfrm>
          <a:prstGeom prst="rect">
            <a:avLst/>
          </a:prstGeom>
          <a:noFill/>
          <a:ln w="12700">
            <a:noFill/>
          </a:ln>
        </p:spPr>
        <p:txBody>
          <a:bodyPr wrap="none">
            <a:spAutoFit/>
          </a:bodyPr>
          <a:p>
            <a:r>
              <a:rPr sz="2400" b="0" dirty="0">
                <a:solidFill>
                  <a:schemeClr val="hlink"/>
                </a:solidFill>
                <a:latin typeface="Arial" panose="020B0604020202020204" pitchFamily="34" charset="0"/>
              </a:rPr>
              <a:t>payoff odds against event </a:t>
            </a:r>
            <a:r>
              <a:rPr sz="2400" b="0" i="1" dirty="0">
                <a:solidFill>
                  <a:schemeClr val="hlink"/>
                </a:solidFill>
                <a:latin typeface="Arial" panose="020B0604020202020204" pitchFamily="34" charset="0"/>
              </a:rPr>
              <a:t>A</a:t>
            </a:r>
            <a:r>
              <a:rPr sz="2400" b="0" dirty="0">
                <a:solidFill>
                  <a:schemeClr val="hlink"/>
                </a:solidFill>
                <a:latin typeface="Arial" panose="020B0604020202020204" pitchFamily="34" charset="0"/>
              </a:rPr>
              <a:t> = (net profit) </a:t>
            </a:r>
            <a:r>
              <a:rPr sz="2400" b="0" dirty="0">
                <a:solidFill>
                  <a:schemeClr val="hlink"/>
                </a:solidFill>
                <a:latin typeface="Arial" panose="020B0604020202020204" pitchFamily="34" charset="0"/>
                <a:sym typeface="Wingdings" panose="05000000000000000000" pitchFamily="2" charset="2"/>
              </a:rPr>
              <a:t>: (amount bet)</a:t>
            </a:r>
            <a:endParaRPr sz="2400" b="0" dirty="0">
              <a:solidFill>
                <a:schemeClr val="hlink"/>
              </a:solidFill>
              <a:latin typeface="Arial" panose="020B0604020202020204" pitchFamily="34" charset="0"/>
              <a:sym typeface="Wingdings" panose="05000000000000000000" pitchFamily="2" charset="2"/>
            </a:endParaRPr>
          </a:p>
        </p:txBody>
      </p:sp>
      <p:graphicFrame>
        <p:nvGraphicFramePr>
          <p:cNvPr id="6146" name="Object 2"/>
          <p:cNvGraphicFramePr>
            <a:graphicFrameLocks noChangeAspect="1"/>
          </p:cNvGraphicFramePr>
          <p:nvPr/>
        </p:nvGraphicFramePr>
        <p:xfrm>
          <a:off x="2109788" y="1530350"/>
          <a:ext cx="1562100" cy="419100"/>
        </p:xfrm>
        <a:graphic>
          <a:graphicData uri="http://schemas.openxmlformats.org/presentationml/2006/ole">
            <mc:AlternateContent xmlns:mc="http://schemas.openxmlformats.org/markup-compatibility/2006">
              <mc:Choice xmlns:v="urn:schemas-microsoft-com:vml" Requires="v">
                <p:oleObj spid="_x0000_s3076" name="" r:id="rId1" imgW="1701800" imgH="457200" progId="Equation.DSMT4">
                  <p:embed/>
                </p:oleObj>
              </mc:Choice>
              <mc:Fallback>
                <p:oleObj name="" r:id="rId1" imgW="1701800" imgH="457200" progId="Equation.DSMT4">
                  <p:embed/>
                  <p:pic>
                    <p:nvPicPr>
                      <p:cNvPr id="0" name="Picture 3075"/>
                      <p:cNvPicPr/>
                      <p:nvPr/>
                    </p:nvPicPr>
                    <p:blipFill>
                      <a:blip r:embed="rId2"/>
                      <a:stretch>
                        <a:fillRect/>
                      </a:stretch>
                    </p:blipFill>
                    <p:spPr>
                      <a:xfrm>
                        <a:off x="2109788" y="1530350"/>
                        <a:ext cx="1562100" cy="419100"/>
                      </a:xfrm>
                      <a:prstGeom prst="rect">
                        <a:avLst/>
                      </a:prstGeom>
                      <a:noFill/>
                      <a:ln w="38100">
                        <a:noFill/>
                        <a:miter/>
                      </a:ln>
                    </p:spPr>
                  </p:pic>
                </p:oleObj>
              </mc:Fallback>
            </mc:AlternateContent>
          </a:graphicData>
        </a:graphic>
      </p:graphicFrame>
      <p:graphicFrame>
        <p:nvGraphicFramePr>
          <p:cNvPr id="6147" name="Object 3"/>
          <p:cNvGraphicFramePr>
            <a:graphicFrameLocks noChangeAspect="1"/>
          </p:cNvGraphicFramePr>
          <p:nvPr/>
        </p:nvGraphicFramePr>
        <p:xfrm>
          <a:off x="2209800" y="3140075"/>
          <a:ext cx="1560513" cy="419100"/>
        </p:xfrm>
        <a:graphic>
          <a:graphicData uri="http://schemas.openxmlformats.org/presentationml/2006/ole">
            <mc:AlternateContent xmlns:mc="http://schemas.openxmlformats.org/markup-compatibility/2006">
              <mc:Choice xmlns:v="urn:schemas-microsoft-com:vml" Requires="v">
                <p:oleObj spid="_x0000_s3077" name="" r:id="rId3" imgW="1701800" imgH="457200" progId="Equation.DSMT4">
                  <p:embed/>
                </p:oleObj>
              </mc:Choice>
              <mc:Fallback>
                <p:oleObj name="" r:id="rId3" imgW="1701800" imgH="457200" progId="Equation.DSMT4">
                  <p:embed/>
                  <p:pic>
                    <p:nvPicPr>
                      <p:cNvPr id="0" name="Picture 3076"/>
                      <p:cNvPicPr/>
                      <p:nvPr/>
                    </p:nvPicPr>
                    <p:blipFill>
                      <a:blip r:embed="rId4"/>
                      <a:stretch>
                        <a:fillRect/>
                      </a:stretch>
                    </p:blipFill>
                    <p:spPr>
                      <a:xfrm>
                        <a:off x="2209800" y="3140075"/>
                        <a:ext cx="1560513" cy="419100"/>
                      </a:xfrm>
                      <a:prstGeom prst="rect">
                        <a:avLst/>
                      </a:prstGeom>
                      <a:noFill/>
                      <a:ln w="38100">
                        <a:noFill/>
                        <a:miter/>
                      </a:ln>
                    </p:spPr>
                  </p:pic>
                </p:oleObj>
              </mc:Fallback>
            </mc:AlternateContent>
          </a:graphicData>
        </a:graphic>
      </p:graphicFrame>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p:nvPr/>
        </p:nvSpPr>
        <p:spPr>
          <a:xfrm>
            <a:off x="1898650" y="100013"/>
            <a:ext cx="8074025" cy="1783080"/>
          </a:xfrm>
          <a:prstGeom prst="rect">
            <a:avLst/>
          </a:prstGeom>
          <a:noFill/>
          <a:ln w="12700">
            <a:noFill/>
          </a:ln>
        </p:spPr>
        <p:txBody>
          <a:bodyPr lIns="90488" tIns="44450" rIns="90488" bIns="44450">
            <a:spAutoFit/>
          </a:bodyPr>
          <a:p>
            <a:endParaRPr sz="6000" dirty="0">
              <a:solidFill>
                <a:srgbClr val="00279F"/>
              </a:solidFill>
              <a:latin typeface="Arial" panose="020B0604020202020204" pitchFamily="34" charset="0"/>
            </a:endParaRPr>
          </a:p>
          <a:p>
            <a:pPr>
              <a:spcBef>
                <a:spcPct val="14000"/>
              </a:spcBef>
            </a:pPr>
            <a:r>
              <a:rPr sz="4400" b="0" dirty="0">
                <a:solidFill>
                  <a:schemeClr val="hlink"/>
                </a:solidFill>
                <a:latin typeface="Arial" panose="020B0604020202020204" pitchFamily="34" charset="0"/>
              </a:rPr>
              <a:t>     </a:t>
            </a:r>
            <a:endParaRPr sz="4800" dirty="0">
              <a:solidFill>
                <a:schemeClr val="hlink"/>
              </a:solidFill>
              <a:latin typeface="Arial" panose="020B0604020202020204" pitchFamily="34" charset="0"/>
            </a:endParaRPr>
          </a:p>
        </p:txBody>
      </p:sp>
      <p:sp>
        <p:nvSpPr>
          <p:cNvPr id="22531" name="Rectangle 3"/>
          <p:cNvSpPr>
            <a:spLocks noGrp="1"/>
          </p:cNvSpPr>
          <p:nvPr>
            <p:ph type="title" idx="4294967295"/>
          </p:nvPr>
        </p:nvSpPr>
        <p:spPr>
          <a:xfrm>
            <a:off x="2057400" y="190500"/>
            <a:ext cx="8001000" cy="762000"/>
          </a:xfrm>
          <a:prstGeom prst="rect">
            <a:avLst/>
          </a:prstGeom>
          <a:noFill/>
          <a:ln w="9525">
            <a:noFill/>
          </a:ln>
        </p:spPr>
        <p:txBody>
          <a:bodyPr lIns="90488" tIns="44450" rIns="90488" bIns="44450"/>
          <a:p>
            <a:r>
              <a:rPr dirty="0"/>
              <a:t>Example</a:t>
            </a:r>
            <a:endParaRPr dirty="0"/>
          </a:p>
        </p:txBody>
      </p:sp>
      <p:sp>
        <p:nvSpPr>
          <p:cNvPr id="5" name="Text Box 5"/>
          <p:cNvSpPr txBox="1">
            <a:spLocks noChangeArrowheads="1"/>
          </p:cNvSpPr>
          <p:nvPr/>
        </p:nvSpPr>
        <p:spPr bwMode="auto">
          <a:xfrm>
            <a:off x="2133600" y="1143000"/>
            <a:ext cx="8305800" cy="3753485"/>
          </a:xfrm>
          <a:prstGeom prst="rect">
            <a:avLst/>
          </a:prstGeom>
          <a:noFill/>
          <a:ln w="12700">
            <a:noFill/>
            <a:miter lim="800000"/>
          </a:ln>
        </p:spPr>
        <p:txBody>
          <a:bodyPr>
            <a:spAutoFit/>
          </a:bodyPr>
          <a:lstStyle/>
          <a:p>
            <a:pPr marR="0" defTabSz="914400">
              <a:lnSpc>
                <a:spcPct val="100000"/>
              </a:lnSpc>
              <a:spcBef>
                <a:spcPct val="50000"/>
              </a:spcBef>
              <a:buClrTx/>
              <a:buSzTx/>
              <a:buFontTx/>
              <a:buNone/>
              <a:defRPr/>
            </a:pPr>
            <a:r>
              <a:rPr kumimoji="0" lang="en-US" sz="2800" b="0" kern="1200" cap="none" spc="0" normalizeH="0" baseline="0" noProof="0" dirty="0">
                <a:latin typeface="Arial" panose="020B0604020202020204" pitchFamily="34" charset="0"/>
                <a:ea typeface="+mn-ea"/>
                <a:cs typeface="+mn-cs"/>
              </a:rPr>
              <a:t>If you bet $5 on the number 13 in roulette, your probability of winning is 1/38 and the payoff odds are given by the casino at 35:1.</a:t>
            </a:r>
            <a:endParaRPr kumimoji="0" lang="en-US" sz="2800" b="0" kern="1200" cap="none" spc="0" normalizeH="0" baseline="0" noProof="0" dirty="0">
              <a:latin typeface="Arial" panose="020B0604020202020204" pitchFamily="34" charset="0"/>
              <a:ea typeface="+mn-ea"/>
              <a:cs typeface="+mn-cs"/>
            </a:endParaRPr>
          </a:p>
          <a:p>
            <a:pPr marR="0" defTabSz="914400">
              <a:lnSpc>
                <a:spcPct val="100000"/>
              </a:lnSpc>
              <a:spcBef>
                <a:spcPct val="50000"/>
              </a:spcBef>
              <a:buClrTx/>
              <a:buSzTx/>
              <a:buFontTx/>
              <a:buNone/>
              <a:defRPr/>
            </a:pPr>
            <a:endParaRPr kumimoji="0" lang="en-US" sz="2800" b="0" kern="1200" cap="none" spc="0" normalizeH="0" baseline="0" noProof="0" dirty="0">
              <a:latin typeface="Arial" panose="020B0604020202020204" pitchFamily="34" charset="0"/>
              <a:ea typeface="+mn-ea"/>
              <a:cs typeface="+mn-cs"/>
            </a:endParaRPr>
          </a:p>
          <a:p>
            <a:pPr marL="514350" marR="0" indent="-514350" defTabSz="914400">
              <a:lnSpc>
                <a:spcPct val="100000"/>
              </a:lnSpc>
              <a:spcBef>
                <a:spcPct val="50000"/>
              </a:spcBef>
              <a:buClrTx/>
              <a:buSzTx/>
              <a:buFontTx/>
              <a:buAutoNum type="alphaLcPeriod"/>
              <a:defRPr/>
            </a:pPr>
            <a:r>
              <a:rPr kumimoji="0" lang="en-US" sz="2800" b="0" kern="1200" cap="none" spc="0" normalizeH="0" baseline="0" noProof="0" dirty="0">
                <a:latin typeface="Arial" panose="020B0604020202020204" pitchFamily="34" charset="0"/>
                <a:ea typeface="+mn-ea"/>
                <a:cs typeface="+mn-cs"/>
              </a:rPr>
              <a:t>Find the actual odds against the outcome of 13.</a:t>
            </a:r>
            <a:endParaRPr kumimoji="0" lang="en-US" sz="2800" b="0" kern="1200" cap="none" spc="0" normalizeH="0" baseline="0" noProof="0" dirty="0">
              <a:latin typeface="Arial" panose="020B0604020202020204" pitchFamily="34" charset="0"/>
              <a:ea typeface="+mn-ea"/>
              <a:cs typeface="+mn-cs"/>
            </a:endParaRPr>
          </a:p>
          <a:p>
            <a:pPr marL="514350" marR="0" indent="-514350" defTabSz="914400">
              <a:lnSpc>
                <a:spcPct val="100000"/>
              </a:lnSpc>
              <a:spcBef>
                <a:spcPct val="50000"/>
              </a:spcBef>
              <a:buClrTx/>
              <a:buSzTx/>
              <a:buFontTx/>
              <a:buAutoNum type="alphaLcPeriod"/>
              <a:defRPr/>
            </a:pPr>
            <a:r>
              <a:rPr kumimoji="0" lang="en-US" sz="2800" b="0" kern="1200" cap="none" spc="0" normalizeH="0" baseline="0" noProof="0" dirty="0">
                <a:latin typeface="Arial" panose="020B0604020202020204" pitchFamily="34" charset="0"/>
                <a:ea typeface="+mn-ea"/>
                <a:cs typeface="+mn-cs"/>
              </a:rPr>
              <a:t>How much net profit would you make if you win by betting on 13?</a:t>
            </a:r>
            <a:endParaRPr kumimoji="0" lang="en-US" sz="2800" b="0" kern="1200" cap="none" spc="0" normalizeH="0" baseline="0" noProof="0" dirty="0">
              <a:latin typeface="Arial" panose="020B0604020202020204" pitchFamily="34" charset="0"/>
              <a:ea typeface="+mn-ea"/>
              <a:cs typeface="+mn-cs"/>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1" name="Rectangle 2"/>
          <p:cNvSpPr/>
          <p:nvPr/>
        </p:nvSpPr>
        <p:spPr>
          <a:xfrm>
            <a:off x="1898650" y="100013"/>
            <a:ext cx="8074025" cy="1783080"/>
          </a:xfrm>
          <a:prstGeom prst="rect">
            <a:avLst/>
          </a:prstGeom>
          <a:noFill/>
          <a:ln w="12700">
            <a:noFill/>
          </a:ln>
        </p:spPr>
        <p:txBody>
          <a:bodyPr lIns="90488" tIns="44450" rIns="90488" bIns="44450">
            <a:spAutoFit/>
          </a:bodyPr>
          <a:p>
            <a:endParaRPr sz="6000" dirty="0">
              <a:solidFill>
                <a:srgbClr val="00279F"/>
              </a:solidFill>
              <a:latin typeface="Arial" panose="020B0604020202020204" pitchFamily="34" charset="0"/>
            </a:endParaRPr>
          </a:p>
          <a:p>
            <a:pPr>
              <a:spcBef>
                <a:spcPct val="14000"/>
              </a:spcBef>
            </a:pPr>
            <a:r>
              <a:rPr sz="4400" b="0" dirty="0">
                <a:solidFill>
                  <a:schemeClr val="hlink"/>
                </a:solidFill>
                <a:latin typeface="Arial" panose="020B0604020202020204" pitchFamily="34" charset="0"/>
              </a:rPr>
              <a:t>     </a:t>
            </a:r>
            <a:endParaRPr sz="4800" dirty="0">
              <a:solidFill>
                <a:schemeClr val="hlink"/>
              </a:solidFill>
              <a:latin typeface="Arial" panose="020B0604020202020204" pitchFamily="34" charset="0"/>
            </a:endParaRPr>
          </a:p>
        </p:txBody>
      </p:sp>
      <p:sp>
        <p:nvSpPr>
          <p:cNvPr id="7172" name="Rectangle 3"/>
          <p:cNvSpPr>
            <a:spLocks noGrp="1"/>
          </p:cNvSpPr>
          <p:nvPr>
            <p:ph type="title" idx="4294967295"/>
          </p:nvPr>
        </p:nvSpPr>
        <p:spPr>
          <a:xfrm>
            <a:off x="2057400" y="190500"/>
            <a:ext cx="8001000" cy="762000"/>
          </a:xfrm>
          <a:prstGeom prst="rect">
            <a:avLst/>
          </a:prstGeom>
          <a:noFill/>
          <a:ln w="9525">
            <a:noFill/>
          </a:ln>
        </p:spPr>
        <p:txBody>
          <a:bodyPr lIns="90488" tIns="44450" rIns="90488" bIns="44450"/>
          <a:p>
            <a:r>
              <a:rPr dirty="0"/>
              <a:t>Example - continued</a:t>
            </a:r>
            <a:endParaRPr dirty="0"/>
          </a:p>
        </p:txBody>
      </p:sp>
      <p:sp>
        <p:nvSpPr>
          <p:cNvPr id="7173" name="Text Box 5"/>
          <p:cNvSpPr txBox="1"/>
          <p:nvPr/>
        </p:nvSpPr>
        <p:spPr>
          <a:xfrm>
            <a:off x="2133600" y="1143000"/>
            <a:ext cx="8305800" cy="3753485"/>
          </a:xfrm>
          <a:prstGeom prst="rect">
            <a:avLst/>
          </a:prstGeom>
          <a:noFill/>
          <a:ln w="12700">
            <a:noFill/>
          </a:ln>
        </p:spPr>
        <p:txBody>
          <a:bodyPr>
            <a:spAutoFit/>
          </a:bodyPr>
          <a:p>
            <a:pPr marL="514350" indent="-514350">
              <a:lnSpc>
                <a:spcPct val="100000"/>
              </a:lnSpc>
              <a:spcBef>
                <a:spcPct val="50000"/>
              </a:spcBef>
              <a:buAutoNum type="alphaLcPeriod"/>
            </a:pPr>
            <a:r>
              <a:rPr sz="2800" b="0" dirty="0">
                <a:latin typeface="Arial" panose="020B0604020202020204" pitchFamily="34" charset="0"/>
              </a:rPr>
              <a:t>Find the actual odds against the outcome of 13.</a:t>
            </a:r>
            <a:endParaRPr sz="2800" b="0" dirty="0">
              <a:latin typeface="Arial" panose="020B0604020202020204" pitchFamily="34" charset="0"/>
            </a:endParaRPr>
          </a:p>
          <a:p>
            <a:pPr marL="514350" indent="-514350">
              <a:lnSpc>
                <a:spcPct val="100000"/>
              </a:lnSpc>
              <a:spcBef>
                <a:spcPct val="50000"/>
              </a:spcBef>
              <a:buNone/>
            </a:pPr>
            <a:r>
              <a:rPr sz="2800" b="0" dirty="0">
                <a:latin typeface="Arial" panose="020B0604020202020204" pitchFamily="34" charset="0"/>
              </a:rPr>
              <a:t>	</a:t>
            </a:r>
            <a:endParaRPr sz="2800" b="0" dirty="0">
              <a:latin typeface="Arial" panose="020B0604020202020204" pitchFamily="34" charset="0"/>
            </a:endParaRPr>
          </a:p>
          <a:p>
            <a:pPr marL="514350" indent="-514350">
              <a:lnSpc>
                <a:spcPct val="100000"/>
              </a:lnSpc>
              <a:spcBef>
                <a:spcPct val="50000"/>
              </a:spcBef>
              <a:buNone/>
            </a:pPr>
            <a:endParaRPr sz="2800" b="0" dirty="0">
              <a:latin typeface="Arial" panose="020B0604020202020204" pitchFamily="34" charset="0"/>
            </a:endParaRPr>
          </a:p>
          <a:p>
            <a:pPr marL="514350" indent="-514350">
              <a:lnSpc>
                <a:spcPct val="100000"/>
              </a:lnSpc>
              <a:spcBef>
                <a:spcPct val="50000"/>
              </a:spcBef>
              <a:buNone/>
            </a:pPr>
            <a:r>
              <a:rPr sz="2800" b="0" dirty="0">
                <a:latin typeface="Arial" panose="020B0604020202020204" pitchFamily="34" charset="0"/>
              </a:rPr>
              <a:t>With </a:t>
            </a:r>
            <a:r>
              <a:rPr sz="2800" b="0" i="1" dirty="0">
                <a:latin typeface="Arial" panose="020B0604020202020204" pitchFamily="34" charset="0"/>
              </a:rPr>
              <a:t>P</a:t>
            </a:r>
            <a:r>
              <a:rPr sz="2800" b="0" dirty="0">
                <a:latin typeface="Arial" panose="020B0604020202020204" pitchFamily="34" charset="0"/>
              </a:rPr>
              <a:t>(13) = 1/38  and  </a:t>
            </a:r>
            <a:r>
              <a:rPr sz="2800" b="0" i="1" dirty="0">
                <a:latin typeface="Arial" panose="020B0604020202020204" pitchFamily="34" charset="0"/>
              </a:rPr>
              <a:t>P</a:t>
            </a:r>
            <a:r>
              <a:rPr sz="2800" b="0" dirty="0">
                <a:latin typeface="Arial" panose="020B0604020202020204" pitchFamily="34" charset="0"/>
              </a:rPr>
              <a:t>(</a:t>
            </a:r>
            <a:r>
              <a:rPr sz="2800" b="0" i="1" dirty="0">
                <a:latin typeface="Arial" panose="020B0604020202020204" pitchFamily="34" charset="0"/>
              </a:rPr>
              <a:t>not</a:t>
            </a:r>
            <a:r>
              <a:rPr sz="2800" b="0" dirty="0">
                <a:latin typeface="Arial" panose="020B0604020202020204" pitchFamily="34" charset="0"/>
              </a:rPr>
              <a:t> 13) = 37/38, we get:</a:t>
            </a:r>
            <a:endParaRPr sz="2800" b="0" dirty="0">
              <a:latin typeface="Arial" panose="020B0604020202020204" pitchFamily="34" charset="0"/>
            </a:endParaRPr>
          </a:p>
          <a:p>
            <a:pPr marL="514350" indent="-514350">
              <a:lnSpc>
                <a:spcPct val="100000"/>
              </a:lnSpc>
              <a:spcBef>
                <a:spcPct val="50000"/>
              </a:spcBef>
              <a:buNone/>
            </a:pPr>
            <a:endParaRPr sz="2800" b="0" dirty="0">
              <a:latin typeface="Arial" panose="020B0604020202020204" pitchFamily="34" charset="0"/>
            </a:endParaRPr>
          </a:p>
          <a:p>
            <a:pPr marL="514350" indent="-514350">
              <a:lnSpc>
                <a:spcPct val="100000"/>
              </a:lnSpc>
              <a:spcBef>
                <a:spcPct val="50000"/>
              </a:spcBef>
              <a:buNone/>
            </a:pPr>
            <a:r>
              <a:rPr sz="2800" b="0" dirty="0">
                <a:latin typeface="Arial" panose="020B0604020202020204" pitchFamily="34" charset="0"/>
              </a:rPr>
              <a:t>                                                                    , or 37:1.</a:t>
            </a:r>
            <a:endParaRPr sz="2800" b="0" dirty="0">
              <a:latin typeface="Arial" panose="020B0604020202020204" pitchFamily="34" charset="0"/>
            </a:endParaRPr>
          </a:p>
        </p:txBody>
      </p:sp>
      <p:graphicFrame>
        <p:nvGraphicFramePr>
          <p:cNvPr id="7170" name="Object 2"/>
          <p:cNvGraphicFramePr>
            <a:graphicFrameLocks noChangeAspect="1"/>
          </p:cNvGraphicFramePr>
          <p:nvPr/>
        </p:nvGraphicFramePr>
        <p:xfrm>
          <a:off x="2149475" y="3954463"/>
          <a:ext cx="6781800" cy="1327150"/>
        </p:xfrm>
        <a:graphic>
          <a:graphicData uri="http://schemas.openxmlformats.org/presentationml/2006/ole">
            <mc:AlternateContent xmlns:mc="http://schemas.openxmlformats.org/markup-compatibility/2006">
              <mc:Choice xmlns:v="urn:schemas-microsoft-com:vml" Requires="v">
                <p:oleObj spid="_x0000_s3078" name="" r:id="rId1" imgW="2984500" imgH="584200" progId="Equation.DSMT4">
                  <p:embed/>
                </p:oleObj>
              </mc:Choice>
              <mc:Fallback>
                <p:oleObj name="" r:id="rId1" imgW="2984500" imgH="584200" progId="Equation.DSMT4">
                  <p:embed/>
                  <p:pic>
                    <p:nvPicPr>
                      <p:cNvPr id="0" name="Picture 3077"/>
                      <p:cNvPicPr/>
                      <p:nvPr/>
                    </p:nvPicPr>
                    <p:blipFill>
                      <a:blip r:embed="rId2"/>
                      <a:stretch>
                        <a:fillRect/>
                      </a:stretch>
                    </p:blipFill>
                    <p:spPr>
                      <a:xfrm>
                        <a:off x="2149475" y="3954463"/>
                        <a:ext cx="6781800" cy="1327150"/>
                      </a:xfrm>
                      <a:prstGeom prst="rect">
                        <a:avLst/>
                      </a:prstGeom>
                      <a:noFill/>
                      <a:ln w="38100">
                        <a:noFill/>
                        <a:miter/>
                      </a:ln>
                    </p:spPr>
                  </p:pic>
                </p:oleObj>
              </mc:Fallback>
            </mc:AlternateContent>
          </a:graphicData>
        </a:graphic>
      </p:graphicFrame>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p:nvPr/>
        </p:nvSpPr>
        <p:spPr>
          <a:xfrm>
            <a:off x="1898650" y="100013"/>
            <a:ext cx="8074025" cy="1783080"/>
          </a:xfrm>
          <a:prstGeom prst="rect">
            <a:avLst/>
          </a:prstGeom>
          <a:noFill/>
          <a:ln w="12700">
            <a:noFill/>
          </a:ln>
        </p:spPr>
        <p:txBody>
          <a:bodyPr lIns="90488" tIns="44450" rIns="90488" bIns="44450">
            <a:spAutoFit/>
          </a:bodyPr>
          <a:p>
            <a:endParaRPr sz="6000" dirty="0">
              <a:solidFill>
                <a:srgbClr val="00279F"/>
              </a:solidFill>
              <a:latin typeface="Arial" panose="020B0604020202020204" pitchFamily="34" charset="0"/>
            </a:endParaRPr>
          </a:p>
          <a:p>
            <a:pPr>
              <a:spcBef>
                <a:spcPct val="14000"/>
              </a:spcBef>
            </a:pPr>
            <a:r>
              <a:rPr sz="4400" b="0" dirty="0">
                <a:solidFill>
                  <a:schemeClr val="hlink"/>
                </a:solidFill>
                <a:latin typeface="Arial" panose="020B0604020202020204" pitchFamily="34" charset="0"/>
              </a:rPr>
              <a:t>     </a:t>
            </a:r>
            <a:endParaRPr sz="4800" dirty="0">
              <a:solidFill>
                <a:schemeClr val="hlink"/>
              </a:solidFill>
              <a:latin typeface="Arial" panose="020B0604020202020204" pitchFamily="34" charset="0"/>
            </a:endParaRPr>
          </a:p>
        </p:txBody>
      </p:sp>
      <p:sp>
        <p:nvSpPr>
          <p:cNvPr id="23555" name="Rectangle 3"/>
          <p:cNvSpPr>
            <a:spLocks noGrp="1"/>
          </p:cNvSpPr>
          <p:nvPr>
            <p:ph type="title" idx="4294967295"/>
          </p:nvPr>
        </p:nvSpPr>
        <p:spPr>
          <a:xfrm>
            <a:off x="2057400" y="190500"/>
            <a:ext cx="8001000" cy="762000"/>
          </a:xfrm>
          <a:prstGeom prst="rect">
            <a:avLst/>
          </a:prstGeom>
          <a:noFill/>
          <a:ln w="9525">
            <a:noFill/>
          </a:ln>
        </p:spPr>
        <p:txBody>
          <a:bodyPr lIns="90488" tIns="44450" rIns="90488" bIns="44450"/>
          <a:p>
            <a:r>
              <a:rPr dirty="0"/>
              <a:t>Example - continued</a:t>
            </a:r>
            <a:endParaRPr dirty="0"/>
          </a:p>
        </p:txBody>
      </p:sp>
      <p:sp>
        <p:nvSpPr>
          <p:cNvPr id="23556" name="Text Box 5"/>
          <p:cNvSpPr txBox="1"/>
          <p:nvPr/>
        </p:nvSpPr>
        <p:spPr>
          <a:xfrm>
            <a:off x="2133600" y="1143000"/>
            <a:ext cx="8305800" cy="3753485"/>
          </a:xfrm>
          <a:prstGeom prst="rect">
            <a:avLst/>
          </a:prstGeom>
          <a:noFill/>
          <a:ln w="12700">
            <a:noFill/>
          </a:ln>
        </p:spPr>
        <p:txBody>
          <a:bodyPr>
            <a:spAutoFit/>
          </a:bodyPr>
          <a:p>
            <a:pPr marL="514350" indent="-514350">
              <a:lnSpc>
                <a:spcPct val="100000"/>
              </a:lnSpc>
              <a:spcBef>
                <a:spcPct val="50000"/>
              </a:spcBef>
              <a:buFont typeface="Arial" panose="020B0604020202020204" pitchFamily="34" charset="0"/>
              <a:buAutoNum type="alphaLcPeriod" startAt="2"/>
            </a:pPr>
            <a:r>
              <a:rPr sz="2800" b="0" dirty="0">
                <a:latin typeface="Arial" panose="020B0604020202020204" pitchFamily="34" charset="0"/>
              </a:rPr>
              <a:t>Because the payoff odds against 13 are 35:1, we have:</a:t>
            </a:r>
            <a:endParaRPr sz="2800" b="0" dirty="0">
              <a:latin typeface="Arial" panose="020B0604020202020204" pitchFamily="34" charset="0"/>
            </a:endParaRPr>
          </a:p>
          <a:p>
            <a:pPr marL="514350" indent="-514350">
              <a:lnSpc>
                <a:spcPct val="100000"/>
              </a:lnSpc>
              <a:spcBef>
                <a:spcPct val="50000"/>
              </a:spcBef>
              <a:buNone/>
            </a:pPr>
            <a:endParaRPr sz="2800" b="0" dirty="0">
              <a:latin typeface="Arial" panose="020B0604020202020204" pitchFamily="34" charset="0"/>
            </a:endParaRPr>
          </a:p>
          <a:p>
            <a:pPr marL="514350" indent="-514350">
              <a:lnSpc>
                <a:spcPct val="100000"/>
              </a:lnSpc>
              <a:spcBef>
                <a:spcPct val="50000"/>
              </a:spcBef>
              <a:buNone/>
            </a:pPr>
            <a:r>
              <a:rPr sz="2800" b="0" dirty="0">
                <a:latin typeface="Arial" panose="020B0604020202020204" pitchFamily="34" charset="0"/>
              </a:rPr>
              <a:t>	$35 profit for each $1 bet.  For a $5 bet, there is $175 net profit.  The winning bettor would collect $175 plus the original $5 bet.</a:t>
            </a:r>
            <a:endParaRPr sz="2800" b="0" dirty="0">
              <a:latin typeface="Arial" panose="020B0604020202020204" pitchFamily="34" charset="0"/>
            </a:endParaRPr>
          </a:p>
          <a:p>
            <a:pPr marL="514350" indent="-514350">
              <a:lnSpc>
                <a:spcPct val="100000"/>
              </a:lnSpc>
              <a:spcBef>
                <a:spcPct val="50000"/>
              </a:spcBef>
              <a:buNone/>
            </a:pPr>
            <a:r>
              <a:rPr sz="2800" b="0" dirty="0">
                <a:latin typeface="Arial" panose="020B0604020202020204" pitchFamily="34" charset="0"/>
              </a:rPr>
              <a:t>	</a:t>
            </a:r>
            <a:endParaRPr sz="2800" b="0" dirty="0">
              <a:latin typeface="Arial" panose="020B0604020202020204" pitchFamily="34"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4"/>
          <p:cNvSpPr/>
          <p:nvPr/>
        </p:nvSpPr>
        <p:spPr>
          <a:xfrm>
            <a:off x="2514600" y="269875"/>
            <a:ext cx="7162800" cy="1143000"/>
          </a:xfrm>
          <a:prstGeom prst="rect">
            <a:avLst/>
          </a:prstGeom>
          <a:noFill/>
          <a:ln w="12700">
            <a:noFill/>
          </a:ln>
        </p:spPr>
        <p:txBody>
          <a:bodyPr lIns="90488" tIns="44450" rIns="90488" bIns="44450" anchor="ctr" anchorCtr="0"/>
          <a:p>
            <a:pPr algn="ctr"/>
            <a:r>
              <a:rPr sz="4000" dirty="0">
                <a:solidFill>
                  <a:srgbClr val="008000"/>
                </a:solidFill>
                <a:latin typeface="Arial" panose="020B0604020202020204" pitchFamily="34" charset="0"/>
              </a:rPr>
              <a:t>Key Concept</a:t>
            </a:r>
            <a:endParaRPr sz="4000" dirty="0">
              <a:solidFill>
                <a:srgbClr val="008000"/>
              </a:solidFill>
              <a:latin typeface="Arial" panose="020B0604020202020204" pitchFamily="34" charset="0"/>
            </a:endParaRPr>
          </a:p>
        </p:txBody>
      </p:sp>
      <p:sp>
        <p:nvSpPr>
          <p:cNvPr id="4099" name="Text Box 6"/>
          <p:cNvSpPr txBox="1"/>
          <p:nvPr/>
        </p:nvSpPr>
        <p:spPr>
          <a:xfrm>
            <a:off x="2300288" y="1811338"/>
            <a:ext cx="7848600" cy="4184650"/>
          </a:xfrm>
          <a:prstGeom prst="rect">
            <a:avLst/>
          </a:prstGeom>
          <a:noFill/>
          <a:ln w="12700">
            <a:noFill/>
          </a:ln>
        </p:spPr>
        <p:txBody>
          <a:bodyPr>
            <a:spAutoFit/>
          </a:bodyPr>
          <a:p>
            <a:pPr>
              <a:spcBef>
                <a:spcPct val="50000"/>
              </a:spcBef>
            </a:pPr>
            <a:r>
              <a:rPr sz="2800" b="0" dirty="0">
                <a:latin typeface="Arial" panose="020B0604020202020204" pitchFamily="34" charset="0"/>
              </a:rPr>
              <a:t>This section presents the </a:t>
            </a:r>
            <a:r>
              <a:rPr sz="2800" b="0" dirty="0">
                <a:solidFill>
                  <a:schemeClr val="hlink"/>
                </a:solidFill>
                <a:latin typeface="Arial" panose="020B0604020202020204" pitchFamily="34" charset="0"/>
              </a:rPr>
              <a:t>addition rule</a:t>
            </a:r>
            <a:r>
              <a:rPr lang="en-US" sz="2800" b="0" dirty="0">
                <a:solidFill>
                  <a:schemeClr val="hlink"/>
                </a:solidFill>
                <a:latin typeface="Arial" panose="020B0604020202020204" pitchFamily="34" charset="0"/>
              </a:rPr>
              <a:t> quy tắc cộng)</a:t>
            </a:r>
            <a:r>
              <a:rPr sz="2800" b="0" dirty="0">
                <a:latin typeface="Arial" panose="020B0604020202020204" pitchFamily="34" charset="0"/>
              </a:rPr>
              <a:t> as a device for finding probabilities that can be expressed as </a:t>
            </a:r>
            <a:r>
              <a:rPr sz="2800" b="0" i="1" dirty="0">
                <a:latin typeface="Arial" panose="020B0604020202020204" pitchFamily="34" charset="0"/>
              </a:rPr>
              <a:t>P</a:t>
            </a:r>
            <a:r>
              <a:rPr sz="2800" b="0" dirty="0">
                <a:latin typeface="Arial" panose="020B0604020202020204" pitchFamily="34" charset="0"/>
              </a:rPr>
              <a:t>(</a:t>
            </a:r>
            <a:r>
              <a:rPr sz="2800" b="0" i="1" dirty="0">
                <a:latin typeface="Arial" panose="020B0604020202020204" pitchFamily="34" charset="0"/>
              </a:rPr>
              <a:t>A</a:t>
            </a:r>
            <a:r>
              <a:rPr sz="2800" b="0" dirty="0">
                <a:latin typeface="Arial" panose="020B0604020202020204" pitchFamily="34" charset="0"/>
              </a:rPr>
              <a:t> or </a:t>
            </a:r>
            <a:r>
              <a:rPr sz="2800" b="0" i="1" dirty="0">
                <a:latin typeface="Arial" panose="020B0604020202020204" pitchFamily="34" charset="0"/>
              </a:rPr>
              <a:t>B</a:t>
            </a:r>
            <a:r>
              <a:rPr sz="2800" b="0" dirty="0">
                <a:latin typeface="Arial" panose="020B0604020202020204" pitchFamily="34" charset="0"/>
              </a:rPr>
              <a:t>), the probability that either event </a:t>
            </a:r>
            <a:r>
              <a:rPr sz="2800" b="0" i="1" dirty="0">
                <a:latin typeface="Arial" panose="020B0604020202020204" pitchFamily="34" charset="0"/>
              </a:rPr>
              <a:t>A</a:t>
            </a:r>
            <a:r>
              <a:rPr sz="2800" b="0" dirty="0">
                <a:latin typeface="Arial" panose="020B0604020202020204" pitchFamily="34" charset="0"/>
              </a:rPr>
              <a:t> occurs or event </a:t>
            </a:r>
            <a:r>
              <a:rPr sz="2800" b="0" i="1" dirty="0">
                <a:latin typeface="Arial" panose="020B0604020202020204" pitchFamily="34" charset="0"/>
              </a:rPr>
              <a:t>B</a:t>
            </a:r>
            <a:r>
              <a:rPr sz="2800" b="0" dirty="0">
                <a:latin typeface="Arial" panose="020B0604020202020204" pitchFamily="34" charset="0"/>
              </a:rPr>
              <a:t> occurs (or they both occur) as the single outcome of the procedure.</a:t>
            </a:r>
            <a:endParaRPr sz="2800" b="0" dirty="0">
              <a:latin typeface="Arial" panose="020B0604020202020204" pitchFamily="34" charset="0"/>
            </a:endParaRPr>
          </a:p>
          <a:p>
            <a:pPr>
              <a:spcBef>
                <a:spcPct val="50000"/>
              </a:spcBef>
            </a:pPr>
            <a:r>
              <a:rPr sz="2800" b="0" dirty="0">
                <a:latin typeface="Arial" panose="020B0604020202020204" pitchFamily="34" charset="0"/>
              </a:rPr>
              <a:t>The key word in this section is “or.” It is the </a:t>
            </a:r>
            <a:r>
              <a:rPr sz="2800" b="0" i="1" dirty="0">
                <a:latin typeface="Arial" panose="020B0604020202020204" pitchFamily="34" charset="0"/>
              </a:rPr>
              <a:t>inclusive or</a:t>
            </a:r>
            <a:r>
              <a:rPr sz="2800" b="0" dirty="0">
                <a:latin typeface="Arial" panose="020B0604020202020204" pitchFamily="34" charset="0"/>
              </a:rPr>
              <a:t>, which means either one or the other or both.</a:t>
            </a:r>
            <a:endParaRPr sz="2800" b="0" dirty="0">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body" idx="4294967295"/>
          </p:nvPr>
        </p:nvSpPr>
        <p:spPr>
          <a:xfrm>
            <a:off x="2133600" y="1447800"/>
            <a:ext cx="8134350" cy="1504950"/>
          </a:xfrm>
          <a:prstGeom prst="rect">
            <a:avLst/>
          </a:prstGeom>
          <a:noFill/>
          <a:ln w="12700">
            <a:noFill/>
          </a:ln>
        </p:spPr>
        <p:txBody>
          <a:bodyPr lIns="90488" tIns="44450" rIns="90488" bIns="44450"/>
          <a:p>
            <a:pPr>
              <a:lnSpc>
                <a:spcPct val="95000"/>
              </a:lnSpc>
              <a:spcBef>
                <a:spcPct val="0"/>
              </a:spcBef>
              <a:buClr>
                <a:schemeClr val="accent2"/>
              </a:buClr>
              <a:buFont typeface="Wingdings" panose="05000000000000000000" pitchFamily="2" charset="2"/>
              <a:buNone/>
            </a:pPr>
            <a:r>
              <a:rPr sz="3600" b="0" dirty="0">
                <a:solidFill>
                  <a:schemeClr val="hlink"/>
                </a:solidFill>
              </a:rPr>
              <a:t>Compound Event</a:t>
            </a:r>
            <a:r>
              <a:rPr sz="5400" b="0" dirty="0"/>
              <a:t> </a:t>
            </a:r>
            <a:endParaRPr sz="5400" b="0" dirty="0"/>
          </a:p>
          <a:p>
            <a:pPr>
              <a:lnSpc>
                <a:spcPct val="95000"/>
              </a:lnSpc>
              <a:spcBef>
                <a:spcPts val="600"/>
              </a:spcBef>
              <a:buClr>
                <a:schemeClr val="accent2"/>
              </a:buClr>
              <a:buFont typeface="Wingdings" panose="05000000000000000000" pitchFamily="2" charset="2"/>
              <a:buNone/>
            </a:pPr>
            <a:r>
              <a:rPr sz="2800" b="0" dirty="0"/>
              <a:t>any event combining 2 or more simple events</a:t>
            </a:r>
            <a:endParaRPr sz="5400" b="0" dirty="0"/>
          </a:p>
        </p:txBody>
      </p:sp>
      <p:sp>
        <p:nvSpPr>
          <p:cNvPr id="5123" name="Rectangle 3"/>
          <p:cNvSpPr/>
          <p:nvPr/>
        </p:nvSpPr>
        <p:spPr>
          <a:xfrm>
            <a:off x="3848100" y="330200"/>
            <a:ext cx="7319010" cy="704215"/>
          </a:xfrm>
          <a:prstGeom prst="rect">
            <a:avLst/>
          </a:prstGeom>
          <a:noFill/>
          <a:ln w="12700">
            <a:noFill/>
          </a:ln>
        </p:spPr>
        <p:txBody>
          <a:bodyPr wrap="none" lIns="90488" tIns="44450" rIns="90488" bIns="44450">
            <a:spAutoFit/>
          </a:bodyPr>
          <a:p>
            <a:r>
              <a:rPr sz="4000" dirty="0">
                <a:solidFill>
                  <a:srgbClr val="008000"/>
                </a:solidFill>
                <a:latin typeface="Arial" panose="020B0604020202020204" pitchFamily="34" charset="0"/>
              </a:rPr>
              <a:t>Compound Event</a:t>
            </a:r>
            <a:r>
              <a:rPr lang="en-US" sz="4000" dirty="0">
                <a:solidFill>
                  <a:srgbClr val="008000"/>
                </a:solidFill>
                <a:latin typeface="Arial" panose="020B0604020202020204" pitchFamily="34" charset="0"/>
              </a:rPr>
              <a:t> (Biến cố hợp)</a:t>
            </a:r>
            <a:endParaRPr lang="en-US" sz="4000" dirty="0">
              <a:solidFill>
                <a:srgbClr val="008000"/>
              </a:solidFill>
              <a:latin typeface="Arial" panose="020B0604020202020204" pitchFamily="34" charset="0"/>
            </a:endParaRPr>
          </a:p>
        </p:txBody>
      </p:sp>
      <p:sp>
        <p:nvSpPr>
          <p:cNvPr id="5124" name="Text Box 4"/>
          <p:cNvSpPr txBox="1"/>
          <p:nvPr/>
        </p:nvSpPr>
        <p:spPr>
          <a:xfrm>
            <a:off x="2057400" y="3417888"/>
            <a:ext cx="8382000" cy="2172335"/>
          </a:xfrm>
          <a:prstGeom prst="rect">
            <a:avLst/>
          </a:prstGeom>
          <a:noFill/>
          <a:ln w="12700">
            <a:noFill/>
          </a:ln>
        </p:spPr>
        <p:txBody>
          <a:bodyPr>
            <a:spAutoFit/>
          </a:bodyPr>
          <a:p>
            <a:pPr>
              <a:lnSpc>
                <a:spcPct val="95000"/>
              </a:lnSpc>
              <a:spcBef>
                <a:spcPct val="74000"/>
              </a:spcBef>
              <a:spcAft>
                <a:spcPct val="15000"/>
              </a:spcAft>
              <a:buClr>
                <a:schemeClr val="accent2"/>
              </a:buClr>
              <a:buFont typeface="Wingdings" panose="05000000000000000000" pitchFamily="2" charset="2"/>
            </a:pPr>
            <a:r>
              <a:rPr sz="2800" b="0" dirty="0">
                <a:solidFill>
                  <a:schemeClr val="hlink"/>
                </a:solidFill>
                <a:latin typeface="Arial" panose="020B0604020202020204" pitchFamily="34" charset="0"/>
              </a:rPr>
              <a:t>Notation</a:t>
            </a:r>
            <a:r>
              <a:rPr sz="2800" b="0" dirty="0">
                <a:latin typeface="Arial" panose="020B0604020202020204" pitchFamily="34" charset="0"/>
              </a:rPr>
              <a:t> </a:t>
            </a:r>
            <a:endParaRPr sz="2800" b="0" dirty="0">
              <a:latin typeface="Arial" panose="020B0604020202020204" pitchFamily="34" charset="0"/>
            </a:endParaRPr>
          </a:p>
          <a:p>
            <a:pPr>
              <a:lnSpc>
                <a:spcPct val="95000"/>
              </a:lnSpc>
              <a:spcBef>
                <a:spcPct val="15000"/>
              </a:spcBef>
              <a:spcAft>
                <a:spcPct val="15000"/>
              </a:spcAft>
            </a:pPr>
            <a:r>
              <a:rPr sz="2800" b="0" i="1" dirty="0">
                <a:latin typeface="Arial" panose="020B0604020202020204" pitchFamily="34" charset="0"/>
              </a:rPr>
              <a:t>P</a:t>
            </a:r>
            <a:r>
              <a:rPr sz="2800" b="0" dirty="0">
                <a:latin typeface="Arial" panose="020B0604020202020204" pitchFamily="34" charset="0"/>
              </a:rPr>
              <a:t>(</a:t>
            </a:r>
            <a:r>
              <a:rPr sz="2800" b="0" i="1" dirty="0">
                <a:latin typeface="Arial" panose="020B0604020202020204" pitchFamily="34" charset="0"/>
              </a:rPr>
              <a:t>A</a:t>
            </a:r>
            <a:r>
              <a:rPr sz="2800" b="0" dirty="0">
                <a:latin typeface="Arial" panose="020B0604020202020204" pitchFamily="34" charset="0"/>
              </a:rPr>
              <a:t> or</a:t>
            </a:r>
            <a:r>
              <a:rPr sz="2800" b="0" i="1" dirty="0">
                <a:latin typeface="Arial" panose="020B0604020202020204" pitchFamily="34" charset="0"/>
              </a:rPr>
              <a:t> B</a:t>
            </a:r>
            <a:r>
              <a:rPr sz="2800" b="0" dirty="0">
                <a:latin typeface="Arial" panose="020B0604020202020204" pitchFamily="34" charset="0"/>
              </a:rPr>
              <a:t>)  =  </a:t>
            </a:r>
            <a:r>
              <a:rPr sz="2800" b="0" i="1" dirty="0">
                <a:latin typeface="Arial" panose="020B0604020202020204" pitchFamily="34" charset="0"/>
              </a:rPr>
              <a:t>P</a:t>
            </a:r>
            <a:r>
              <a:rPr sz="2800" b="0" dirty="0">
                <a:latin typeface="Arial" panose="020B0604020202020204" pitchFamily="34" charset="0"/>
              </a:rPr>
              <a:t>(in a single trial, event </a:t>
            </a:r>
            <a:r>
              <a:rPr sz="2800" b="0" i="1" dirty="0">
                <a:latin typeface="Arial" panose="020B0604020202020204" pitchFamily="34" charset="0"/>
              </a:rPr>
              <a:t>A</a:t>
            </a:r>
            <a:r>
              <a:rPr sz="2800" b="0" dirty="0">
                <a:latin typeface="Arial" panose="020B0604020202020204" pitchFamily="34" charset="0"/>
              </a:rPr>
              <a:t> occurs or event </a:t>
            </a:r>
            <a:r>
              <a:rPr sz="2800" b="0" i="1" dirty="0">
                <a:latin typeface="Arial" panose="020B0604020202020204" pitchFamily="34" charset="0"/>
              </a:rPr>
              <a:t>B</a:t>
            </a:r>
            <a:r>
              <a:rPr sz="2800" b="0" dirty="0">
                <a:latin typeface="Arial" panose="020B0604020202020204" pitchFamily="34" charset="0"/>
              </a:rPr>
              <a:t> occurs or they both occur)</a:t>
            </a:r>
            <a:endParaRPr sz="2800" b="0" dirty="0">
              <a:latin typeface="Arial" panose="020B0604020202020204" pitchFamily="34" charset="0"/>
            </a:endParaRPr>
          </a:p>
          <a:p>
            <a:pPr>
              <a:spcBef>
                <a:spcPct val="50000"/>
              </a:spcBef>
            </a:pPr>
            <a:endParaRPr sz="2800" b="0" dirty="0">
              <a:latin typeface="Arial" panose="020B0604020202020204" pitchFamily="34" charset="0"/>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body" idx="4294967295"/>
          </p:nvPr>
        </p:nvSpPr>
        <p:spPr>
          <a:xfrm>
            <a:off x="1917700" y="1935163"/>
            <a:ext cx="8247063" cy="3475037"/>
          </a:xfrm>
          <a:prstGeom prst="rect">
            <a:avLst/>
          </a:prstGeom>
          <a:noFill/>
          <a:ln w="12700">
            <a:noFill/>
          </a:ln>
        </p:spPr>
        <p:txBody>
          <a:bodyPr lIns="90488" tIns="44450" rIns="90488" bIns="44450"/>
          <a:p>
            <a:pPr>
              <a:spcBef>
                <a:spcPct val="10000"/>
              </a:spcBef>
              <a:spcAft>
                <a:spcPct val="10000"/>
              </a:spcAft>
              <a:buNone/>
            </a:pPr>
            <a:r>
              <a:rPr sz="2800" b="0" dirty="0"/>
              <a:t>	When finding the probability that event </a:t>
            </a:r>
            <a:r>
              <a:rPr sz="2800" b="0" i="1" dirty="0"/>
              <a:t>A</a:t>
            </a:r>
            <a:r>
              <a:rPr sz="2800" b="0" dirty="0"/>
              <a:t> occurs or event </a:t>
            </a:r>
            <a:r>
              <a:rPr sz="2800" b="0" i="1" dirty="0"/>
              <a:t>B</a:t>
            </a:r>
            <a:r>
              <a:rPr sz="2800" b="0" dirty="0"/>
              <a:t> occurs, find the total number of ways </a:t>
            </a:r>
            <a:r>
              <a:rPr sz="2800" b="0" i="1" dirty="0"/>
              <a:t>A</a:t>
            </a:r>
            <a:r>
              <a:rPr sz="2800" b="0" dirty="0"/>
              <a:t> can occur and the number of ways </a:t>
            </a:r>
            <a:r>
              <a:rPr sz="2800" b="0" i="1" dirty="0"/>
              <a:t>B</a:t>
            </a:r>
            <a:r>
              <a:rPr sz="2800" b="0" dirty="0"/>
              <a:t> can occur, but </a:t>
            </a:r>
            <a:r>
              <a:rPr sz="2800" b="0" dirty="0">
                <a:solidFill>
                  <a:schemeClr val="hlink"/>
                </a:solidFill>
              </a:rPr>
              <a:t>find that total in such a way that no outcome is </a:t>
            </a:r>
            <a:r>
              <a:rPr sz="2800" b="0" dirty="0">
                <a:solidFill>
                  <a:srgbClr val="FF0000"/>
                </a:solidFill>
              </a:rPr>
              <a:t>counted more than once</a:t>
            </a:r>
            <a:r>
              <a:rPr sz="2800" b="0" dirty="0"/>
              <a:t>.</a:t>
            </a:r>
            <a:endParaRPr sz="2800" b="0" dirty="0"/>
          </a:p>
        </p:txBody>
      </p:sp>
      <p:sp>
        <p:nvSpPr>
          <p:cNvPr id="6147" name="Rectangle 3"/>
          <p:cNvSpPr/>
          <p:nvPr/>
        </p:nvSpPr>
        <p:spPr>
          <a:xfrm>
            <a:off x="3872072" y="254000"/>
            <a:ext cx="4471670" cy="1319530"/>
          </a:xfrm>
          <a:prstGeom prst="rect">
            <a:avLst/>
          </a:prstGeom>
          <a:noFill/>
          <a:ln w="12700">
            <a:noFill/>
          </a:ln>
        </p:spPr>
        <p:txBody>
          <a:bodyPr wrap="none" lIns="90488" tIns="44450" rIns="90488" bIns="44450">
            <a:spAutoFit/>
          </a:bodyPr>
          <a:p>
            <a:pPr algn="ctr"/>
            <a:r>
              <a:rPr sz="4000" dirty="0">
                <a:solidFill>
                  <a:srgbClr val="008000"/>
                </a:solidFill>
                <a:latin typeface="Arial" panose="020B0604020202020204" pitchFamily="34" charset="0"/>
              </a:rPr>
              <a:t>General Rule for a </a:t>
            </a:r>
            <a:endParaRPr sz="4000" dirty="0">
              <a:solidFill>
                <a:srgbClr val="008000"/>
              </a:solidFill>
              <a:latin typeface="Arial" panose="020B0604020202020204" pitchFamily="34" charset="0"/>
            </a:endParaRPr>
          </a:p>
          <a:p>
            <a:pPr algn="ctr"/>
            <a:r>
              <a:rPr sz="4000" dirty="0">
                <a:solidFill>
                  <a:srgbClr val="008000"/>
                </a:solidFill>
                <a:latin typeface="Arial" panose="020B0604020202020204" pitchFamily="34" charset="0"/>
              </a:rPr>
              <a:t>Compound Event</a:t>
            </a:r>
            <a:endParaRPr sz="4000" dirty="0">
              <a:solidFill>
                <a:srgbClr val="008000"/>
              </a:solidFill>
              <a:latin typeface="Arial" panose="020B0604020202020204" pitchFamily="34" charset="0"/>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p:nvPr/>
        </p:nvSpPr>
        <p:spPr>
          <a:xfrm>
            <a:off x="2470150" y="254000"/>
            <a:ext cx="7207250" cy="704215"/>
          </a:xfrm>
          <a:prstGeom prst="rect">
            <a:avLst/>
          </a:prstGeom>
          <a:noFill/>
          <a:ln w="12700">
            <a:noFill/>
          </a:ln>
        </p:spPr>
        <p:txBody>
          <a:bodyPr lIns="90488" tIns="44450" rIns="90488" bIns="44450">
            <a:spAutoFit/>
          </a:bodyPr>
          <a:p>
            <a:pPr algn="ctr"/>
            <a:r>
              <a:rPr sz="4000" dirty="0">
                <a:solidFill>
                  <a:srgbClr val="008000"/>
                </a:solidFill>
                <a:latin typeface="Arial" panose="020B0604020202020204" pitchFamily="34" charset="0"/>
              </a:rPr>
              <a:t>Compound Event</a:t>
            </a:r>
            <a:endParaRPr sz="4000" dirty="0">
              <a:solidFill>
                <a:srgbClr val="008000"/>
              </a:solidFill>
              <a:latin typeface="Arial" panose="020B0604020202020204" pitchFamily="34" charset="0"/>
            </a:endParaRPr>
          </a:p>
        </p:txBody>
      </p:sp>
      <p:sp>
        <p:nvSpPr>
          <p:cNvPr id="7171" name="Text Box 4"/>
          <p:cNvSpPr txBox="1"/>
          <p:nvPr/>
        </p:nvSpPr>
        <p:spPr>
          <a:xfrm>
            <a:off x="1905000" y="1625600"/>
            <a:ext cx="8686800" cy="3181350"/>
          </a:xfrm>
          <a:prstGeom prst="rect">
            <a:avLst/>
          </a:prstGeom>
          <a:noFill/>
          <a:ln w="12700">
            <a:noFill/>
          </a:ln>
        </p:spPr>
        <p:txBody>
          <a:bodyPr>
            <a:spAutoFit/>
          </a:bodyPr>
          <a:p>
            <a:pPr>
              <a:lnSpc>
                <a:spcPct val="110000"/>
              </a:lnSpc>
              <a:spcBef>
                <a:spcPct val="15000"/>
              </a:spcBef>
              <a:spcAft>
                <a:spcPct val="15000"/>
              </a:spcAft>
            </a:pPr>
            <a:r>
              <a:rPr sz="3200" b="0" dirty="0">
                <a:solidFill>
                  <a:schemeClr val="hlink"/>
                </a:solidFill>
                <a:latin typeface="Arial" panose="020B0604020202020204" pitchFamily="34" charset="0"/>
              </a:rPr>
              <a:t>Formal Addition Rule</a:t>
            </a:r>
            <a:endParaRPr sz="3200" b="0" dirty="0">
              <a:latin typeface="Arial" panose="020B0604020202020204" pitchFamily="34" charset="0"/>
            </a:endParaRPr>
          </a:p>
          <a:p>
            <a:pPr>
              <a:lnSpc>
                <a:spcPct val="110000"/>
              </a:lnSpc>
              <a:spcAft>
                <a:spcPct val="55000"/>
              </a:spcAft>
            </a:pPr>
            <a:r>
              <a:rPr sz="3200" b="0" i="1" dirty="0">
                <a:latin typeface="Arial" panose="020B0604020202020204" pitchFamily="34" charset="0"/>
              </a:rPr>
              <a:t>P</a:t>
            </a:r>
            <a:r>
              <a:rPr sz="3200" b="0" dirty="0">
                <a:latin typeface="Arial" panose="020B0604020202020204" pitchFamily="34" charset="0"/>
              </a:rPr>
              <a:t>(</a:t>
            </a:r>
            <a:r>
              <a:rPr sz="3200" b="0" i="1" dirty="0">
                <a:latin typeface="Arial" panose="020B0604020202020204" pitchFamily="34" charset="0"/>
              </a:rPr>
              <a:t>A</a:t>
            </a:r>
            <a:r>
              <a:rPr sz="3200" b="0" dirty="0">
                <a:latin typeface="Arial" panose="020B0604020202020204" pitchFamily="34" charset="0"/>
              </a:rPr>
              <a:t> or </a:t>
            </a:r>
            <a:r>
              <a:rPr sz="3200" b="0" i="1" dirty="0">
                <a:latin typeface="Arial" panose="020B0604020202020204" pitchFamily="34" charset="0"/>
              </a:rPr>
              <a:t>B</a:t>
            </a:r>
            <a:r>
              <a:rPr sz="3200" b="0" dirty="0">
                <a:latin typeface="Arial" panose="020B0604020202020204" pitchFamily="34" charset="0"/>
              </a:rPr>
              <a:t>) = </a:t>
            </a:r>
            <a:r>
              <a:rPr sz="3200" b="0" i="1" dirty="0">
                <a:latin typeface="Arial" panose="020B0604020202020204" pitchFamily="34" charset="0"/>
              </a:rPr>
              <a:t>P</a:t>
            </a:r>
            <a:r>
              <a:rPr sz="3200" b="0" dirty="0">
                <a:latin typeface="Arial" panose="020B0604020202020204" pitchFamily="34" charset="0"/>
              </a:rPr>
              <a:t>(</a:t>
            </a:r>
            <a:r>
              <a:rPr sz="3200" b="0" i="1" dirty="0">
                <a:latin typeface="Arial" panose="020B0604020202020204" pitchFamily="34" charset="0"/>
              </a:rPr>
              <a:t>A</a:t>
            </a:r>
            <a:r>
              <a:rPr sz="3200" b="0" dirty="0">
                <a:latin typeface="Arial" panose="020B0604020202020204" pitchFamily="34" charset="0"/>
              </a:rPr>
              <a:t>) + </a:t>
            </a:r>
            <a:r>
              <a:rPr sz="3200" b="0" i="1" dirty="0">
                <a:latin typeface="Arial" panose="020B0604020202020204" pitchFamily="34" charset="0"/>
              </a:rPr>
              <a:t>P</a:t>
            </a:r>
            <a:r>
              <a:rPr sz="3200" b="0" dirty="0">
                <a:latin typeface="Arial" panose="020B0604020202020204" pitchFamily="34" charset="0"/>
              </a:rPr>
              <a:t>(</a:t>
            </a:r>
            <a:r>
              <a:rPr sz="3200" b="0" i="1" dirty="0">
                <a:latin typeface="Arial" panose="020B0604020202020204" pitchFamily="34" charset="0"/>
              </a:rPr>
              <a:t>B</a:t>
            </a:r>
            <a:r>
              <a:rPr sz="3200" b="0" dirty="0">
                <a:latin typeface="Arial" panose="020B0604020202020204" pitchFamily="34" charset="0"/>
              </a:rPr>
              <a:t>) </a:t>
            </a:r>
            <a:r>
              <a:rPr sz="3200" b="0" dirty="0">
                <a:latin typeface="Arial" panose="020B0604020202020204" pitchFamily="34" charset="0"/>
                <a:cs typeface="Arial" panose="020B0604020202020204" pitchFamily="34" charset="0"/>
              </a:rPr>
              <a:t>– </a:t>
            </a:r>
            <a:r>
              <a:rPr sz="3200" b="0" i="1" dirty="0">
                <a:latin typeface="Arial" panose="020B0604020202020204" pitchFamily="34" charset="0"/>
              </a:rPr>
              <a:t>P</a:t>
            </a:r>
            <a:r>
              <a:rPr sz="3200" b="0" dirty="0">
                <a:latin typeface="Arial" panose="020B0604020202020204" pitchFamily="34" charset="0"/>
              </a:rPr>
              <a:t>(</a:t>
            </a:r>
            <a:r>
              <a:rPr sz="3200" b="0" i="1" dirty="0">
                <a:latin typeface="Arial" panose="020B0604020202020204" pitchFamily="34" charset="0"/>
              </a:rPr>
              <a:t>A</a:t>
            </a:r>
            <a:r>
              <a:rPr sz="3200" b="0" dirty="0">
                <a:latin typeface="Arial" panose="020B0604020202020204" pitchFamily="34" charset="0"/>
              </a:rPr>
              <a:t> and </a:t>
            </a:r>
            <a:r>
              <a:rPr sz="3200" b="0" i="1" dirty="0">
                <a:latin typeface="Arial" panose="020B0604020202020204" pitchFamily="34" charset="0"/>
              </a:rPr>
              <a:t>B</a:t>
            </a:r>
            <a:r>
              <a:rPr sz="3200" b="0" dirty="0">
                <a:latin typeface="Arial" panose="020B0604020202020204" pitchFamily="34" charset="0"/>
              </a:rPr>
              <a:t>)</a:t>
            </a:r>
            <a:endParaRPr sz="3200" b="0" dirty="0">
              <a:latin typeface="Arial" panose="020B0604020202020204" pitchFamily="34" charset="0"/>
            </a:endParaRPr>
          </a:p>
          <a:p>
            <a:pPr>
              <a:lnSpc>
                <a:spcPct val="110000"/>
              </a:lnSpc>
              <a:spcAft>
                <a:spcPct val="55000"/>
              </a:spcAft>
            </a:pPr>
            <a:r>
              <a:rPr sz="3200" b="0" dirty="0">
                <a:latin typeface="Arial" panose="020B0604020202020204" pitchFamily="34" charset="0"/>
              </a:rPr>
              <a:t>where </a:t>
            </a:r>
            <a:r>
              <a:rPr sz="3200" b="0" i="1" dirty="0">
                <a:latin typeface="Arial" panose="020B0604020202020204" pitchFamily="34" charset="0"/>
              </a:rPr>
              <a:t>P</a:t>
            </a:r>
            <a:r>
              <a:rPr sz="3200" b="0" dirty="0">
                <a:latin typeface="Arial" panose="020B0604020202020204" pitchFamily="34" charset="0"/>
              </a:rPr>
              <a:t>(</a:t>
            </a:r>
            <a:r>
              <a:rPr sz="3200" b="0" i="1" dirty="0">
                <a:latin typeface="Arial" panose="020B0604020202020204" pitchFamily="34" charset="0"/>
              </a:rPr>
              <a:t>A </a:t>
            </a:r>
            <a:r>
              <a:rPr sz="3200" b="0" dirty="0">
                <a:latin typeface="Arial" panose="020B0604020202020204" pitchFamily="34" charset="0"/>
              </a:rPr>
              <a:t>and </a:t>
            </a:r>
            <a:r>
              <a:rPr sz="3200" b="0" i="1" dirty="0">
                <a:latin typeface="Arial" panose="020B0604020202020204" pitchFamily="34" charset="0"/>
              </a:rPr>
              <a:t>B</a:t>
            </a:r>
            <a:r>
              <a:rPr sz="3200" b="0" dirty="0">
                <a:latin typeface="Arial" panose="020B0604020202020204" pitchFamily="34" charset="0"/>
              </a:rPr>
              <a:t>) denotes the probability that </a:t>
            </a:r>
            <a:r>
              <a:rPr sz="3200" b="0" i="1" dirty="0">
                <a:latin typeface="Arial" panose="020B0604020202020204" pitchFamily="34" charset="0"/>
              </a:rPr>
              <a:t>A</a:t>
            </a:r>
            <a:r>
              <a:rPr sz="3200" b="0" dirty="0">
                <a:latin typeface="Arial" panose="020B0604020202020204" pitchFamily="34" charset="0"/>
              </a:rPr>
              <a:t> and </a:t>
            </a:r>
            <a:r>
              <a:rPr sz="3200" b="0" i="1" dirty="0">
                <a:latin typeface="Arial" panose="020B0604020202020204" pitchFamily="34" charset="0"/>
              </a:rPr>
              <a:t>B</a:t>
            </a:r>
            <a:r>
              <a:rPr sz="3200" b="0" dirty="0">
                <a:latin typeface="Arial" panose="020B0604020202020204" pitchFamily="34" charset="0"/>
              </a:rPr>
              <a:t> both occur at the same time as an outcome in a trial of a procedure.</a:t>
            </a:r>
            <a:endParaRPr sz="3200" b="0" dirty="0">
              <a:latin typeface="Arial" panose="020B0604020202020204" pitchFamily="34" charset="0"/>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194" name="Group 2"/>
          <p:cNvGrpSpPr/>
          <p:nvPr/>
        </p:nvGrpSpPr>
        <p:grpSpPr>
          <a:xfrm>
            <a:off x="1981200" y="254000"/>
            <a:ext cx="8458200" cy="5753100"/>
            <a:chOff x="288" y="160"/>
            <a:chExt cx="5328" cy="3624"/>
          </a:xfrm>
        </p:grpSpPr>
        <p:sp>
          <p:nvSpPr>
            <p:cNvPr id="8195" name="Rectangle 2"/>
            <p:cNvSpPr/>
            <p:nvPr/>
          </p:nvSpPr>
          <p:spPr>
            <a:xfrm>
              <a:off x="596" y="160"/>
              <a:ext cx="4540" cy="444"/>
            </a:xfrm>
            <a:prstGeom prst="rect">
              <a:avLst/>
            </a:prstGeom>
            <a:noFill/>
            <a:ln w="12700">
              <a:noFill/>
            </a:ln>
          </p:spPr>
          <p:txBody>
            <a:bodyPr lIns="90488" tIns="44450" rIns="90488" bIns="44450">
              <a:spAutoFit/>
            </a:bodyPr>
            <a:p>
              <a:pPr algn="ctr"/>
              <a:r>
                <a:rPr sz="4000" dirty="0">
                  <a:solidFill>
                    <a:srgbClr val="008000"/>
                  </a:solidFill>
                  <a:latin typeface="Arial" panose="020B0604020202020204" pitchFamily="34" charset="0"/>
                </a:rPr>
                <a:t>Compound Event</a:t>
              </a:r>
              <a:endParaRPr sz="4000" dirty="0">
                <a:solidFill>
                  <a:srgbClr val="008000"/>
                </a:solidFill>
                <a:latin typeface="Arial" panose="020B0604020202020204" pitchFamily="34" charset="0"/>
              </a:endParaRPr>
            </a:p>
          </p:txBody>
        </p:sp>
        <p:sp>
          <p:nvSpPr>
            <p:cNvPr id="8196" name="Text Box 3"/>
            <p:cNvSpPr txBox="1"/>
            <p:nvPr/>
          </p:nvSpPr>
          <p:spPr>
            <a:xfrm>
              <a:off x="288" y="930"/>
              <a:ext cx="5328" cy="2854"/>
            </a:xfrm>
            <a:prstGeom prst="rect">
              <a:avLst/>
            </a:prstGeom>
            <a:noFill/>
            <a:ln w="12700">
              <a:noFill/>
            </a:ln>
          </p:spPr>
          <p:txBody>
            <a:bodyPr>
              <a:spAutoFit/>
            </a:bodyPr>
            <a:p>
              <a:pPr>
                <a:lnSpc>
                  <a:spcPct val="110000"/>
                </a:lnSpc>
                <a:spcBef>
                  <a:spcPct val="30000"/>
                </a:spcBef>
                <a:spcAft>
                  <a:spcPct val="20000"/>
                </a:spcAft>
              </a:pPr>
              <a:r>
                <a:rPr sz="3200" b="0" dirty="0">
                  <a:solidFill>
                    <a:schemeClr val="hlink"/>
                  </a:solidFill>
                  <a:latin typeface="Arial" panose="020B0604020202020204" pitchFamily="34" charset="0"/>
                </a:rPr>
                <a:t>Intuitive Addition Rule</a:t>
              </a:r>
              <a:endParaRPr sz="3200" b="0" dirty="0">
                <a:latin typeface="Arial" panose="020B0604020202020204" pitchFamily="34" charset="0"/>
              </a:endParaRPr>
            </a:p>
            <a:p>
              <a:pPr>
                <a:lnSpc>
                  <a:spcPct val="110000"/>
                </a:lnSpc>
                <a:spcAft>
                  <a:spcPct val="15000"/>
                </a:spcAft>
              </a:pPr>
              <a:r>
                <a:rPr sz="3200" b="0" dirty="0">
                  <a:latin typeface="Arial" panose="020B0604020202020204" pitchFamily="34" charset="0"/>
                </a:rPr>
                <a:t>To find </a:t>
              </a:r>
              <a:r>
                <a:rPr sz="3200" b="0" i="1" dirty="0">
                  <a:latin typeface="Arial" panose="020B0604020202020204" pitchFamily="34" charset="0"/>
                </a:rPr>
                <a:t>P</a:t>
              </a:r>
              <a:r>
                <a:rPr sz="3200" b="0" dirty="0">
                  <a:latin typeface="Arial" panose="020B0604020202020204" pitchFamily="34" charset="0"/>
                </a:rPr>
                <a:t>(</a:t>
              </a:r>
              <a:r>
                <a:rPr sz="3200" b="0" i="1" dirty="0">
                  <a:latin typeface="Arial" panose="020B0604020202020204" pitchFamily="34" charset="0"/>
                </a:rPr>
                <a:t>A</a:t>
              </a:r>
              <a:r>
                <a:rPr sz="3200" b="0" dirty="0">
                  <a:latin typeface="Arial" panose="020B0604020202020204" pitchFamily="34" charset="0"/>
                </a:rPr>
                <a:t> or </a:t>
              </a:r>
              <a:r>
                <a:rPr sz="3200" b="0" i="1" dirty="0">
                  <a:latin typeface="Arial" panose="020B0604020202020204" pitchFamily="34" charset="0"/>
                </a:rPr>
                <a:t>B</a:t>
              </a:r>
              <a:r>
                <a:rPr sz="3200" b="0" dirty="0">
                  <a:latin typeface="Arial" panose="020B0604020202020204" pitchFamily="34" charset="0"/>
                </a:rPr>
                <a:t>), find the sum of the number of ways event </a:t>
              </a:r>
              <a:r>
                <a:rPr sz="3200" b="0" i="1" dirty="0">
                  <a:latin typeface="Arial" panose="020B0604020202020204" pitchFamily="34" charset="0"/>
                </a:rPr>
                <a:t>A</a:t>
              </a:r>
              <a:r>
                <a:rPr sz="3200" b="0" dirty="0">
                  <a:latin typeface="Arial" panose="020B0604020202020204" pitchFamily="34" charset="0"/>
                </a:rPr>
                <a:t> can occur </a:t>
              </a:r>
              <a:r>
                <a:rPr sz="3200" b="0" dirty="0">
                  <a:solidFill>
                    <a:srgbClr val="FF0000"/>
                  </a:solidFill>
                  <a:latin typeface="Arial" panose="020B0604020202020204" pitchFamily="34" charset="0"/>
                </a:rPr>
                <a:t>and</a:t>
              </a:r>
              <a:r>
                <a:rPr sz="3200" b="0" dirty="0">
                  <a:latin typeface="Arial" panose="020B0604020202020204" pitchFamily="34" charset="0"/>
                </a:rPr>
                <a:t> the number of ways event </a:t>
              </a:r>
              <a:r>
                <a:rPr sz="3200" b="0" i="1" dirty="0">
                  <a:latin typeface="Arial" panose="020B0604020202020204" pitchFamily="34" charset="0"/>
                </a:rPr>
                <a:t>B</a:t>
              </a:r>
              <a:r>
                <a:rPr sz="3200" b="0" dirty="0">
                  <a:latin typeface="Arial" panose="020B0604020202020204" pitchFamily="34" charset="0"/>
                </a:rPr>
                <a:t> can occur, </a:t>
              </a:r>
              <a:r>
                <a:rPr sz="3200" b="0" dirty="0">
                  <a:solidFill>
                    <a:schemeClr val="hlink"/>
                  </a:solidFill>
                  <a:latin typeface="Arial" panose="020B0604020202020204" pitchFamily="34" charset="0"/>
                </a:rPr>
                <a:t>adding in such a way that every outcome is counted only once</a:t>
              </a:r>
              <a:r>
                <a:rPr sz="3200" b="0" dirty="0">
                  <a:latin typeface="Arial" panose="020B0604020202020204" pitchFamily="34" charset="0"/>
                </a:rPr>
                <a:t>.  </a:t>
              </a:r>
              <a:r>
                <a:rPr sz="3200" b="0" i="1" dirty="0">
                  <a:latin typeface="Arial" panose="020B0604020202020204" pitchFamily="34" charset="0"/>
                </a:rPr>
                <a:t>P</a:t>
              </a:r>
              <a:r>
                <a:rPr sz="3200" b="0" dirty="0">
                  <a:latin typeface="Arial" panose="020B0604020202020204" pitchFamily="34" charset="0"/>
                </a:rPr>
                <a:t>(</a:t>
              </a:r>
              <a:r>
                <a:rPr sz="3200" b="0" i="1" dirty="0">
                  <a:latin typeface="Arial" panose="020B0604020202020204" pitchFamily="34" charset="0"/>
                </a:rPr>
                <a:t>A</a:t>
              </a:r>
              <a:r>
                <a:rPr sz="3200" b="0" dirty="0">
                  <a:latin typeface="Arial" panose="020B0604020202020204" pitchFamily="34" charset="0"/>
                </a:rPr>
                <a:t> or </a:t>
              </a:r>
              <a:r>
                <a:rPr sz="3200" b="0" i="1" dirty="0">
                  <a:latin typeface="Arial" panose="020B0604020202020204" pitchFamily="34" charset="0"/>
                </a:rPr>
                <a:t>B</a:t>
              </a:r>
              <a:r>
                <a:rPr sz="3200" b="0" dirty="0">
                  <a:latin typeface="Arial" panose="020B0604020202020204" pitchFamily="34" charset="0"/>
                </a:rPr>
                <a:t>) is equal to that sum, divided by the total number of outcomes in the sample space.</a:t>
              </a:r>
              <a:endParaRPr sz="3200" b="0" dirty="0">
                <a:latin typeface="Arial" panose="020B0604020202020204" pitchFamily="34" charset="0"/>
              </a:endParaRPr>
            </a:p>
          </p:txBody>
        </p:sp>
      </p:gr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type="title" idx="4294967295"/>
          </p:nvPr>
        </p:nvSpPr>
        <p:spPr>
          <a:xfrm>
            <a:off x="1972945" y="241300"/>
            <a:ext cx="8862695" cy="660400"/>
          </a:xfrm>
          <a:prstGeom prst="rect">
            <a:avLst/>
          </a:prstGeom>
          <a:noFill/>
          <a:ln w="9525">
            <a:noFill/>
          </a:ln>
        </p:spPr>
        <p:txBody>
          <a:bodyPr lIns="90488" tIns="44450" rIns="90488" bIns="44450">
            <a:normAutofit fontScale="90000"/>
          </a:bodyPr>
          <a:p>
            <a:r>
              <a:rPr dirty="0"/>
              <a:t>Disjoint or Mutually Exclusive</a:t>
            </a:r>
            <a:r>
              <a:rPr lang="en-US" dirty="0"/>
              <a:t> (xung khắc)</a:t>
            </a:r>
            <a:endParaRPr lang="en-US" dirty="0"/>
          </a:p>
        </p:txBody>
      </p:sp>
      <p:sp>
        <p:nvSpPr>
          <p:cNvPr id="9219" name="Text Box 4"/>
          <p:cNvSpPr txBox="1"/>
          <p:nvPr/>
        </p:nvSpPr>
        <p:spPr>
          <a:xfrm>
            <a:off x="2152650" y="958850"/>
            <a:ext cx="8001000" cy="1476375"/>
          </a:xfrm>
          <a:prstGeom prst="rect">
            <a:avLst/>
          </a:prstGeom>
          <a:noFill/>
          <a:ln w="12700">
            <a:noFill/>
          </a:ln>
        </p:spPr>
        <p:txBody>
          <a:bodyPr>
            <a:spAutoFit/>
          </a:bodyPr>
          <a:p>
            <a:pPr>
              <a:spcBef>
                <a:spcPct val="50000"/>
              </a:spcBef>
            </a:pPr>
            <a:r>
              <a:rPr sz="3000" b="0" dirty="0">
                <a:latin typeface="Arial" panose="020B0604020202020204" pitchFamily="34" charset="0"/>
              </a:rPr>
              <a:t>Events </a:t>
            </a:r>
            <a:r>
              <a:rPr sz="3000" b="0" i="1" dirty="0">
                <a:latin typeface="Arial" panose="020B0604020202020204" pitchFamily="34" charset="0"/>
              </a:rPr>
              <a:t>A</a:t>
            </a:r>
            <a:r>
              <a:rPr sz="3000" b="0" dirty="0">
                <a:latin typeface="Arial" panose="020B0604020202020204" pitchFamily="34" charset="0"/>
              </a:rPr>
              <a:t> and </a:t>
            </a:r>
            <a:r>
              <a:rPr sz="3000" b="0" i="1" dirty="0">
                <a:latin typeface="Arial" panose="020B0604020202020204" pitchFamily="34" charset="0"/>
              </a:rPr>
              <a:t>B</a:t>
            </a:r>
            <a:r>
              <a:rPr sz="3000" b="0" dirty="0">
                <a:latin typeface="Arial" panose="020B0604020202020204" pitchFamily="34" charset="0"/>
              </a:rPr>
              <a:t> are </a:t>
            </a:r>
            <a:r>
              <a:rPr sz="3000" b="0" dirty="0">
                <a:solidFill>
                  <a:schemeClr val="hlink"/>
                </a:solidFill>
                <a:latin typeface="Arial" panose="020B0604020202020204" pitchFamily="34" charset="0"/>
              </a:rPr>
              <a:t>disjoint</a:t>
            </a:r>
            <a:r>
              <a:rPr sz="3000" b="0" dirty="0">
                <a:latin typeface="Arial" panose="020B0604020202020204" pitchFamily="34" charset="0"/>
              </a:rPr>
              <a:t> (or </a:t>
            </a:r>
            <a:r>
              <a:rPr sz="3000" b="0" dirty="0">
                <a:solidFill>
                  <a:schemeClr val="hlink"/>
                </a:solidFill>
                <a:latin typeface="Arial" panose="020B0604020202020204" pitchFamily="34" charset="0"/>
              </a:rPr>
              <a:t>mutually exclusive</a:t>
            </a:r>
            <a:r>
              <a:rPr sz="3000" b="0" dirty="0">
                <a:latin typeface="Arial" panose="020B0604020202020204" pitchFamily="34" charset="0"/>
              </a:rPr>
              <a:t>) if they cannot occur at the same time.  (That is, disjoint events do not overlap.)</a:t>
            </a:r>
            <a:endParaRPr sz="3000" b="0" dirty="0">
              <a:latin typeface="Arial" panose="020B0604020202020204" pitchFamily="34" charset="0"/>
            </a:endParaRPr>
          </a:p>
        </p:txBody>
      </p:sp>
      <p:pic>
        <p:nvPicPr>
          <p:cNvPr id="9220" name="Picture 11" descr="3_04"/>
          <p:cNvPicPr>
            <a:picLocks noChangeAspect="1"/>
          </p:cNvPicPr>
          <p:nvPr/>
        </p:nvPicPr>
        <p:blipFill>
          <a:blip r:embed="rId1"/>
          <a:stretch>
            <a:fillRect/>
          </a:stretch>
        </p:blipFill>
        <p:spPr>
          <a:xfrm>
            <a:off x="2519363" y="2971800"/>
            <a:ext cx="3271837" cy="2817813"/>
          </a:xfrm>
          <a:prstGeom prst="rect">
            <a:avLst/>
          </a:prstGeom>
          <a:noFill/>
          <a:ln w="9525">
            <a:noFill/>
          </a:ln>
        </p:spPr>
      </p:pic>
      <p:pic>
        <p:nvPicPr>
          <p:cNvPr id="9221" name="Picture 12" descr="3_05"/>
          <p:cNvPicPr>
            <a:picLocks noChangeAspect="1"/>
          </p:cNvPicPr>
          <p:nvPr/>
        </p:nvPicPr>
        <p:blipFill>
          <a:blip r:embed="rId2"/>
          <a:stretch>
            <a:fillRect/>
          </a:stretch>
        </p:blipFill>
        <p:spPr>
          <a:xfrm>
            <a:off x="6477000" y="2971800"/>
            <a:ext cx="3271838" cy="2817813"/>
          </a:xfrm>
          <a:prstGeom prst="rect">
            <a:avLst/>
          </a:prstGeom>
          <a:noFill/>
          <a:ln w="9525">
            <a:noFill/>
          </a:ln>
        </p:spPr>
      </p:pic>
      <p:sp>
        <p:nvSpPr>
          <p:cNvPr id="9222" name="Text Box 13"/>
          <p:cNvSpPr txBox="1"/>
          <p:nvPr/>
        </p:nvSpPr>
        <p:spPr>
          <a:xfrm>
            <a:off x="2568575" y="5943600"/>
            <a:ext cx="3352800" cy="521970"/>
          </a:xfrm>
          <a:prstGeom prst="rect">
            <a:avLst/>
          </a:prstGeom>
          <a:noFill/>
          <a:ln w="12700">
            <a:noFill/>
          </a:ln>
        </p:spPr>
        <p:txBody>
          <a:bodyPr>
            <a:spAutoFit/>
          </a:bodyPr>
          <a:p>
            <a:pPr>
              <a:spcBef>
                <a:spcPct val="50000"/>
              </a:spcBef>
            </a:pPr>
            <a:r>
              <a:rPr sz="1400" dirty="0">
                <a:latin typeface="Arial" panose="020B0604020202020204" pitchFamily="34" charset="0"/>
              </a:rPr>
              <a:t>Venn Diagram for Events That Are Not Disjoint</a:t>
            </a:r>
            <a:endParaRPr sz="1400" dirty="0">
              <a:latin typeface="Arial" panose="020B0604020202020204" pitchFamily="34" charset="0"/>
            </a:endParaRPr>
          </a:p>
        </p:txBody>
      </p:sp>
      <p:sp>
        <p:nvSpPr>
          <p:cNvPr id="9223" name="Text Box 14"/>
          <p:cNvSpPr txBox="1"/>
          <p:nvPr/>
        </p:nvSpPr>
        <p:spPr>
          <a:xfrm>
            <a:off x="6705600" y="5943600"/>
            <a:ext cx="3352800" cy="306705"/>
          </a:xfrm>
          <a:prstGeom prst="rect">
            <a:avLst/>
          </a:prstGeom>
          <a:noFill/>
          <a:ln w="12700">
            <a:noFill/>
          </a:ln>
        </p:spPr>
        <p:txBody>
          <a:bodyPr>
            <a:spAutoFit/>
          </a:bodyPr>
          <a:p>
            <a:pPr>
              <a:spcBef>
                <a:spcPct val="50000"/>
              </a:spcBef>
            </a:pPr>
            <a:r>
              <a:rPr sz="1400" dirty="0">
                <a:latin typeface="Arial" panose="020B0604020202020204" pitchFamily="34" charset="0"/>
              </a:rPr>
              <a:t>Venn Diagram for Disjoint Events</a:t>
            </a:r>
            <a:endParaRPr sz="1400" dirty="0">
              <a:latin typeface="Arial" panose="020B0604020202020204" pitchFamily="34" charset="0"/>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idx="4294967295"/>
          </p:nvPr>
        </p:nvSpPr>
        <p:spPr>
          <a:xfrm>
            <a:off x="2133600" y="419100"/>
            <a:ext cx="7924800" cy="838200"/>
          </a:xfrm>
          <a:prstGeom prst="rect">
            <a:avLst/>
          </a:prstGeom>
          <a:noFill/>
          <a:ln w="9525">
            <a:noFill/>
          </a:ln>
        </p:spPr>
        <p:txBody>
          <a:bodyPr lIns="90488" tIns="44450" rIns="90488" bIns="44450"/>
          <a:p>
            <a:r>
              <a:rPr dirty="0"/>
              <a:t>Complementary Events</a:t>
            </a:r>
            <a:endParaRPr dirty="0"/>
          </a:p>
        </p:txBody>
      </p:sp>
      <p:sp>
        <p:nvSpPr>
          <p:cNvPr id="10243" name="Rectangle 3"/>
          <p:cNvSpPr>
            <a:spLocks noGrp="1"/>
          </p:cNvSpPr>
          <p:nvPr>
            <p:ph type="body" idx="4294967295"/>
          </p:nvPr>
        </p:nvSpPr>
        <p:spPr>
          <a:xfrm>
            <a:off x="2330450" y="1981200"/>
            <a:ext cx="7346950" cy="762000"/>
          </a:xfrm>
          <a:prstGeom prst="rect">
            <a:avLst/>
          </a:prstGeom>
          <a:noFill/>
          <a:ln w="12700">
            <a:noFill/>
          </a:ln>
        </p:spPr>
        <p:txBody>
          <a:bodyPr lIns="90488" tIns="44450" rIns="90488" bIns="44450"/>
          <a:p>
            <a:pPr>
              <a:spcBef>
                <a:spcPct val="0"/>
              </a:spcBef>
              <a:buNone/>
            </a:pPr>
            <a:r>
              <a:rPr sz="3200" b="0" i="1" dirty="0"/>
              <a:t>A</a:t>
            </a:r>
            <a:r>
              <a:rPr sz="3200" b="0" dirty="0"/>
              <a:t> and     must be disjoint.</a:t>
            </a:r>
            <a:endParaRPr sz="3200" b="0" dirty="0"/>
          </a:p>
        </p:txBody>
      </p:sp>
      <p:sp>
        <p:nvSpPr>
          <p:cNvPr id="10244" name="Text Box 7"/>
          <p:cNvSpPr txBox="1"/>
          <p:nvPr/>
        </p:nvSpPr>
        <p:spPr>
          <a:xfrm>
            <a:off x="2300288" y="3276600"/>
            <a:ext cx="8001000" cy="1617345"/>
          </a:xfrm>
          <a:prstGeom prst="rect">
            <a:avLst/>
          </a:prstGeom>
          <a:noFill/>
          <a:ln w="12700">
            <a:noFill/>
          </a:ln>
        </p:spPr>
        <p:txBody>
          <a:bodyPr>
            <a:spAutoFit/>
          </a:bodyPr>
          <a:p>
            <a:pPr>
              <a:lnSpc>
                <a:spcPct val="80000"/>
              </a:lnSpc>
              <a:spcBef>
                <a:spcPct val="30000"/>
              </a:spcBef>
            </a:pPr>
            <a:r>
              <a:rPr sz="3200" b="0" dirty="0">
                <a:latin typeface="Arial" panose="020B0604020202020204" pitchFamily="34" charset="0"/>
              </a:rPr>
              <a:t>It is impossible for an event and its complement to occur at the same time.</a:t>
            </a:r>
            <a:endParaRPr sz="3200" b="0" dirty="0">
              <a:latin typeface="Arial" panose="020B0604020202020204" pitchFamily="34" charset="0"/>
            </a:endParaRPr>
          </a:p>
          <a:p>
            <a:pPr>
              <a:spcBef>
                <a:spcPct val="50000"/>
              </a:spcBef>
            </a:pPr>
            <a:endParaRPr sz="3200" b="0" dirty="0">
              <a:solidFill>
                <a:schemeClr val="hlink"/>
              </a:solidFill>
              <a:latin typeface="Arial" panose="020B0604020202020204" pitchFamily="34" charset="0"/>
            </a:endParaRPr>
          </a:p>
        </p:txBody>
      </p:sp>
      <p:graphicFrame>
        <p:nvGraphicFramePr>
          <p:cNvPr id="10245" name="Object 1"/>
          <p:cNvGraphicFramePr>
            <a:graphicFrameLocks noChangeAspect="1"/>
          </p:cNvGraphicFramePr>
          <p:nvPr/>
        </p:nvGraphicFramePr>
        <p:xfrm>
          <a:off x="3416618" y="1981200"/>
          <a:ext cx="292100" cy="444500"/>
        </p:xfrm>
        <a:graphic>
          <a:graphicData uri="http://schemas.openxmlformats.org/presentationml/2006/ole">
            <mc:AlternateContent xmlns:mc="http://schemas.openxmlformats.org/markup-compatibility/2006">
              <mc:Choice xmlns:v="urn:schemas-microsoft-com:vml" Requires="v">
                <p:oleObj spid="_x0000_s3078" name="" r:id="rId1" imgW="292100" imgH="381000" progId="Equation.DSMT4">
                  <p:embed/>
                </p:oleObj>
              </mc:Choice>
              <mc:Fallback>
                <p:oleObj name="" r:id="rId1" imgW="292100" imgH="381000" progId="Equation.DSMT4">
                  <p:embed/>
                  <p:pic>
                    <p:nvPicPr>
                      <p:cNvPr id="0" name="Picture 3077"/>
                      <p:cNvPicPr/>
                      <p:nvPr/>
                    </p:nvPicPr>
                    <p:blipFill>
                      <a:blip r:embed="rId2"/>
                      <a:stretch>
                        <a:fillRect/>
                      </a:stretch>
                    </p:blipFill>
                    <p:spPr>
                      <a:xfrm>
                        <a:off x="3416618" y="1981200"/>
                        <a:ext cx="292100" cy="444500"/>
                      </a:xfrm>
                      <a:prstGeom prst="rect">
                        <a:avLst/>
                      </a:prstGeom>
                      <a:noFill/>
                      <a:ln w="38100">
                        <a:noFill/>
                        <a:miter/>
                      </a:ln>
                    </p:spPr>
                  </p:pic>
                </p:oleObj>
              </mc:Fallback>
            </mc:AlternateContent>
          </a:graphicData>
        </a:graphic>
      </p:graphicFrame>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4"/>
          <p:cNvSpPr>
            <a:spLocks noGrp="1"/>
          </p:cNvSpPr>
          <p:nvPr>
            <p:ph type="title" idx="4294967295"/>
          </p:nvPr>
        </p:nvSpPr>
        <p:spPr>
          <a:xfrm>
            <a:off x="2000250" y="266700"/>
            <a:ext cx="8286750" cy="1143000"/>
          </a:xfrm>
          <a:prstGeom prst="rect">
            <a:avLst/>
          </a:prstGeom>
          <a:noFill/>
          <a:ln w="9525">
            <a:noFill/>
          </a:ln>
        </p:spPr>
        <p:txBody>
          <a:bodyPr lIns="90488" tIns="44450" rIns="90488" bIns="44450">
            <a:normAutofit fontScale="90000"/>
          </a:bodyPr>
          <a:p>
            <a:r>
              <a:rPr dirty="0"/>
              <a:t>Rule of </a:t>
            </a:r>
            <a:br>
              <a:rPr dirty="0"/>
            </a:br>
            <a:r>
              <a:rPr dirty="0"/>
              <a:t>Complementary Events</a:t>
            </a:r>
            <a:endParaRPr dirty="0"/>
          </a:p>
        </p:txBody>
      </p:sp>
      <p:sp>
        <p:nvSpPr>
          <p:cNvPr id="11267" name="Rectangle 5"/>
          <p:cNvSpPr/>
          <p:nvPr/>
        </p:nvSpPr>
        <p:spPr>
          <a:xfrm>
            <a:off x="1620838" y="479425"/>
            <a:ext cx="6324600" cy="914400"/>
          </a:xfrm>
          <a:prstGeom prst="rect">
            <a:avLst/>
          </a:prstGeom>
          <a:noFill/>
          <a:ln w="12700">
            <a:noFill/>
          </a:ln>
        </p:spPr>
        <p:txBody>
          <a:bodyPr wrap="none" anchor="ctr" anchorCtr="0"/>
          <a:p>
            <a:endParaRPr dirty="0">
              <a:latin typeface="Arial" panose="020B0604020202020204" pitchFamily="34" charset="0"/>
            </a:endParaRPr>
          </a:p>
        </p:txBody>
      </p:sp>
      <p:graphicFrame>
        <p:nvGraphicFramePr>
          <p:cNvPr id="11268" name="Object 2"/>
          <p:cNvGraphicFramePr>
            <a:graphicFrameLocks noChangeAspect="1"/>
          </p:cNvGraphicFramePr>
          <p:nvPr/>
        </p:nvGraphicFramePr>
        <p:xfrm>
          <a:off x="4487863" y="2009775"/>
          <a:ext cx="3302000" cy="660400"/>
        </p:xfrm>
        <a:graphic>
          <a:graphicData uri="http://schemas.openxmlformats.org/presentationml/2006/ole">
            <mc:AlternateContent xmlns:mc="http://schemas.openxmlformats.org/markup-compatibility/2006">
              <mc:Choice xmlns:v="urn:schemas-microsoft-com:vml" Requires="v">
                <p:oleObj spid="_x0000_s3079" name="" r:id="rId1" imgW="2286000" imgH="457200" progId="Equation.DSMT4">
                  <p:embed/>
                </p:oleObj>
              </mc:Choice>
              <mc:Fallback>
                <p:oleObj name="" r:id="rId1" imgW="2286000" imgH="457200" progId="Equation.DSMT4">
                  <p:embed/>
                  <p:pic>
                    <p:nvPicPr>
                      <p:cNvPr id="0" name="Picture 3078"/>
                      <p:cNvPicPr/>
                      <p:nvPr/>
                    </p:nvPicPr>
                    <p:blipFill>
                      <a:blip r:embed="rId2"/>
                      <a:stretch>
                        <a:fillRect/>
                      </a:stretch>
                    </p:blipFill>
                    <p:spPr>
                      <a:xfrm>
                        <a:off x="4487863" y="2009775"/>
                        <a:ext cx="3302000" cy="660400"/>
                      </a:xfrm>
                      <a:prstGeom prst="rect">
                        <a:avLst/>
                      </a:prstGeom>
                      <a:noFill/>
                      <a:ln w="38100">
                        <a:noFill/>
                        <a:miter/>
                      </a:ln>
                    </p:spPr>
                  </p:pic>
                </p:oleObj>
              </mc:Fallback>
            </mc:AlternateContent>
          </a:graphicData>
        </a:graphic>
      </p:graphicFrame>
      <p:graphicFrame>
        <p:nvGraphicFramePr>
          <p:cNvPr id="11269" name="Object 3"/>
          <p:cNvGraphicFramePr>
            <a:graphicFrameLocks noChangeAspect="1"/>
          </p:cNvGraphicFramePr>
          <p:nvPr/>
        </p:nvGraphicFramePr>
        <p:xfrm>
          <a:off x="4462463" y="3206750"/>
          <a:ext cx="3263900" cy="660400"/>
        </p:xfrm>
        <a:graphic>
          <a:graphicData uri="http://schemas.openxmlformats.org/presentationml/2006/ole">
            <mc:AlternateContent xmlns:mc="http://schemas.openxmlformats.org/markup-compatibility/2006">
              <mc:Choice xmlns:v="urn:schemas-microsoft-com:vml" Requires="v">
                <p:oleObj spid="_x0000_s3076" name="" r:id="rId3" imgW="2260600" imgH="457200" progId="Equation.DSMT4">
                  <p:embed/>
                </p:oleObj>
              </mc:Choice>
              <mc:Fallback>
                <p:oleObj name="" r:id="rId3" imgW="2260600" imgH="457200" progId="Equation.DSMT4">
                  <p:embed/>
                  <p:pic>
                    <p:nvPicPr>
                      <p:cNvPr id="0" name="Picture 3075"/>
                      <p:cNvPicPr/>
                      <p:nvPr/>
                    </p:nvPicPr>
                    <p:blipFill>
                      <a:blip r:embed="rId4"/>
                      <a:stretch>
                        <a:fillRect/>
                      </a:stretch>
                    </p:blipFill>
                    <p:spPr>
                      <a:xfrm>
                        <a:off x="4462463" y="3206750"/>
                        <a:ext cx="3263900" cy="660400"/>
                      </a:xfrm>
                      <a:prstGeom prst="rect">
                        <a:avLst/>
                      </a:prstGeom>
                      <a:noFill/>
                      <a:ln w="38100">
                        <a:noFill/>
                        <a:miter/>
                      </a:ln>
                    </p:spPr>
                  </p:pic>
                </p:oleObj>
              </mc:Fallback>
            </mc:AlternateContent>
          </a:graphicData>
        </a:graphic>
      </p:graphicFrame>
      <p:graphicFrame>
        <p:nvGraphicFramePr>
          <p:cNvPr id="11270" name="Object 4"/>
          <p:cNvGraphicFramePr>
            <a:graphicFrameLocks noChangeAspect="1"/>
          </p:cNvGraphicFramePr>
          <p:nvPr/>
        </p:nvGraphicFramePr>
        <p:xfrm>
          <a:off x="4391025" y="4389438"/>
          <a:ext cx="3263900" cy="660400"/>
        </p:xfrm>
        <a:graphic>
          <a:graphicData uri="http://schemas.openxmlformats.org/presentationml/2006/ole">
            <mc:AlternateContent xmlns:mc="http://schemas.openxmlformats.org/markup-compatibility/2006">
              <mc:Choice xmlns:v="urn:schemas-microsoft-com:vml" Requires="v">
                <p:oleObj spid="_x0000_s3077" name="" r:id="rId5" imgW="2260600" imgH="457200" progId="Equation.DSMT4">
                  <p:embed/>
                </p:oleObj>
              </mc:Choice>
              <mc:Fallback>
                <p:oleObj name="" r:id="rId5" imgW="2260600" imgH="457200" progId="Equation.DSMT4">
                  <p:embed/>
                  <p:pic>
                    <p:nvPicPr>
                      <p:cNvPr id="0" name="Picture 3076"/>
                      <p:cNvPicPr/>
                      <p:nvPr/>
                    </p:nvPicPr>
                    <p:blipFill>
                      <a:blip r:embed="rId6"/>
                      <a:stretch>
                        <a:fillRect/>
                      </a:stretch>
                    </p:blipFill>
                    <p:spPr>
                      <a:xfrm>
                        <a:off x="4391025" y="4389438"/>
                        <a:ext cx="3263900" cy="660400"/>
                      </a:xfrm>
                      <a:prstGeom prst="rect">
                        <a:avLst/>
                      </a:prstGeom>
                      <a:noFill/>
                      <a:ln w="38100">
                        <a:noFill/>
                        <a:miter/>
                      </a:ln>
                    </p:spPr>
                  </p:pic>
                </p:oleObj>
              </mc:Fallback>
            </mc:AlternateContent>
          </a:graphicData>
        </a:graphic>
      </p:graphicFrame>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idx="4294967295"/>
          </p:nvPr>
        </p:nvSpPr>
        <p:spPr>
          <a:xfrm>
            <a:off x="2590800" y="266700"/>
            <a:ext cx="7010400" cy="1143000"/>
          </a:xfrm>
          <a:prstGeom prst="rect">
            <a:avLst/>
          </a:prstGeom>
          <a:noFill/>
          <a:ln w="9525">
            <a:noFill/>
          </a:ln>
        </p:spPr>
        <p:txBody>
          <a:bodyPr lIns="90488" tIns="44450" rIns="90488" bIns="44450">
            <a:normAutofit fontScale="90000"/>
          </a:bodyPr>
          <a:p>
            <a:r>
              <a:rPr dirty="0"/>
              <a:t>Venn Diagram for the Complement of Event </a:t>
            </a:r>
            <a:r>
              <a:rPr i="1" dirty="0"/>
              <a:t>A</a:t>
            </a:r>
            <a:endParaRPr i="1" dirty="0"/>
          </a:p>
        </p:txBody>
      </p:sp>
      <p:pic>
        <p:nvPicPr>
          <p:cNvPr id="12291" name="Picture 6" descr="3_07"/>
          <p:cNvPicPr>
            <a:picLocks noChangeAspect="1"/>
          </p:cNvPicPr>
          <p:nvPr/>
        </p:nvPicPr>
        <p:blipFill>
          <a:blip r:embed="rId1"/>
          <a:stretch>
            <a:fillRect/>
          </a:stretch>
        </p:blipFill>
        <p:spPr>
          <a:xfrm>
            <a:off x="4789488" y="2209800"/>
            <a:ext cx="2678112" cy="3043238"/>
          </a:xfrm>
          <a:prstGeom prst="rect">
            <a:avLst/>
          </a:prstGeom>
          <a:noFill/>
          <a:ln w="9525">
            <a:noFill/>
          </a:ln>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4"/>
          <p:cNvSpPr/>
          <p:nvPr/>
        </p:nvSpPr>
        <p:spPr>
          <a:xfrm>
            <a:off x="2220913" y="1060133"/>
            <a:ext cx="7772400" cy="601662"/>
          </a:xfrm>
          <a:prstGeom prst="rect">
            <a:avLst/>
          </a:prstGeom>
          <a:noFill/>
          <a:ln w="9525">
            <a:noFill/>
          </a:ln>
        </p:spPr>
        <p:txBody>
          <a:bodyPr/>
          <a:p>
            <a:pPr algn="ctr"/>
            <a:r>
              <a:rPr sz="4000" dirty="0">
                <a:solidFill>
                  <a:srgbClr val="008000"/>
                </a:solidFill>
                <a:latin typeface="Arial" panose="020B0604020202020204" pitchFamily="34" charset="0"/>
              </a:rPr>
              <a:t>Key Concepts</a:t>
            </a:r>
            <a:endParaRPr sz="4000" dirty="0">
              <a:solidFill>
                <a:srgbClr val="008000"/>
              </a:solidFill>
              <a:latin typeface="Arial" panose="020B0604020202020204" pitchFamily="34" charset="0"/>
            </a:endParaRPr>
          </a:p>
        </p:txBody>
      </p:sp>
      <p:sp>
        <p:nvSpPr>
          <p:cNvPr id="4099" name="Text Box 5"/>
          <p:cNvSpPr txBox="1"/>
          <p:nvPr/>
        </p:nvSpPr>
        <p:spPr>
          <a:xfrm>
            <a:off x="2179638" y="1858963"/>
            <a:ext cx="8243887" cy="1383665"/>
          </a:xfrm>
          <a:prstGeom prst="rect">
            <a:avLst/>
          </a:prstGeom>
          <a:noFill/>
          <a:ln w="12700">
            <a:noFill/>
          </a:ln>
        </p:spPr>
        <p:txBody>
          <a:bodyPr>
            <a:spAutoFit/>
          </a:bodyPr>
          <a:p>
            <a:pPr>
              <a:spcBef>
                <a:spcPct val="50000"/>
              </a:spcBef>
            </a:pPr>
            <a:r>
              <a:rPr sz="2800" b="0" dirty="0">
                <a:latin typeface="Arial" panose="020B0604020202020204" pitchFamily="34" charset="0"/>
              </a:rPr>
              <a:t>Probability of “at least one”:</a:t>
            </a:r>
            <a:br>
              <a:rPr sz="2800" b="0" dirty="0">
                <a:latin typeface="Arial" panose="020B0604020202020204" pitchFamily="34" charset="0"/>
              </a:rPr>
            </a:br>
            <a:r>
              <a:rPr sz="2800" b="0" dirty="0">
                <a:latin typeface="Arial" panose="020B0604020202020204" pitchFamily="34" charset="0"/>
              </a:rPr>
              <a:t>Find the probability that among several trials, we get </a:t>
            </a:r>
            <a:r>
              <a:rPr sz="2800" b="0" dirty="0">
                <a:solidFill>
                  <a:schemeClr val="hlink"/>
                </a:solidFill>
                <a:latin typeface="Arial" panose="020B0604020202020204" pitchFamily="34" charset="0"/>
              </a:rPr>
              <a:t>at least one</a:t>
            </a:r>
            <a:r>
              <a:rPr sz="2800" b="0" dirty="0">
                <a:latin typeface="Arial" panose="020B0604020202020204" pitchFamily="34" charset="0"/>
              </a:rPr>
              <a:t> of some specified event.</a:t>
            </a:r>
            <a:endParaRPr sz="2800" b="0" dirty="0">
              <a:latin typeface="Arial" panose="020B0604020202020204" pitchFamily="34" charset="0"/>
            </a:endParaRPr>
          </a:p>
        </p:txBody>
      </p:sp>
      <p:sp>
        <p:nvSpPr>
          <p:cNvPr id="4100" name="Text Box 6"/>
          <p:cNvSpPr txBox="1"/>
          <p:nvPr/>
        </p:nvSpPr>
        <p:spPr>
          <a:xfrm>
            <a:off x="2179638" y="3657600"/>
            <a:ext cx="8243887" cy="1814830"/>
          </a:xfrm>
          <a:prstGeom prst="rect">
            <a:avLst/>
          </a:prstGeom>
          <a:noFill/>
          <a:ln w="12700">
            <a:noFill/>
          </a:ln>
        </p:spPr>
        <p:txBody>
          <a:bodyPr>
            <a:spAutoFit/>
          </a:bodyPr>
          <a:p>
            <a:pPr>
              <a:spcBef>
                <a:spcPct val="50000"/>
              </a:spcBef>
            </a:pPr>
            <a:r>
              <a:rPr sz="2800" b="0" dirty="0">
                <a:latin typeface="Arial" panose="020B0604020202020204" pitchFamily="34" charset="0"/>
              </a:rPr>
              <a:t>Conditional probability:</a:t>
            </a:r>
            <a:br>
              <a:rPr sz="2800" b="0" dirty="0">
                <a:latin typeface="Arial" panose="020B0604020202020204" pitchFamily="34" charset="0"/>
              </a:rPr>
            </a:br>
            <a:r>
              <a:rPr sz="2800" b="0" dirty="0">
                <a:latin typeface="Arial" panose="020B0604020202020204" pitchFamily="34" charset="0"/>
              </a:rPr>
              <a:t>Find the probability of an event when we have additional information that some other event has already occurred.</a:t>
            </a:r>
            <a:endParaRPr sz="2800" b="0" dirty="0">
              <a:latin typeface="Arial" panose="020B0604020202020204" pitchFamily="34" charset="0"/>
            </a:endParaRPr>
          </a:p>
        </p:txBody>
      </p:sp>
      <p:sp>
        <p:nvSpPr>
          <p:cNvPr id="2" name="Rectangle 4"/>
          <p:cNvSpPr/>
          <p:nvPr/>
        </p:nvSpPr>
        <p:spPr>
          <a:xfrm>
            <a:off x="1276350" y="261620"/>
            <a:ext cx="10394315" cy="601345"/>
          </a:xfrm>
          <a:prstGeom prst="rect">
            <a:avLst/>
          </a:prstGeom>
          <a:noFill/>
          <a:ln w="9525">
            <a:noFill/>
          </a:ln>
        </p:spPr>
        <p:txBody>
          <a:bodyPr/>
          <a:p>
            <a:pPr algn="ctr"/>
            <a:r>
              <a:rPr lang="en-US" sz="4000" noProof="0" dirty="0">
                <a:solidFill>
                  <a:schemeClr val="accent6">
                    <a:lumMod val="75000"/>
                  </a:schemeClr>
                </a:solidFill>
                <a:latin typeface="Arial" panose="020B0604020202020204" pitchFamily="34" charset="0"/>
                <a:sym typeface="+mn-ea"/>
              </a:rPr>
              <a:t>3.3. Conditional Probability (XS có điều kiện)</a:t>
            </a:r>
            <a:endParaRPr sz="4000" dirty="0">
              <a:solidFill>
                <a:srgbClr val="008000"/>
              </a:solidFill>
              <a:latin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title" idx="4294967295"/>
          </p:nvPr>
        </p:nvSpPr>
        <p:spPr>
          <a:xfrm>
            <a:off x="1701800" y="304800"/>
            <a:ext cx="8729663" cy="1073150"/>
          </a:xfrm>
          <a:prstGeom prst="rect">
            <a:avLst/>
          </a:prstGeom>
          <a:noFill/>
          <a:ln w="9525">
            <a:noFill/>
          </a:ln>
        </p:spPr>
        <p:txBody>
          <a:bodyPr lIns="90488" tIns="44450" rIns="90488" bIns="44450">
            <a:normAutofit fontScale="90000"/>
          </a:bodyPr>
          <a:p>
            <a:r>
              <a:rPr dirty="0"/>
              <a:t>Complements:  The Probability </a:t>
            </a:r>
            <a:br>
              <a:rPr dirty="0"/>
            </a:br>
            <a:r>
              <a:rPr dirty="0"/>
              <a:t>of “At Least One”</a:t>
            </a:r>
            <a:endParaRPr dirty="0"/>
          </a:p>
        </p:txBody>
      </p:sp>
      <p:sp>
        <p:nvSpPr>
          <p:cNvPr id="5123" name="Rectangle 3"/>
          <p:cNvSpPr/>
          <p:nvPr>
            <p:ph type="body" idx="4294967295"/>
          </p:nvPr>
        </p:nvSpPr>
        <p:spPr>
          <a:xfrm>
            <a:off x="1920875" y="3725863"/>
            <a:ext cx="8420100" cy="1524000"/>
          </a:xfrm>
          <a:prstGeom prst="rect">
            <a:avLst/>
          </a:prstGeom>
          <a:noFill/>
          <a:ln w="12700">
            <a:noFill/>
          </a:ln>
        </p:spPr>
        <p:txBody>
          <a:bodyPr lIns="90488" tIns="44450" rIns="90488" bIns="44450"/>
          <a:p>
            <a:pPr marL="565150" indent="-565150" defTabSz="576580">
              <a:lnSpc>
                <a:spcPct val="95000"/>
              </a:lnSpc>
              <a:spcAft>
                <a:spcPct val="30000"/>
              </a:spcAft>
              <a:buClr>
                <a:schemeClr val="accent2"/>
              </a:buClr>
              <a:buFont typeface="Wingdings" panose="05000000000000000000" pitchFamily="2" charset="2"/>
              <a:buChar char="v"/>
            </a:pPr>
            <a:r>
              <a:rPr sz="2800" b="0" dirty="0"/>
              <a:t>The </a:t>
            </a:r>
            <a:r>
              <a:rPr sz="2800" b="0" dirty="0">
                <a:solidFill>
                  <a:srgbClr val="FF0000"/>
                </a:solidFill>
              </a:rPr>
              <a:t>complement</a:t>
            </a:r>
            <a:r>
              <a:rPr sz="2800" b="0" dirty="0"/>
              <a:t> of getting at least one</a:t>
            </a:r>
            <a:r>
              <a:rPr sz="2800" b="0" dirty="0">
                <a:solidFill>
                  <a:schemeClr val="hlink"/>
                </a:solidFill>
              </a:rPr>
              <a:t> </a:t>
            </a:r>
            <a:r>
              <a:rPr sz="2800" b="0" dirty="0"/>
              <a:t>item of a particular type is that you get </a:t>
            </a:r>
            <a:r>
              <a:rPr sz="2800" b="0" dirty="0">
                <a:solidFill>
                  <a:schemeClr val="hlink"/>
                </a:solidFill>
              </a:rPr>
              <a:t>no </a:t>
            </a:r>
            <a:r>
              <a:rPr sz="2800" b="0" dirty="0"/>
              <a:t>items</a:t>
            </a:r>
            <a:r>
              <a:rPr sz="2800" b="0" dirty="0">
                <a:solidFill>
                  <a:schemeClr val="hlink"/>
                </a:solidFill>
              </a:rPr>
              <a:t> </a:t>
            </a:r>
            <a:r>
              <a:rPr sz="2800" b="0" dirty="0"/>
              <a:t>of that type.</a:t>
            </a:r>
            <a:endParaRPr sz="2800" b="0" dirty="0"/>
          </a:p>
        </p:txBody>
      </p:sp>
      <p:sp>
        <p:nvSpPr>
          <p:cNvPr id="5124" name="Rectangle 4"/>
          <p:cNvSpPr/>
          <p:nvPr/>
        </p:nvSpPr>
        <p:spPr>
          <a:xfrm>
            <a:off x="1920875" y="2133600"/>
            <a:ext cx="8420100" cy="1206500"/>
          </a:xfrm>
          <a:prstGeom prst="rect">
            <a:avLst/>
          </a:prstGeom>
          <a:noFill/>
          <a:ln w="12700">
            <a:noFill/>
          </a:ln>
        </p:spPr>
        <p:txBody>
          <a:bodyPr lIns="90488" tIns="44450" rIns="90488" bIns="44450"/>
          <a:p>
            <a:pPr marL="565150" indent="-565150" defTabSz="576580">
              <a:lnSpc>
                <a:spcPct val="95000"/>
              </a:lnSpc>
              <a:spcBef>
                <a:spcPct val="30000"/>
              </a:spcBef>
              <a:spcAft>
                <a:spcPct val="30000"/>
              </a:spcAft>
              <a:buClr>
                <a:schemeClr val="accent2"/>
              </a:buClr>
              <a:buFont typeface="Wingdings" panose="05000000000000000000" pitchFamily="2" charset="2"/>
              <a:buChar char="v"/>
            </a:pPr>
            <a:r>
              <a:rPr sz="2800" b="0" dirty="0">
                <a:latin typeface="Arial" panose="020B0604020202020204" pitchFamily="34" charset="0"/>
              </a:rPr>
              <a:t>“At least one” is equivalent to “one or more.”</a:t>
            </a:r>
            <a:endParaRPr sz="2800" b="0" dirty="0">
              <a:latin typeface="Arial" panose="020B0604020202020204" pitchFamily="34"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p:nvPr/>
        </p:nvSpPr>
        <p:spPr>
          <a:xfrm>
            <a:off x="2451100" y="209550"/>
            <a:ext cx="7226300" cy="1314450"/>
          </a:xfrm>
          <a:prstGeom prst="rect">
            <a:avLst/>
          </a:prstGeom>
          <a:noFill/>
          <a:ln w="12700">
            <a:noFill/>
          </a:ln>
        </p:spPr>
        <p:txBody>
          <a:bodyPr lIns="90488" tIns="44450" rIns="90488" bIns="44450" anchor="ctr" anchorCtr="0"/>
          <a:p>
            <a:pPr algn="ctr"/>
            <a:r>
              <a:rPr sz="4000" dirty="0">
                <a:solidFill>
                  <a:srgbClr val="008000"/>
                </a:solidFill>
                <a:latin typeface="Arial" panose="020B0604020202020204" pitchFamily="34" charset="0"/>
              </a:rPr>
              <a:t>Finding the Probability </a:t>
            </a:r>
            <a:br>
              <a:rPr sz="4000" dirty="0">
                <a:solidFill>
                  <a:srgbClr val="008000"/>
                </a:solidFill>
                <a:latin typeface="Arial" panose="020B0604020202020204" pitchFamily="34" charset="0"/>
              </a:rPr>
            </a:br>
            <a:r>
              <a:rPr sz="4000" dirty="0">
                <a:solidFill>
                  <a:srgbClr val="008000"/>
                </a:solidFill>
                <a:latin typeface="Arial" panose="020B0604020202020204" pitchFamily="34" charset="0"/>
              </a:rPr>
              <a:t>of “At Least One”</a:t>
            </a:r>
            <a:endParaRPr sz="4000" dirty="0">
              <a:solidFill>
                <a:srgbClr val="008000"/>
              </a:solidFill>
              <a:latin typeface="Arial" panose="020B0604020202020204" pitchFamily="34" charset="0"/>
            </a:endParaRPr>
          </a:p>
        </p:txBody>
      </p:sp>
      <p:sp>
        <p:nvSpPr>
          <p:cNvPr id="6147" name="Text Box 3"/>
          <p:cNvSpPr txBox="1"/>
          <p:nvPr/>
        </p:nvSpPr>
        <p:spPr>
          <a:xfrm>
            <a:off x="2000250" y="2100263"/>
            <a:ext cx="7935913" cy="2061210"/>
          </a:xfrm>
          <a:prstGeom prst="rect">
            <a:avLst/>
          </a:prstGeom>
          <a:noFill/>
          <a:ln w="12700">
            <a:noFill/>
          </a:ln>
        </p:spPr>
        <p:txBody>
          <a:bodyPr>
            <a:spAutoFit/>
          </a:bodyPr>
          <a:p>
            <a:pPr>
              <a:spcBef>
                <a:spcPct val="50000"/>
              </a:spcBef>
            </a:pPr>
            <a:r>
              <a:rPr sz="3200" b="0" dirty="0">
                <a:latin typeface="Arial" panose="020B0604020202020204" pitchFamily="34" charset="0"/>
              </a:rPr>
              <a:t>To find the probability of </a:t>
            </a:r>
            <a:r>
              <a:rPr sz="3200" b="0" dirty="0">
                <a:solidFill>
                  <a:schemeClr val="hlink"/>
                </a:solidFill>
                <a:latin typeface="Arial" panose="020B0604020202020204" pitchFamily="34" charset="0"/>
              </a:rPr>
              <a:t>at least one</a:t>
            </a:r>
            <a:r>
              <a:rPr sz="3200" b="0" dirty="0">
                <a:latin typeface="Arial" panose="020B0604020202020204" pitchFamily="34" charset="0"/>
              </a:rPr>
              <a:t> of something, calculate the probability of </a:t>
            </a:r>
            <a:r>
              <a:rPr sz="3200" b="0" dirty="0">
                <a:solidFill>
                  <a:schemeClr val="hlink"/>
                </a:solidFill>
                <a:latin typeface="Arial" panose="020B0604020202020204" pitchFamily="34" charset="0"/>
              </a:rPr>
              <a:t>none</a:t>
            </a:r>
            <a:r>
              <a:rPr sz="3200" b="0" dirty="0">
                <a:latin typeface="Arial" panose="020B0604020202020204" pitchFamily="34" charset="0"/>
              </a:rPr>
              <a:t> and then subtract that result from 1.  That is,</a:t>
            </a:r>
            <a:endParaRPr sz="3200" b="0" dirty="0">
              <a:latin typeface="Arial" panose="020B0604020202020204" pitchFamily="34" charset="0"/>
            </a:endParaRPr>
          </a:p>
        </p:txBody>
      </p:sp>
      <p:sp>
        <p:nvSpPr>
          <p:cNvPr id="6148" name="Text Box 4"/>
          <p:cNvSpPr txBox="1"/>
          <p:nvPr/>
        </p:nvSpPr>
        <p:spPr>
          <a:xfrm>
            <a:off x="3360738" y="4594225"/>
            <a:ext cx="6264275" cy="583565"/>
          </a:xfrm>
          <a:prstGeom prst="rect">
            <a:avLst/>
          </a:prstGeom>
          <a:noFill/>
          <a:ln w="12700">
            <a:noFill/>
          </a:ln>
        </p:spPr>
        <p:txBody>
          <a:bodyPr>
            <a:spAutoFit/>
          </a:bodyPr>
          <a:p>
            <a:pPr>
              <a:spcBef>
                <a:spcPct val="50000"/>
              </a:spcBef>
            </a:pPr>
            <a:r>
              <a:rPr sz="3200" b="0" i="1" dirty="0">
                <a:solidFill>
                  <a:schemeClr val="hlink"/>
                </a:solidFill>
                <a:latin typeface="Arial" panose="020B0604020202020204" pitchFamily="34" charset="0"/>
              </a:rPr>
              <a:t>P</a:t>
            </a:r>
            <a:r>
              <a:rPr sz="3200" b="0" dirty="0">
                <a:solidFill>
                  <a:schemeClr val="hlink"/>
                </a:solidFill>
                <a:latin typeface="Arial" panose="020B0604020202020204" pitchFamily="34" charset="0"/>
              </a:rPr>
              <a:t>(at least one) = 1 – </a:t>
            </a:r>
            <a:r>
              <a:rPr sz="3200" b="0" i="1" dirty="0">
                <a:solidFill>
                  <a:schemeClr val="hlink"/>
                </a:solidFill>
                <a:latin typeface="Arial" panose="020B0604020202020204" pitchFamily="34" charset="0"/>
              </a:rPr>
              <a:t>P</a:t>
            </a:r>
            <a:r>
              <a:rPr sz="3200" b="0" dirty="0">
                <a:solidFill>
                  <a:schemeClr val="hlink"/>
                </a:solidFill>
                <a:latin typeface="Arial" panose="020B0604020202020204" pitchFamily="34" charset="0"/>
              </a:rPr>
              <a:t>(none).</a:t>
            </a:r>
            <a:endParaRPr sz="3200" b="0" dirty="0">
              <a:solidFill>
                <a:schemeClr val="hlink"/>
              </a:solidFill>
              <a:latin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p:nvPr/>
        </p:nvSpPr>
        <p:spPr>
          <a:xfrm>
            <a:off x="2451100" y="209550"/>
            <a:ext cx="7226300" cy="476250"/>
          </a:xfrm>
          <a:prstGeom prst="rect">
            <a:avLst/>
          </a:prstGeom>
          <a:noFill/>
          <a:ln w="12700">
            <a:noFill/>
          </a:ln>
        </p:spPr>
        <p:txBody>
          <a:bodyPr lIns="90488" tIns="44450" rIns="90488" bIns="44450" anchor="ctr" anchorCtr="0"/>
          <a:p>
            <a:pPr algn="ctr"/>
            <a:r>
              <a:rPr sz="4000" dirty="0">
                <a:solidFill>
                  <a:srgbClr val="008000"/>
                </a:solidFill>
                <a:latin typeface="Arial" panose="020B0604020202020204" pitchFamily="34" charset="0"/>
              </a:rPr>
              <a:t>Example</a:t>
            </a:r>
            <a:endParaRPr sz="4000" dirty="0">
              <a:solidFill>
                <a:srgbClr val="008000"/>
              </a:solidFill>
              <a:latin typeface="Arial" panose="020B0604020202020204" pitchFamily="34" charset="0"/>
            </a:endParaRPr>
          </a:p>
        </p:txBody>
      </p:sp>
      <p:sp>
        <p:nvSpPr>
          <p:cNvPr id="7171" name="Text Box 3"/>
          <p:cNvSpPr txBox="1"/>
          <p:nvPr/>
        </p:nvSpPr>
        <p:spPr>
          <a:xfrm>
            <a:off x="2000250" y="1295400"/>
            <a:ext cx="7935913" cy="3969385"/>
          </a:xfrm>
          <a:prstGeom prst="rect">
            <a:avLst/>
          </a:prstGeom>
          <a:noFill/>
          <a:ln w="12700">
            <a:noFill/>
          </a:ln>
        </p:spPr>
        <p:txBody>
          <a:bodyPr>
            <a:spAutoFit/>
          </a:bodyPr>
          <a:p>
            <a:pPr>
              <a:spcBef>
                <a:spcPct val="50000"/>
              </a:spcBef>
            </a:pPr>
            <a:r>
              <a:rPr sz="2800" b="0" dirty="0">
                <a:latin typeface="Arial" panose="020B0604020202020204" pitchFamily="34" charset="0"/>
              </a:rPr>
              <a:t>Topford supplies X-Data DVDs in lots of 50, and they have a reported defect rate of 0.5% so the probability of a disk being defective is 0.005.  It follows that the probability of a disk being good is 0.995.</a:t>
            </a:r>
            <a:endParaRPr sz="2800" b="0" dirty="0">
              <a:latin typeface="Arial" panose="020B0604020202020204" pitchFamily="34" charset="0"/>
            </a:endParaRPr>
          </a:p>
          <a:p>
            <a:pPr>
              <a:spcBef>
                <a:spcPct val="50000"/>
              </a:spcBef>
            </a:pPr>
            <a:endParaRPr sz="2800" b="0" dirty="0">
              <a:latin typeface="Arial" panose="020B0604020202020204" pitchFamily="34" charset="0"/>
            </a:endParaRPr>
          </a:p>
          <a:p>
            <a:pPr>
              <a:spcBef>
                <a:spcPct val="50000"/>
              </a:spcBef>
            </a:pPr>
            <a:r>
              <a:rPr sz="2800" b="0" dirty="0">
                <a:latin typeface="Arial" panose="020B0604020202020204" pitchFamily="34" charset="0"/>
              </a:rPr>
              <a:t>What is the probability of getting at least one defective disk in a lot of 50?</a:t>
            </a:r>
            <a:endParaRPr sz="2800" b="0" dirty="0">
              <a:latin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p:nvPr/>
        </p:nvSpPr>
        <p:spPr>
          <a:xfrm>
            <a:off x="2451100" y="209550"/>
            <a:ext cx="7226300" cy="476250"/>
          </a:xfrm>
          <a:prstGeom prst="rect">
            <a:avLst/>
          </a:prstGeom>
          <a:noFill/>
          <a:ln w="12700">
            <a:noFill/>
          </a:ln>
        </p:spPr>
        <p:txBody>
          <a:bodyPr lIns="90488" tIns="44450" rIns="90488" bIns="44450" anchor="ctr" anchorCtr="0"/>
          <a:p>
            <a:pPr algn="ctr"/>
            <a:r>
              <a:rPr sz="4000" dirty="0">
                <a:solidFill>
                  <a:srgbClr val="008000"/>
                </a:solidFill>
                <a:latin typeface="Arial" panose="020B0604020202020204" pitchFamily="34" charset="0"/>
              </a:rPr>
              <a:t>Example – continued </a:t>
            </a:r>
            <a:endParaRPr sz="4000" dirty="0">
              <a:solidFill>
                <a:srgbClr val="008000"/>
              </a:solidFill>
              <a:latin typeface="Arial" panose="020B0604020202020204" pitchFamily="34" charset="0"/>
            </a:endParaRPr>
          </a:p>
        </p:txBody>
      </p:sp>
      <p:sp>
        <p:nvSpPr>
          <p:cNvPr id="8195" name="Text Box 3"/>
          <p:cNvSpPr txBox="1"/>
          <p:nvPr/>
        </p:nvSpPr>
        <p:spPr>
          <a:xfrm>
            <a:off x="2000250" y="1295400"/>
            <a:ext cx="7935913" cy="953135"/>
          </a:xfrm>
          <a:prstGeom prst="rect">
            <a:avLst/>
          </a:prstGeom>
          <a:noFill/>
          <a:ln w="12700">
            <a:noFill/>
          </a:ln>
        </p:spPr>
        <p:txBody>
          <a:bodyPr>
            <a:spAutoFit/>
          </a:bodyPr>
          <a:p>
            <a:pPr>
              <a:spcBef>
                <a:spcPct val="50000"/>
              </a:spcBef>
            </a:pPr>
            <a:r>
              <a:rPr sz="2800" b="0" dirty="0">
                <a:latin typeface="Arial" panose="020B0604020202020204" pitchFamily="34" charset="0"/>
              </a:rPr>
              <a:t>What is the probability of getting at least one defective disk in a lot of 50?</a:t>
            </a:r>
            <a:endParaRPr sz="2800" b="0" dirty="0">
              <a:latin typeface="Arial" panose="020B0604020202020204" pitchFamily="34" charset="0"/>
            </a:endParaRPr>
          </a:p>
        </p:txBody>
      </p:sp>
      <p:graphicFrame>
        <p:nvGraphicFramePr>
          <p:cNvPr id="8196" name="Object 2"/>
          <p:cNvGraphicFramePr>
            <a:graphicFrameLocks noChangeAspect="1"/>
          </p:cNvGraphicFramePr>
          <p:nvPr/>
        </p:nvGraphicFramePr>
        <p:xfrm>
          <a:off x="2362200" y="2438400"/>
          <a:ext cx="6838950" cy="2667000"/>
        </p:xfrm>
        <a:graphic>
          <a:graphicData uri="http://schemas.openxmlformats.org/presentationml/2006/ole">
            <mc:AlternateContent xmlns:mc="http://schemas.openxmlformats.org/markup-compatibility/2006">
              <mc:Choice xmlns:v="urn:schemas-microsoft-com:vml" Requires="v">
                <p:oleObj spid="_x0000_s3077" name="" r:id="rId1" imgW="2540000" imgH="990600" progId="Equation.DSMT4">
                  <p:embed/>
                </p:oleObj>
              </mc:Choice>
              <mc:Fallback>
                <p:oleObj name="" r:id="rId1" imgW="2540000" imgH="990600" progId="Equation.DSMT4">
                  <p:embed/>
                  <p:pic>
                    <p:nvPicPr>
                      <p:cNvPr id="0" name="Picture 3076"/>
                      <p:cNvPicPr/>
                      <p:nvPr/>
                    </p:nvPicPr>
                    <p:blipFill>
                      <a:blip r:embed="rId2"/>
                      <a:stretch>
                        <a:fillRect/>
                      </a:stretch>
                    </p:blipFill>
                    <p:spPr>
                      <a:xfrm>
                        <a:off x="2362200" y="2438400"/>
                        <a:ext cx="6838950" cy="2667000"/>
                      </a:xfrm>
                      <a:prstGeom prst="rect">
                        <a:avLst/>
                      </a:prstGeom>
                      <a:noFill/>
                      <a:ln w="38100">
                        <a:noFill/>
                        <a:miter/>
                      </a:ln>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p:nvPr/>
        </p:nvSpPr>
        <p:spPr>
          <a:xfrm>
            <a:off x="2832100" y="314325"/>
            <a:ext cx="6464300" cy="666750"/>
          </a:xfrm>
          <a:prstGeom prst="rect">
            <a:avLst/>
          </a:prstGeom>
          <a:noFill/>
          <a:ln w="12700">
            <a:noFill/>
          </a:ln>
        </p:spPr>
        <p:txBody>
          <a:bodyPr lIns="90488" tIns="44450" rIns="90488" bIns="44450" anchor="ctr" anchorCtr="0"/>
          <a:p>
            <a:pPr algn="ctr"/>
            <a:r>
              <a:rPr sz="4000" dirty="0">
                <a:solidFill>
                  <a:srgbClr val="008000"/>
                </a:solidFill>
                <a:latin typeface="Arial" panose="020B0604020202020204" pitchFamily="34" charset="0"/>
              </a:rPr>
              <a:t>Conditional Probability</a:t>
            </a:r>
            <a:endParaRPr sz="4000" dirty="0">
              <a:solidFill>
                <a:srgbClr val="008000"/>
              </a:solidFill>
              <a:latin typeface="Arial" panose="020B0604020202020204" pitchFamily="34" charset="0"/>
            </a:endParaRPr>
          </a:p>
          <a:p>
            <a:pPr algn="ctr"/>
            <a:r>
              <a:rPr lang="en-US" sz="4000" dirty="0">
                <a:solidFill>
                  <a:srgbClr val="008000"/>
                </a:solidFill>
                <a:latin typeface="Arial" panose="020B0604020202020204" pitchFamily="34" charset="0"/>
              </a:rPr>
              <a:t>(Xác suất có điều kiện)</a:t>
            </a:r>
            <a:endParaRPr lang="en-US" sz="4000" dirty="0">
              <a:solidFill>
                <a:srgbClr val="008000"/>
              </a:solidFill>
              <a:latin typeface="Arial" panose="020B0604020202020204" pitchFamily="34" charset="0"/>
            </a:endParaRPr>
          </a:p>
        </p:txBody>
      </p:sp>
      <p:sp>
        <p:nvSpPr>
          <p:cNvPr id="9219" name="Text Box 4"/>
          <p:cNvSpPr txBox="1"/>
          <p:nvPr/>
        </p:nvSpPr>
        <p:spPr>
          <a:xfrm>
            <a:off x="2139950" y="1305560"/>
            <a:ext cx="8788400" cy="3784600"/>
          </a:xfrm>
          <a:prstGeom prst="rect">
            <a:avLst/>
          </a:prstGeom>
          <a:noFill/>
          <a:ln w="12700">
            <a:noFill/>
          </a:ln>
        </p:spPr>
        <p:txBody>
          <a:bodyPr wrap="square">
            <a:spAutoFit/>
          </a:bodyPr>
          <a:p>
            <a:pPr algn="just">
              <a:spcBef>
                <a:spcPct val="50000"/>
              </a:spcBef>
            </a:pPr>
            <a:r>
              <a:rPr sz="3000" b="0" dirty="0">
                <a:latin typeface="Arial" panose="020B0604020202020204" pitchFamily="34" charset="0"/>
              </a:rPr>
              <a:t>A </a:t>
            </a:r>
            <a:r>
              <a:rPr sz="3000" b="0" dirty="0">
                <a:solidFill>
                  <a:schemeClr val="hlink"/>
                </a:solidFill>
                <a:latin typeface="Arial" panose="020B0604020202020204" pitchFamily="34" charset="0"/>
              </a:rPr>
              <a:t>conditional probability</a:t>
            </a:r>
            <a:r>
              <a:rPr sz="3000" b="0" dirty="0">
                <a:latin typeface="Arial" panose="020B0604020202020204" pitchFamily="34" charset="0"/>
              </a:rPr>
              <a:t> of an event is a probability obtained with the additional information that some other event has already occurred.  </a:t>
            </a:r>
            <a:r>
              <a:rPr sz="3000" b="0" i="1" dirty="0">
                <a:latin typeface="Arial" panose="020B0604020202020204" pitchFamily="34" charset="0"/>
              </a:rPr>
              <a:t>             </a:t>
            </a:r>
            <a:r>
              <a:rPr sz="3000" b="0" dirty="0">
                <a:latin typeface="Arial" panose="020B0604020202020204" pitchFamily="34" charset="0"/>
              </a:rPr>
              <a:t>denotes </a:t>
            </a:r>
            <a:r>
              <a:rPr lang="en-US" sz="3000" b="0" dirty="0">
                <a:latin typeface="Arial" panose="020B0604020202020204" pitchFamily="34" charset="0"/>
              </a:rPr>
              <a:t>             </a:t>
            </a:r>
            <a:r>
              <a:rPr sz="3000" b="0" dirty="0">
                <a:latin typeface="Arial" panose="020B0604020202020204" pitchFamily="34" charset="0"/>
              </a:rPr>
              <a:t>the conditional probability of event </a:t>
            </a:r>
            <a:r>
              <a:rPr sz="3000" b="0" i="1" dirty="0">
                <a:latin typeface="Arial" panose="020B0604020202020204" pitchFamily="34" charset="0"/>
              </a:rPr>
              <a:t>B</a:t>
            </a:r>
            <a:r>
              <a:rPr sz="3000" b="0" dirty="0">
                <a:latin typeface="Arial" panose="020B0604020202020204" pitchFamily="34" charset="0"/>
              </a:rPr>
              <a:t> occurring, given that event </a:t>
            </a:r>
            <a:r>
              <a:rPr sz="3000" b="0" i="1" dirty="0">
                <a:latin typeface="Arial" panose="020B0604020202020204" pitchFamily="34" charset="0"/>
              </a:rPr>
              <a:t>A</a:t>
            </a:r>
            <a:r>
              <a:rPr sz="3000" b="0" dirty="0">
                <a:latin typeface="Arial" panose="020B0604020202020204" pitchFamily="34" charset="0"/>
              </a:rPr>
              <a:t> has already occurred, and it can be found by dividing the probability of events </a:t>
            </a:r>
            <a:r>
              <a:rPr sz="3000" b="0" i="1" dirty="0">
                <a:latin typeface="Arial" panose="020B0604020202020204" pitchFamily="34" charset="0"/>
              </a:rPr>
              <a:t>A</a:t>
            </a:r>
            <a:r>
              <a:rPr sz="3000" b="0" dirty="0">
                <a:latin typeface="Arial" panose="020B0604020202020204" pitchFamily="34" charset="0"/>
              </a:rPr>
              <a:t> and </a:t>
            </a:r>
            <a:r>
              <a:rPr sz="3000" b="0" i="1" dirty="0">
                <a:latin typeface="Arial" panose="020B0604020202020204" pitchFamily="34" charset="0"/>
              </a:rPr>
              <a:t>B</a:t>
            </a:r>
            <a:r>
              <a:rPr sz="3000" b="0" dirty="0">
                <a:latin typeface="Arial" panose="020B0604020202020204" pitchFamily="34" charset="0"/>
              </a:rPr>
              <a:t> both occurring by the probability of event </a:t>
            </a:r>
            <a:r>
              <a:rPr sz="3000" b="0" i="1" dirty="0">
                <a:latin typeface="Arial" panose="020B0604020202020204" pitchFamily="34" charset="0"/>
              </a:rPr>
              <a:t>A</a:t>
            </a:r>
            <a:r>
              <a:rPr sz="3000" b="0" dirty="0">
                <a:latin typeface="Arial" panose="020B0604020202020204" pitchFamily="34" charset="0"/>
              </a:rPr>
              <a:t>:</a:t>
            </a:r>
            <a:endParaRPr sz="3000" b="0" dirty="0">
              <a:latin typeface="Arial" panose="020B0604020202020204" pitchFamily="34" charset="0"/>
            </a:endParaRPr>
          </a:p>
        </p:txBody>
      </p:sp>
      <p:graphicFrame>
        <p:nvGraphicFramePr>
          <p:cNvPr id="9220" name="Object 2"/>
          <p:cNvGraphicFramePr>
            <a:graphicFrameLocks noChangeAspect="1"/>
          </p:cNvGraphicFramePr>
          <p:nvPr/>
        </p:nvGraphicFramePr>
        <p:xfrm>
          <a:off x="3876675" y="2770505"/>
          <a:ext cx="1298575" cy="423863"/>
        </p:xfrm>
        <a:graphic>
          <a:graphicData uri="http://schemas.openxmlformats.org/presentationml/2006/ole">
            <mc:AlternateContent xmlns:mc="http://schemas.openxmlformats.org/markup-compatibility/2006">
              <mc:Choice xmlns:v="urn:schemas-microsoft-com:vml" Requires="v">
                <p:oleObj spid="_x0000_s3079" name="" r:id="rId1" imgW="1205865" imgH="393700" progId="Equation.DSMT4">
                  <p:embed/>
                </p:oleObj>
              </mc:Choice>
              <mc:Fallback>
                <p:oleObj name="" r:id="rId1" imgW="1205865" imgH="393700" progId="Equation.DSMT4">
                  <p:embed/>
                  <p:pic>
                    <p:nvPicPr>
                      <p:cNvPr id="0" name="Picture 3078"/>
                      <p:cNvPicPr/>
                      <p:nvPr/>
                    </p:nvPicPr>
                    <p:blipFill>
                      <a:blip r:embed="rId2"/>
                      <a:stretch>
                        <a:fillRect/>
                      </a:stretch>
                    </p:blipFill>
                    <p:spPr>
                      <a:xfrm>
                        <a:off x="3876675" y="2770505"/>
                        <a:ext cx="1298575" cy="423863"/>
                      </a:xfrm>
                      <a:prstGeom prst="rect">
                        <a:avLst/>
                      </a:prstGeom>
                      <a:noFill/>
                      <a:ln w="38100">
                        <a:noFill/>
                        <a:miter/>
                      </a:ln>
                    </p:spPr>
                  </p:pic>
                </p:oleObj>
              </mc:Fallback>
            </mc:AlternateContent>
          </a:graphicData>
        </a:graphic>
      </p:graphicFrame>
      <p:graphicFrame>
        <p:nvGraphicFramePr>
          <p:cNvPr id="9221" name="Object 3"/>
          <p:cNvGraphicFramePr>
            <a:graphicFrameLocks noChangeAspect="1"/>
          </p:cNvGraphicFramePr>
          <p:nvPr/>
        </p:nvGraphicFramePr>
        <p:xfrm>
          <a:off x="4159885" y="5216208"/>
          <a:ext cx="3527425" cy="971550"/>
        </p:xfrm>
        <a:graphic>
          <a:graphicData uri="http://schemas.openxmlformats.org/presentationml/2006/ole">
            <mc:AlternateContent xmlns:mc="http://schemas.openxmlformats.org/markup-compatibility/2006">
              <mc:Choice xmlns:v="urn:schemas-microsoft-com:vml" Requires="v">
                <p:oleObj spid="_x0000_s3078" name="" r:id="rId3" imgW="3276600" imgH="901700" progId="Equation.DSMT4">
                  <p:embed/>
                </p:oleObj>
              </mc:Choice>
              <mc:Fallback>
                <p:oleObj name="" r:id="rId3" imgW="3276600" imgH="901700" progId="Equation.DSMT4">
                  <p:embed/>
                  <p:pic>
                    <p:nvPicPr>
                      <p:cNvPr id="0" name="Picture 3077"/>
                      <p:cNvPicPr/>
                      <p:nvPr/>
                    </p:nvPicPr>
                    <p:blipFill>
                      <a:blip r:embed="rId4"/>
                      <a:stretch>
                        <a:fillRect/>
                      </a:stretch>
                    </p:blipFill>
                    <p:spPr>
                      <a:xfrm>
                        <a:off x="4159885" y="5216208"/>
                        <a:ext cx="3527425" cy="971550"/>
                      </a:xfrm>
                      <a:prstGeom prst="rect">
                        <a:avLst/>
                      </a:prstGeom>
                      <a:noFill/>
                      <a:ln w="38100">
                        <a:noFill/>
                        <a:miter/>
                      </a:ln>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idx="4294967295"/>
          </p:nvPr>
        </p:nvSpPr>
        <p:spPr>
          <a:xfrm>
            <a:off x="2667000" y="862330"/>
            <a:ext cx="6921500" cy="1068388"/>
          </a:xfrm>
          <a:prstGeom prst="rect">
            <a:avLst/>
          </a:prstGeom>
          <a:noFill/>
          <a:ln w="9525">
            <a:noFill/>
          </a:ln>
        </p:spPr>
        <p:txBody>
          <a:bodyPr lIns="90488" tIns="44450" rIns="90488" bIns="44450">
            <a:normAutofit fontScale="90000"/>
          </a:bodyPr>
          <a:p>
            <a:r>
              <a:rPr dirty="0"/>
              <a:t>Intuitive Approach to </a:t>
            </a:r>
            <a:br>
              <a:rPr dirty="0"/>
            </a:br>
            <a:r>
              <a:rPr dirty="0"/>
              <a:t>Conditional Probability</a:t>
            </a:r>
            <a:endParaRPr dirty="0"/>
          </a:p>
        </p:txBody>
      </p:sp>
      <p:sp>
        <p:nvSpPr>
          <p:cNvPr id="10243" name="Text Box 3"/>
          <p:cNvSpPr txBox="1"/>
          <p:nvPr/>
        </p:nvSpPr>
        <p:spPr>
          <a:xfrm>
            <a:off x="2054225" y="2251075"/>
            <a:ext cx="8154988" cy="2061210"/>
          </a:xfrm>
          <a:prstGeom prst="rect">
            <a:avLst/>
          </a:prstGeom>
          <a:noFill/>
          <a:ln w="12700">
            <a:noFill/>
          </a:ln>
        </p:spPr>
        <p:txBody>
          <a:bodyPr>
            <a:spAutoFit/>
          </a:bodyPr>
          <a:p>
            <a:pPr>
              <a:spcBef>
                <a:spcPct val="50000"/>
              </a:spcBef>
            </a:pPr>
            <a:r>
              <a:rPr sz="3200" b="0" dirty="0">
                <a:latin typeface="Arial" panose="020B0604020202020204" pitchFamily="34" charset="0"/>
              </a:rPr>
              <a:t>The conditional probability of </a:t>
            </a:r>
            <a:r>
              <a:rPr sz="3200" b="0" i="1" dirty="0">
                <a:latin typeface="Arial" panose="020B0604020202020204" pitchFamily="34" charset="0"/>
              </a:rPr>
              <a:t>B</a:t>
            </a:r>
            <a:r>
              <a:rPr sz="3200" b="0" dirty="0">
                <a:latin typeface="Arial" panose="020B0604020202020204" pitchFamily="34" charset="0"/>
              </a:rPr>
              <a:t> given</a:t>
            </a:r>
            <a:r>
              <a:rPr sz="3200" b="0" i="1" dirty="0">
                <a:latin typeface="Arial" panose="020B0604020202020204" pitchFamily="34" charset="0"/>
              </a:rPr>
              <a:t> A</a:t>
            </a:r>
            <a:r>
              <a:rPr sz="3200" b="0" dirty="0">
                <a:latin typeface="Arial" panose="020B0604020202020204" pitchFamily="34" charset="0"/>
              </a:rPr>
              <a:t> can be found by assuming that event </a:t>
            </a:r>
            <a:r>
              <a:rPr sz="3200" b="0" i="1" dirty="0">
                <a:latin typeface="Arial" panose="020B0604020202020204" pitchFamily="34" charset="0"/>
              </a:rPr>
              <a:t>A</a:t>
            </a:r>
            <a:r>
              <a:rPr sz="3200" b="0" dirty="0">
                <a:latin typeface="Arial" panose="020B0604020202020204" pitchFamily="34" charset="0"/>
              </a:rPr>
              <a:t> has occurred and then calculating the probability that event </a:t>
            </a:r>
            <a:r>
              <a:rPr sz="3200" b="0" i="1" dirty="0">
                <a:latin typeface="Arial" panose="020B0604020202020204" pitchFamily="34" charset="0"/>
              </a:rPr>
              <a:t>B</a:t>
            </a:r>
            <a:r>
              <a:rPr sz="3200" b="0" dirty="0">
                <a:latin typeface="Arial" panose="020B0604020202020204" pitchFamily="34" charset="0"/>
              </a:rPr>
              <a:t> will occur.</a:t>
            </a:r>
            <a:endParaRPr sz="3200" b="0" dirty="0">
              <a:latin typeface="Arial" panose="020B0604020202020204" pitchFamily="34"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idx="4294967295"/>
          </p:nvPr>
        </p:nvSpPr>
        <p:spPr>
          <a:xfrm>
            <a:off x="2054225" y="485140"/>
            <a:ext cx="6921500" cy="609600"/>
          </a:xfrm>
          <a:prstGeom prst="rect">
            <a:avLst/>
          </a:prstGeom>
          <a:noFill/>
          <a:ln w="9525">
            <a:noFill/>
          </a:ln>
        </p:spPr>
        <p:txBody>
          <a:bodyPr lIns="90488" tIns="44450" rIns="90488" bIns="44450">
            <a:normAutofit fontScale="90000"/>
          </a:bodyPr>
          <a:p>
            <a:r>
              <a:rPr dirty="0"/>
              <a:t>Example</a:t>
            </a:r>
            <a:endParaRPr dirty="0"/>
          </a:p>
        </p:txBody>
      </p:sp>
      <p:sp>
        <p:nvSpPr>
          <p:cNvPr id="11267" name="Text Box 3"/>
          <p:cNvSpPr txBox="1"/>
          <p:nvPr/>
        </p:nvSpPr>
        <p:spPr>
          <a:xfrm>
            <a:off x="2054225" y="1219200"/>
            <a:ext cx="8154988" cy="1383665"/>
          </a:xfrm>
          <a:prstGeom prst="rect">
            <a:avLst/>
          </a:prstGeom>
          <a:noFill/>
          <a:ln w="12700">
            <a:noFill/>
          </a:ln>
        </p:spPr>
        <p:txBody>
          <a:bodyPr>
            <a:spAutoFit/>
          </a:bodyPr>
          <a:p>
            <a:pPr>
              <a:spcBef>
                <a:spcPct val="50000"/>
              </a:spcBef>
            </a:pPr>
            <a:r>
              <a:rPr sz="2800" b="0" dirty="0">
                <a:latin typeface="Arial" panose="020B0604020202020204" pitchFamily="34" charset="0"/>
              </a:rPr>
              <a:t>Refer to the table to find the probability that a subject actually uses drugs, given that he or she had a positive test result.</a:t>
            </a:r>
            <a:endParaRPr sz="2800" b="0" dirty="0">
              <a:latin typeface="Arial" panose="020B0604020202020204" pitchFamily="34" charset="0"/>
            </a:endParaRPr>
          </a:p>
        </p:txBody>
      </p:sp>
      <p:graphicFrame>
        <p:nvGraphicFramePr>
          <p:cNvPr id="4" name="Table 3"/>
          <p:cNvGraphicFramePr>
            <a:graphicFrameLocks noGrp="1"/>
          </p:cNvGraphicFramePr>
          <p:nvPr/>
        </p:nvGraphicFramePr>
        <p:xfrm>
          <a:off x="1981200" y="2590800"/>
          <a:ext cx="8305800" cy="1676400"/>
        </p:xfrm>
        <a:graphic>
          <a:graphicData uri="http://schemas.openxmlformats.org/drawingml/2006/table">
            <a:tbl>
              <a:tblPr firstRow="1" bandRow="1">
                <a:tableStyleId>{5940675A-B579-460E-94D1-54222C63F5DA}</a:tableStyleId>
              </a:tblPr>
              <a:tblGrid>
                <a:gridCol w="2768600"/>
                <a:gridCol w="2768600"/>
                <a:gridCol w="2768600"/>
              </a:tblGrid>
              <a:tr h="449916">
                <a:tc>
                  <a:txBody>
                    <a:bodyPr/>
                    <a:lstStyle/>
                    <a:p>
                      <a:pPr algn="ctr"/>
                      <a:endParaRPr lang="en-US" dirty="0"/>
                    </a:p>
                  </a:txBody>
                  <a:tcPr anchor="ctr"/>
                </a:tc>
                <a:tc>
                  <a:txBody>
                    <a:bodyPr/>
                    <a:lstStyle/>
                    <a:p>
                      <a:pPr algn="ctr"/>
                      <a:r>
                        <a:rPr lang="en-US" dirty="0" smtClean="0"/>
                        <a:t>Positive</a:t>
                      </a:r>
                      <a:r>
                        <a:rPr lang="en-US" baseline="0" dirty="0" smtClean="0"/>
                        <a:t> Drug Test</a:t>
                      </a:r>
                      <a:endParaRPr lang="en-US" dirty="0"/>
                    </a:p>
                  </a:txBody>
                  <a:tcPr anchor="ctr"/>
                </a:tc>
                <a:tc>
                  <a:txBody>
                    <a:bodyPr/>
                    <a:lstStyle/>
                    <a:p>
                      <a:pPr algn="ctr"/>
                      <a:r>
                        <a:rPr lang="en-US" dirty="0" smtClean="0"/>
                        <a:t>Negative Drug Test</a:t>
                      </a:r>
                      <a:endParaRPr lang="en-US" dirty="0"/>
                    </a:p>
                  </a:txBody>
                  <a:tcPr anchor="ctr"/>
                </a:tc>
              </a:tr>
              <a:tr h="449916">
                <a:tc>
                  <a:txBody>
                    <a:bodyPr/>
                    <a:lstStyle/>
                    <a:p>
                      <a:pPr algn="ctr"/>
                      <a:r>
                        <a:rPr lang="en-US" dirty="0" smtClean="0"/>
                        <a:t>Subject Uses Drugs</a:t>
                      </a:r>
                      <a:endParaRPr lang="en-US" dirty="0"/>
                    </a:p>
                  </a:txBody>
                  <a:tcPr anchor="ctr"/>
                </a:tc>
                <a:tc>
                  <a:txBody>
                    <a:bodyPr/>
                    <a:lstStyle/>
                    <a:p>
                      <a:pPr algn="ctr"/>
                      <a:r>
                        <a:rPr lang="en-US" dirty="0" smtClean="0"/>
                        <a:t>44 (True Positive)</a:t>
                      </a:r>
                      <a:endParaRPr lang="en-US" dirty="0"/>
                    </a:p>
                  </a:txBody>
                  <a:tcPr anchor="ctr"/>
                </a:tc>
                <a:tc>
                  <a:txBody>
                    <a:bodyPr/>
                    <a:lstStyle/>
                    <a:p>
                      <a:pPr algn="ctr"/>
                      <a:r>
                        <a:rPr lang="en-US" dirty="0" smtClean="0"/>
                        <a:t>6 (False Negative)</a:t>
                      </a:r>
                      <a:endParaRPr lang="en-US" dirty="0"/>
                    </a:p>
                  </a:txBody>
                  <a:tcPr anchor="ctr"/>
                </a:tc>
              </a:tr>
              <a:tr h="776568">
                <a:tc>
                  <a:txBody>
                    <a:bodyPr/>
                    <a:lstStyle/>
                    <a:p>
                      <a:pPr algn="ctr"/>
                      <a:r>
                        <a:rPr lang="en-US" dirty="0" smtClean="0"/>
                        <a:t>Subject Does</a:t>
                      </a:r>
                      <a:r>
                        <a:rPr lang="en-US" baseline="0" dirty="0" smtClean="0"/>
                        <a:t> </a:t>
                      </a:r>
                      <a:endParaRPr lang="en-US" baseline="0" dirty="0" smtClean="0"/>
                    </a:p>
                    <a:p>
                      <a:pPr algn="ctr"/>
                      <a:r>
                        <a:rPr lang="en-US" baseline="0" dirty="0" smtClean="0"/>
                        <a:t>Not Use Drugs</a:t>
                      </a:r>
                      <a:endParaRPr lang="en-US" dirty="0"/>
                    </a:p>
                  </a:txBody>
                  <a:tcPr anchor="ctr"/>
                </a:tc>
                <a:tc>
                  <a:txBody>
                    <a:bodyPr/>
                    <a:lstStyle/>
                    <a:p>
                      <a:pPr algn="ctr"/>
                      <a:r>
                        <a:rPr lang="en-US" dirty="0" smtClean="0"/>
                        <a:t>90</a:t>
                      </a:r>
                      <a:r>
                        <a:rPr lang="en-US" baseline="0" dirty="0" smtClean="0"/>
                        <a:t> (False Positive)</a:t>
                      </a:r>
                      <a:endParaRPr lang="en-US" dirty="0"/>
                    </a:p>
                  </a:txBody>
                  <a:tcPr anchor="ctr"/>
                </a:tc>
                <a:tc>
                  <a:txBody>
                    <a:bodyPr/>
                    <a:lstStyle/>
                    <a:p>
                      <a:pPr algn="ctr"/>
                      <a:r>
                        <a:rPr lang="en-US" dirty="0" smtClean="0"/>
                        <a:t>860 (True</a:t>
                      </a:r>
                      <a:r>
                        <a:rPr lang="en-US" baseline="0" dirty="0" smtClean="0"/>
                        <a:t> Negative)</a:t>
                      </a:r>
                      <a:endParaRPr lang="en-US" dirty="0"/>
                    </a:p>
                  </a:txBody>
                  <a:tcPr anchor="ctr"/>
                </a:tc>
              </a:tr>
            </a:tbl>
          </a:graphicData>
        </a:graphic>
      </p:graphicFrame>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idx="4294967295"/>
          </p:nvPr>
        </p:nvSpPr>
        <p:spPr>
          <a:xfrm>
            <a:off x="2667000" y="304800"/>
            <a:ext cx="6921500" cy="609600"/>
          </a:xfrm>
          <a:prstGeom prst="rect">
            <a:avLst/>
          </a:prstGeom>
          <a:noFill/>
          <a:ln w="9525">
            <a:noFill/>
          </a:ln>
        </p:spPr>
        <p:txBody>
          <a:bodyPr lIns="90488" tIns="44450" rIns="90488" bIns="44450">
            <a:normAutofit fontScale="90000"/>
          </a:bodyPr>
          <a:p>
            <a:r>
              <a:rPr dirty="0"/>
              <a:t>Example - continued</a:t>
            </a:r>
            <a:endParaRPr dirty="0"/>
          </a:p>
        </p:txBody>
      </p:sp>
      <p:graphicFrame>
        <p:nvGraphicFramePr>
          <p:cNvPr id="4" name="Table 3"/>
          <p:cNvGraphicFramePr>
            <a:graphicFrameLocks noGrp="1"/>
          </p:cNvGraphicFramePr>
          <p:nvPr/>
        </p:nvGraphicFramePr>
        <p:xfrm>
          <a:off x="1905000" y="1066800"/>
          <a:ext cx="8305800" cy="1676400"/>
        </p:xfrm>
        <a:graphic>
          <a:graphicData uri="http://schemas.openxmlformats.org/drawingml/2006/table">
            <a:tbl>
              <a:tblPr firstRow="1" bandRow="1">
                <a:tableStyleId>{5940675A-B579-460E-94D1-54222C63F5DA}</a:tableStyleId>
              </a:tblPr>
              <a:tblGrid>
                <a:gridCol w="2768600"/>
                <a:gridCol w="2768600"/>
                <a:gridCol w="2768600"/>
              </a:tblGrid>
              <a:tr h="449916">
                <a:tc>
                  <a:txBody>
                    <a:bodyPr/>
                    <a:lstStyle/>
                    <a:p>
                      <a:pPr algn="ctr"/>
                      <a:endParaRPr lang="en-US" dirty="0"/>
                    </a:p>
                  </a:txBody>
                  <a:tcPr anchor="ctr"/>
                </a:tc>
                <a:tc>
                  <a:txBody>
                    <a:bodyPr/>
                    <a:lstStyle/>
                    <a:p>
                      <a:pPr algn="ctr"/>
                      <a:r>
                        <a:rPr lang="en-US" dirty="0" smtClean="0"/>
                        <a:t>Positive</a:t>
                      </a:r>
                      <a:r>
                        <a:rPr lang="en-US" baseline="0" dirty="0" smtClean="0"/>
                        <a:t> Drug Test</a:t>
                      </a:r>
                      <a:endParaRPr lang="en-US" dirty="0"/>
                    </a:p>
                  </a:txBody>
                  <a:tcPr anchor="ctr"/>
                </a:tc>
                <a:tc>
                  <a:txBody>
                    <a:bodyPr/>
                    <a:lstStyle/>
                    <a:p>
                      <a:pPr algn="ctr"/>
                      <a:r>
                        <a:rPr lang="en-US" dirty="0" smtClean="0"/>
                        <a:t>Negative Drug Test</a:t>
                      </a:r>
                      <a:endParaRPr lang="en-US" dirty="0"/>
                    </a:p>
                  </a:txBody>
                  <a:tcPr anchor="ctr"/>
                </a:tc>
              </a:tr>
              <a:tr h="449916">
                <a:tc>
                  <a:txBody>
                    <a:bodyPr/>
                    <a:lstStyle/>
                    <a:p>
                      <a:pPr algn="ctr"/>
                      <a:r>
                        <a:rPr lang="en-US" dirty="0" smtClean="0"/>
                        <a:t>Subject Uses Drugs</a:t>
                      </a:r>
                      <a:endParaRPr lang="en-US" dirty="0"/>
                    </a:p>
                  </a:txBody>
                  <a:tcPr anchor="ctr"/>
                </a:tc>
                <a:tc>
                  <a:txBody>
                    <a:bodyPr/>
                    <a:lstStyle/>
                    <a:p>
                      <a:pPr algn="ctr"/>
                      <a:r>
                        <a:rPr lang="en-US" dirty="0" smtClean="0"/>
                        <a:t>44 (True Positive)</a:t>
                      </a:r>
                      <a:endParaRPr lang="en-US" dirty="0"/>
                    </a:p>
                  </a:txBody>
                  <a:tcPr anchor="ctr"/>
                </a:tc>
                <a:tc>
                  <a:txBody>
                    <a:bodyPr/>
                    <a:lstStyle/>
                    <a:p>
                      <a:pPr algn="ctr"/>
                      <a:r>
                        <a:rPr lang="en-US" dirty="0" smtClean="0"/>
                        <a:t>6 (False Negative)</a:t>
                      </a:r>
                      <a:endParaRPr lang="en-US" dirty="0"/>
                    </a:p>
                  </a:txBody>
                  <a:tcPr anchor="ctr"/>
                </a:tc>
              </a:tr>
              <a:tr h="776568">
                <a:tc>
                  <a:txBody>
                    <a:bodyPr/>
                    <a:lstStyle/>
                    <a:p>
                      <a:pPr algn="ctr"/>
                      <a:r>
                        <a:rPr lang="en-US" dirty="0" smtClean="0"/>
                        <a:t>Subject Does</a:t>
                      </a:r>
                      <a:r>
                        <a:rPr lang="en-US" baseline="0" dirty="0" smtClean="0"/>
                        <a:t> </a:t>
                      </a:r>
                      <a:endParaRPr lang="en-US" baseline="0" dirty="0" smtClean="0"/>
                    </a:p>
                    <a:p>
                      <a:pPr algn="ctr"/>
                      <a:r>
                        <a:rPr lang="en-US" baseline="0" dirty="0" smtClean="0"/>
                        <a:t>Not Use Drugs</a:t>
                      </a:r>
                      <a:endParaRPr lang="en-US" dirty="0"/>
                    </a:p>
                  </a:txBody>
                  <a:tcPr anchor="ctr"/>
                </a:tc>
                <a:tc>
                  <a:txBody>
                    <a:bodyPr/>
                    <a:lstStyle/>
                    <a:p>
                      <a:pPr algn="ctr"/>
                      <a:r>
                        <a:rPr lang="en-US" dirty="0" smtClean="0"/>
                        <a:t>90</a:t>
                      </a:r>
                      <a:r>
                        <a:rPr lang="en-US" baseline="0" dirty="0" smtClean="0"/>
                        <a:t> (False Positive)</a:t>
                      </a:r>
                      <a:endParaRPr lang="en-US" dirty="0"/>
                    </a:p>
                  </a:txBody>
                  <a:tcPr anchor="ctr"/>
                </a:tc>
                <a:tc>
                  <a:txBody>
                    <a:bodyPr/>
                    <a:lstStyle/>
                    <a:p>
                      <a:pPr algn="ctr"/>
                      <a:r>
                        <a:rPr lang="en-US" dirty="0" smtClean="0"/>
                        <a:t>860 (True</a:t>
                      </a:r>
                      <a:r>
                        <a:rPr lang="en-US" baseline="0" dirty="0" smtClean="0"/>
                        <a:t> Negative)</a:t>
                      </a:r>
                      <a:endParaRPr lang="en-US" dirty="0"/>
                    </a:p>
                  </a:txBody>
                  <a:tcPr anchor="ctr"/>
                </a:tc>
              </a:tr>
            </a:tbl>
          </a:graphicData>
        </a:graphic>
      </p:graphicFrame>
      <p:graphicFrame>
        <p:nvGraphicFramePr>
          <p:cNvPr id="12309" name="Object 2"/>
          <p:cNvGraphicFramePr>
            <a:graphicFrameLocks noChangeAspect="1"/>
          </p:cNvGraphicFramePr>
          <p:nvPr/>
        </p:nvGraphicFramePr>
        <p:xfrm>
          <a:off x="2590800" y="3200400"/>
          <a:ext cx="7397750" cy="2590800"/>
        </p:xfrm>
        <a:graphic>
          <a:graphicData uri="http://schemas.openxmlformats.org/presentationml/2006/ole">
            <mc:AlternateContent xmlns:mc="http://schemas.openxmlformats.org/markup-compatibility/2006">
              <mc:Choice xmlns:v="urn:schemas-microsoft-com:vml" Requires="v">
                <p:oleObj spid="_x0000_s3081" name="" r:id="rId1" imgW="3848100" imgH="1308100" progId="Equation.DSMT4">
                  <p:embed/>
                </p:oleObj>
              </mc:Choice>
              <mc:Fallback>
                <p:oleObj name="" r:id="rId1" imgW="3848100" imgH="1308100" progId="Equation.DSMT4">
                  <p:embed/>
                  <p:pic>
                    <p:nvPicPr>
                      <p:cNvPr id="0" name="Picture 3080"/>
                      <p:cNvPicPr/>
                      <p:nvPr/>
                    </p:nvPicPr>
                    <p:blipFill>
                      <a:blip r:embed="rId2"/>
                      <a:stretch>
                        <a:fillRect/>
                      </a:stretch>
                    </p:blipFill>
                    <p:spPr>
                      <a:xfrm>
                        <a:off x="2590800" y="3200400"/>
                        <a:ext cx="7397750" cy="2590800"/>
                      </a:xfrm>
                      <a:prstGeom prst="rect">
                        <a:avLst/>
                      </a:prstGeom>
                      <a:noFill/>
                      <a:ln w="38100">
                        <a:noFill/>
                        <a:miter/>
                      </a:ln>
                    </p:spPr>
                  </p:pic>
                </p:oleObj>
              </mc:Fallback>
            </mc:AlternateContent>
          </a:graphicData>
        </a:graphic>
      </p:graphicFrame>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idx="4294967295"/>
          </p:nvPr>
        </p:nvSpPr>
        <p:spPr>
          <a:xfrm>
            <a:off x="2159000" y="468630"/>
            <a:ext cx="6921500" cy="1068388"/>
          </a:xfrm>
          <a:prstGeom prst="rect">
            <a:avLst/>
          </a:prstGeom>
          <a:noFill/>
          <a:ln w="9525">
            <a:noFill/>
          </a:ln>
        </p:spPr>
        <p:txBody>
          <a:bodyPr lIns="90488" tIns="44450" rIns="90488" bIns="44450"/>
          <a:p>
            <a:r>
              <a:rPr dirty="0"/>
              <a:t>Confusion of the Inverse</a:t>
            </a:r>
            <a:endParaRPr dirty="0"/>
          </a:p>
        </p:txBody>
      </p:sp>
      <p:sp>
        <p:nvSpPr>
          <p:cNvPr id="13315" name="Text Box 3"/>
          <p:cNvSpPr txBox="1"/>
          <p:nvPr/>
        </p:nvSpPr>
        <p:spPr>
          <a:xfrm>
            <a:off x="2054225" y="2251075"/>
            <a:ext cx="8154988" cy="2061210"/>
          </a:xfrm>
          <a:prstGeom prst="rect">
            <a:avLst/>
          </a:prstGeom>
          <a:noFill/>
          <a:ln w="12700">
            <a:noFill/>
          </a:ln>
        </p:spPr>
        <p:txBody>
          <a:bodyPr>
            <a:spAutoFit/>
          </a:bodyPr>
          <a:p>
            <a:pPr>
              <a:spcBef>
                <a:spcPct val="50000"/>
              </a:spcBef>
            </a:pPr>
            <a:r>
              <a:rPr sz="3200" b="0" dirty="0">
                <a:latin typeface="Arial" panose="020B0604020202020204" pitchFamily="34" charset="0"/>
              </a:rPr>
              <a:t>To incorrectly believe that </a:t>
            </a:r>
            <a:r>
              <a:rPr sz="3200" b="0" i="1" dirty="0">
                <a:latin typeface="Arial" panose="020B0604020202020204" pitchFamily="34" charset="0"/>
              </a:rPr>
              <a:t>             </a:t>
            </a:r>
            <a:r>
              <a:rPr sz="3200" b="0" dirty="0">
                <a:latin typeface="Arial" panose="020B0604020202020204" pitchFamily="34" charset="0"/>
              </a:rPr>
              <a:t>and </a:t>
            </a:r>
            <a:r>
              <a:rPr sz="3200" b="0" i="1" dirty="0">
                <a:latin typeface="Arial" panose="020B0604020202020204" pitchFamily="34" charset="0"/>
              </a:rPr>
              <a:t>         </a:t>
            </a:r>
            <a:r>
              <a:rPr sz="3200" b="0" dirty="0">
                <a:latin typeface="Arial" panose="020B0604020202020204" pitchFamily="34" charset="0"/>
              </a:rPr>
              <a:t>    	   are the same, or to incorrectly use one value for the other, is often called </a:t>
            </a:r>
            <a:r>
              <a:rPr sz="3200" b="0" dirty="0">
                <a:solidFill>
                  <a:srgbClr val="FF0000"/>
                </a:solidFill>
                <a:latin typeface="Arial" panose="020B0604020202020204" pitchFamily="34" charset="0"/>
              </a:rPr>
              <a:t>confusion of the inverse</a:t>
            </a:r>
            <a:r>
              <a:rPr sz="3200" b="0" dirty="0">
                <a:latin typeface="Arial" panose="020B0604020202020204" pitchFamily="34" charset="0"/>
              </a:rPr>
              <a:t>. </a:t>
            </a:r>
            <a:endParaRPr sz="3200" b="0" dirty="0">
              <a:latin typeface="Arial" panose="020B0604020202020204" pitchFamily="34" charset="0"/>
            </a:endParaRPr>
          </a:p>
        </p:txBody>
      </p:sp>
      <p:graphicFrame>
        <p:nvGraphicFramePr>
          <p:cNvPr id="13316" name="Object 2"/>
          <p:cNvGraphicFramePr>
            <a:graphicFrameLocks noChangeAspect="1"/>
          </p:cNvGraphicFramePr>
          <p:nvPr/>
        </p:nvGraphicFramePr>
        <p:xfrm>
          <a:off x="2060575" y="2827020"/>
          <a:ext cx="1298575" cy="423863"/>
        </p:xfrm>
        <a:graphic>
          <a:graphicData uri="http://schemas.openxmlformats.org/presentationml/2006/ole">
            <mc:AlternateContent xmlns:mc="http://schemas.openxmlformats.org/markup-compatibility/2006">
              <mc:Choice xmlns:v="urn:schemas-microsoft-com:vml" Requires="v">
                <p:oleObj spid="_x0000_s3076" name="" r:id="rId1" imgW="1205865" imgH="393700" progId="Equation.DSMT4">
                  <p:embed/>
                </p:oleObj>
              </mc:Choice>
              <mc:Fallback>
                <p:oleObj name="" r:id="rId1" imgW="1205865" imgH="393700" progId="Equation.DSMT4">
                  <p:embed/>
                  <p:pic>
                    <p:nvPicPr>
                      <p:cNvPr id="0" name="Picture 3075"/>
                      <p:cNvPicPr/>
                      <p:nvPr/>
                    </p:nvPicPr>
                    <p:blipFill>
                      <a:blip r:embed="rId2"/>
                      <a:stretch>
                        <a:fillRect/>
                      </a:stretch>
                    </p:blipFill>
                    <p:spPr>
                      <a:xfrm>
                        <a:off x="2060575" y="2827020"/>
                        <a:ext cx="1298575" cy="423863"/>
                      </a:xfrm>
                      <a:prstGeom prst="rect">
                        <a:avLst/>
                      </a:prstGeom>
                      <a:noFill/>
                      <a:ln w="38100">
                        <a:noFill/>
                        <a:miter/>
                      </a:ln>
                    </p:spPr>
                  </p:pic>
                </p:oleObj>
              </mc:Fallback>
            </mc:AlternateContent>
          </a:graphicData>
        </a:graphic>
      </p:graphicFrame>
      <p:graphicFrame>
        <p:nvGraphicFramePr>
          <p:cNvPr id="13317" name="Object 3"/>
          <p:cNvGraphicFramePr>
            <a:graphicFrameLocks noChangeAspect="1"/>
          </p:cNvGraphicFramePr>
          <p:nvPr/>
        </p:nvGraphicFramePr>
        <p:xfrm>
          <a:off x="6934200" y="2344420"/>
          <a:ext cx="1298575" cy="423863"/>
        </p:xfrm>
        <a:graphic>
          <a:graphicData uri="http://schemas.openxmlformats.org/presentationml/2006/ole">
            <mc:AlternateContent xmlns:mc="http://schemas.openxmlformats.org/markup-compatibility/2006">
              <mc:Choice xmlns:v="urn:schemas-microsoft-com:vml" Requires="v">
                <p:oleObj spid="_x0000_s3080" name="" r:id="rId3" imgW="1205865" imgH="393700" progId="Equation.DSMT4">
                  <p:embed/>
                </p:oleObj>
              </mc:Choice>
              <mc:Fallback>
                <p:oleObj name="" r:id="rId3" imgW="1205865" imgH="393700" progId="Equation.DSMT4">
                  <p:embed/>
                  <p:pic>
                    <p:nvPicPr>
                      <p:cNvPr id="0" name="Picture 3079"/>
                      <p:cNvPicPr/>
                      <p:nvPr/>
                    </p:nvPicPr>
                    <p:blipFill>
                      <a:blip r:embed="rId4"/>
                      <a:stretch>
                        <a:fillRect/>
                      </a:stretch>
                    </p:blipFill>
                    <p:spPr>
                      <a:xfrm>
                        <a:off x="6934200" y="2344420"/>
                        <a:ext cx="1298575" cy="423863"/>
                      </a:xfrm>
                      <a:prstGeom prst="rect">
                        <a:avLst/>
                      </a:prstGeom>
                      <a:noFill/>
                      <a:ln w="38100">
                        <a:noFill/>
                        <a:miter/>
                      </a:ln>
                    </p:spPr>
                  </p:pic>
                </p:oleObj>
              </mc:Fallback>
            </mc:AlternateContent>
          </a:graphicData>
        </a:graphic>
      </p:graphicFrame>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4"/>
          <p:cNvSpPr/>
          <p:nvPr/>
        </p:nvSpPr>
        <p:spPr>
          <a:xfrm>
            <a:off x="2203450" y="356235"/>
            <a:ext cx="7772400" cy="885825"/>
          </a:xfrm>
          <a:prstGeom prst="rect">
            <a:avLst/>
          </a:prstGeom>
          <a:noFill/>
          <a:ln w="9525">
            <a:noFill/>
          </a:ln>
        </p:spPr>
        <p:txBody>
          <a:bodyPr anchor="ctr" anchorCtr="0"/>
          <a:p>
            <a:pPr algn="ctr"/>
            <a:r>
              <a:rPr sz="4000" dirty="0">
                <a:solidFill>
                  <a:srgbClr val="008000"/>
                </a:solidFill>
                <a:latin typeface="Arial" panose="020B0604020202020204" pitchFamily="34" charset="0"/>
              </a:rPr>
              <a:t>Key Concept</a:t>
            </a:r>
            <a:endParaRPr sz="4000" dirty="0">
              <a:solidFill>
                <a:srgbClr val="008000"/>
              </a:solidFill>
              <a:latin typeface="Arial" panose="020B0604020202020204" pitchFamily="34" charset="0"/>
            </a:endParaRPr>
          </a:p>
        </p:txBody>
      </p:sp>
      <p:sp>
        <p:nvSpPr>
          <p:cNvPr id="4099" name="Text Box 5"/>
          <p:cNvSpPr txBox="1"/>
          <p:nvPr/>
        </p:nvSpPr>
        <p:spPr>
          <a:xfrm>
            <a:off x="2235200" y="1663700"/>
            <a:ext cx="8001000" cy="4276725"/>
          </a:xfrm>
          <a:prstGeom prst="rect">
            <a:avLst/>
          </a:prstGeom>
          <a:noFill/>
          <a:ln w="12700">
            <a:noFill/>
          </a:ln>
        </p:spPr>
        <p:txBody>
          <a:bodyPr>
            <a:spAutoFit/>
          </a:bodyPr>
          <a:p>
            <a:pPr>
              <a:spcBef>
                <a:spcPct val="50000"/>
              </a:spcBef>
            </a:pPr>
            <a:r>
              <a:rPr sz="3200" b="0" dirty="0">
                <a:latin typeface="Arial" panose="020B0604020202020204" pitchFamily="34" charset="0"/>
              </a:rPr>
              <a:t>The basic </a:t>
            </a:r>
            <a:r>
              <a:rPr sz="3200" b="0" dirty="0">
                <a:solidFill>
                  <a:schemeClr val="accent1"/>
                </a:solidFill>
                <a:latin typeface="Arial" panose="020B0604020202020204" pitchFamily="34" charset="0"/>
              </a:rPr>
              <a:t>multiplication rule</a:t>
            </a:r>
            <a:r>
              <a:rPr lang="en-US" sz="3200" b="0" dirty="0">
                <a:solidFill>
                  <a:schemeClr val="accent1"/>
                </a:solidFill>
                <a:latin typeface="Arial" panose="020B0604020202020204" pitchFamily="34" charset="0"/>
              </a:rPr>
              <a:t> (quy tắc nhân)</a:t>
            </a:r>
            <a:r>
              <a:rPr sz="3200" b="0" dirty="0">
                <a:solidFill>
                  <a:schemeClr val="accent1"/>
                </a:solidFill>
                <a:latin typeface="Arial" panose="020B0604020202020204" pitchFamily="34" charset="0"/>
              </a:rPr>
              <a:t> </a:t>
            </a:r>
            <a:r>
              <a:rPr sz="3200" b="0" dirty="0">
                <a:latin typeface="Arial" panose="020B0604020202020204" pitchFamily="34" charset="0"/>
              </a:rPr>
              <a:t>is used for finding </a:t>
            </a:r>
            <a:r>
              <a:rPr sz="3200" b="0" i="1" dirty="0">
                <a:latin typeface="Arial" panose="020B0604020202020204" pitchFamily="34" charset="0"/>
              </a:rPr>
              <a:t>P</a:t>
            </a:r>
            <a:r>
              <a:rPr sz="3200" b="0" dirty="0">
                <a:latin typeface="Arial" panose="020B0604020202020204" pitchFamily="34" charset="0"/>
              </a:rPr>
              <a:t>(</a:t>
            </a:r>
            <a:r>
              <a:rPr sz="3200" b="0" i="1" dirty="0">
                <a:latin typeface="Arial" panose="020B0604020202020204" pitchFamily="34" charset="0"/>
              </a:rPr>
              <a:t>A</a:t>
            </a:r>
            <a:r>
              <a:rPr sz="3200" b="0" dirty="0">
                <a:latin typeface="Arial" panose="020B0604020202020204" pitchFamily="34" charset="0"/>
              </a:rPr>
              <a:t> and </a:t>
            </a:r>
            <a:r>
              <a:rPr sz="3200" b="0" i="1" dirty="0">
                <a:latin typeface="Arial" panose="020B0604020202020204" pitchFamily="34" charset="0"/>
              </a:rPr>
              <a:t>B</a:t>
            </a:r>
            <a:r>
              <a:rPr sz="3200" b="0" dirty="0">
                <a:latin typeface="Arial" panose="020B0604020202020204" pitchFamily="34" charset="0"/>
              </a:rPr>
              <a:t>), the probability that event </a:t>
            </a:r>
            <a:r>
              <a:rPr sz="3200" b="0" i="1" dirty="0">
                <a:latin typeface="Arial" panose="020B0604020202020204" pitchFamily="34" charset="0"/>
              </a:rPr>
              <a:t>A</a:t>
            </a:r>
            <a:r>
              <a:rPr sz="3200" b="0" dirty="0">
                <a:latin typeface="Arial" panose="020B0604020202020204" pitchFamily="34" charset="0"/>
              </a:rPr>
              <a:t> occurs in a first trial and event </a:t>
            </a:r>
            <a:r>
              <a:rPr sz="3200" b="0" i="1" dirty="0">
                <a:latin typeface="Arial" panose="020B0604020202020204" pitchFamily="34" charset="0"/>
              </a:rPr>
              <a:t>B</a:t>
            </a:r>
            <a:r>
              <a:rPr sz="3200" b="0" dirty="0">
                <a:latin typeface="Arial" panose="020B0604020202020204" pitchFamily="34" charset="0"/>
              </a:rPr>
              <a:t> occurs in a second trial.</a:t>
            </a:r>
            <a:endParaRPr sz="3200" b="0" dirty="0">
              <a:latin typeface="Arial" panose="020B0604020202020204" pitchFamily="34" charset="0"/>
            </a:endParaRPr>
          </a:p>
          <a:p>
            <a:pPr>
              <a:spcBef>
                <a:spcPct val="50000"/>
              </a:spcBef>
            </a:pPr>
            <a:r>
              <a:rPr sz="3200" b="0" dirty="0">
                <a:latin typeface="Arial" panose="020B0604020202020204" pitchFamily="34" charset="0"/>
              </a:rPr>
              <a:t>If the outcome of the first event </a:t>
            </a:r>
            <a:r>
              <a:rPr sz="3200" b="0" i="1" dirty="0">
                <a:latin typeface="Arial" panose="020B0604020202020204" pitchFamily="34" charset="0"/>
              </a:rPr>
              <a:t>A</a:t>
            </a:r>
            <a:r>
              <a:rPr sz="3200" b="0" dirty="0">
                <a:latin typeface="Arial" panose="020B0604020202020204" pitchFamily="34" charset="0"/>
              </a:rPr>
              <a:t> somehow affects the probability of the second event </a:t>
            </a:r>
            <a:r>
              <a:rPr sz="3200" b="0" i="1" dirty="0">
                <a:latin typeface="Arial" panose="020B0604020202020204" pitchFamily="34" charset="0"/>
              </a:rPr>
              <a:t>B</a:t>
            </a:r>
            <a:r>
              <a:rPr sz="3200" b="0" dirty="0">
                <a:latin typeface="Arial" panose="020B0604020202020204" pitchFamily="34" charset="0"/>
              </a:rPr>
              <a:t>, it is important to adjust the probability of </a:t>
            </a:r>
            <a:r>
              <a:rPr sz="3200" b="0" i="1" dirty="0">
                <a:latin typeface="Arial" panose="020B0604020202020204" pitchFamily="34" charset="0"/>
              </a:rPr>
              <a:t>B</a:t>
            </a:r>
            <a:r>
              <a:rPr sz="3200" b="0" dirty="0">
                <a:latin typeface="Arial" panose="020B0604020202020204" pitchFamily="34" charset="0"/>
              </a:rPr>
              <a:t> to reflect the occurrence of event </a:t>
            </a:r>
            <a:r>
              <a:rPr sz="3200" b="0" i="1" dirty="0">
                <a:latin typeface="Arial" panose="020B0604020202020204" pitchFamily="34" charset="0"/>
              </a:rPr>
              <a:t>A</a:t>
            </a:r>
            <a:r>
              <a:rPr sz="3200" b="0" dirty="0">
                <a:latin typeface="Arial" panose="020B0604020202020204" pitchFamily="34" charset="0"/>
              </a:rPr>
              <a:t>.</a:t>
            </a:r>
            <a:endParaRPr sz="3200" b="0" dirty="0">
              <a:latin typeface="Arial" panose="020B0604020202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title" idx="4294967295"/>
          </p:nvPr>
        </p:nvSpPr>
        <p:spPr>
          <a:xfrm>
            <a:off x="2466975" y="387350"/>
            <a:ext cx="7162800" cy="820738"/>
          </a:xfrm>
          <a:prstGeom prst="rect">
            <a:avLst/>
          </a:prstGeom>
          <a:noFill/>
          <a:ln w="9525">
            <a:noFill/>
          </a:ln>
        </p:spPr>
        <p:txBody>
          <a:bodyPr lIns="90488" tIns="44450" rIns="90488" bIns="44450"/>
          <a:p>
            <a:r>
              <a:rPr dirty="0"/>
              <a:t>Notation</a:t>
            </a:r>
            <a:endParaRPr dirty="0"/>
          </a:p>
        </p:txBody>
      </p:sp>
      <p:sp>
        <p:nvSpPr>
          <p:cNvPr id="8195" name="Rectangle 3"/>
          <p:cNvSpPr>
            <a:spLocks noChangeArrowheads="1"/>
          </p:cNvSpPr>
          <p:nvPr>
            <p:ph type="body" idx="4294967295"/>
          </p:nvPr>
        </p:nvSpPr>
        <p:spPr bwMode="auto">
          <a:xfrm>
            <a:off x="2438400" y="1371600"/>
            <a:ext cx="7924800" cy="3962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pPr marL="285750" marR="0" lvl="0" indent="-285750" algn="l" defTabSz="914400" rtl="0" eaLnBrk="0" fontAlgn="base" latinLnBrk="0" hangingPunct="0">
              <a:lnSpc>
                <a:spcPct val="90000"/>
              </a:lnSpc>
              <a:spcBef>
                <a:spcPct val="30000"/>
              </a:spcBef>
              <a:spcAft>
                <a:spcPct val="0"/>
              </a:spcAft>
              <a:buClrTx/>
              <a:buSzPct val="100000"/>
              <a:buFontTx/>
              <a:buNone/>
              <a:defRPr/>
            </a:pPr>
            <a:r>
              <a:rPr kumimoji="0" lang="en-US" sz="3200" b="0" i="1" u="none" strike="noStrike" kern="0" cap="none" spc="0" normalizeH="0" baseline="0" noProof="0" dirty="0" smtClean="0">
                <a:ln>
                  <a:noFill/>
                </a:ln>
                <a:solidFill>
                  <a:schemeClr val="tx1"/>
                </a:solidFill>
                <a:effectLst/>
                <a:uLnTx/>
                <a:uFillTx/>
                <a:latin typeface="+mn-lt"/>
                <a:ea typeface="+mn-ea"/>
                <a:cs typeface="+mn-cs"/>
              </a:rPr>
              <a:t>P</a:t>
            </a:r>
            <a:r>
              <a:rPr kumimoji="0" lang="en-US" sz="3200" b="0" i="0" u="none" strike="noStrike" kern="0" cap="none" spc="0" normalizeH="0" baseline="0" noProof="0" dirty="0" smtClean="0">
                <a:ln>
                  <a:noFill/>
                </a:ln>
                <a:solidFill>
                  <a:schemeClr val="tx1"/>
                </a:solidFill>
                <a:effectLst/>
                <a:uLnTx/>
                <a:uFillTx/>
                <a:latin typeface="+mn-lt"/>
                <a:ea typeface="+mn-ea"/>
                <a:cs typeface="+mn-cs"/>
              </a:rPr>
              <a:t>(</a:t>
            </a:r>
            <a:r>
              <a:rPr kumimoji="0" lang="en-US" sz="3200" b="0" i="1" u="none" strike="noStrike" kern="0" cap="none" spc="0" normalizeH="0" baseline="0" noProof="0" dirty="0" smtClean="0">
                <a:ln>
                  <a:noFill/>
                </a:ln>
                <a:solidFill>
                  <a:schemeClr val="tx1"/>
                </a:solidFill>
                <a:effectLst/>
                <a:uLnTx/>
                <a:uFillTx/>
                <a:latin typeface="+mn-lt"/>
                <a:ea typeface="+mn-ea"/>
                <a:cs typeface="+mn-cs"/>
              </a:rPr>
              <a:t>A</a:t>
            </a:r>
            <a:r>
              <a:rPr kumimoji="0" lang="en-US" sz="3200" b="0" i="0" u="none" strike="noStrike" kern="0" cap="none" spc="0" normalizeH="0" baseline="0" noProof="0" dirty="0" smtClean="0">
                <a:ln>
                  <a:noFill/>
                </a:ln>
                <a:solidFill>
                  <a:schemeClr val="tx1"/>
                </a:solidFill>
                <a:effectLst/>
                <a:uLnTx/>
                <a:uFillTx/>
                <a:latin typeface="+mn-lt"/>
                <a:ea typeface="+mn-ea"/>
                <a:cs typeface="+mn-cs"/>
              </a:rPr>
              <a:t> and </a:t>
            </a:r>
            <a:r>
              <a:rPr kumimoji="0" lang="en-US" sz="3200" b="0" i="1" u="none" strike="noStrike" kern="0" cap="none" spc="0" normalizeH="0" baseline="0" noProof="0" dirty="0" smtClean="0">
                <a:ln>
                  <a:noFill/>
                </a:ln>
                <a:solidFill>
                  <a:schemeClr val="tx1"/>
                </a:solidFill>
                <a:effectLst/>
                <a:uLnTx/>
                <a:uFillTx/>
                <a:latin typeface="+mn-lt"/>
                <a:ea typeface="+mn-ea"/>
                <a:cs typeface="+mn-cs"/>
              </a:rPr>
              <a:t>B</a:t>
            </a:r>
            <a:r>
              <a:rPr kumimoji="0" lang="en-US" sz="3200" b="0" i="0" u="none" strike="noStrike" kern="0" cap="none" spc="0" normalizeH="0" baseline="0" noProof="0" dirty="0" smtClean="0">
                <a:ln>
                  <a:noFill/>
                </a:ln>
                <a:solidFill>
                  <a:schemeClr val="tx1"/>
                </a:solidFill>
                <a:effectLst/>
                <a:uLnTx/>
                <a:uFillTx/>
                <a:latin typeface="+mn-lt"/>
                <a:ea typeface="+mn-ea"/>
                <a:cs typeface="+mn-cs"/>
              </a:rPr>
              <a:t>) = </a:t>
            </a:r>
            <a:r>
              <a:rPr kumimoji="0" lang="en-US" sz="3200" b="0" i="1" u="none" strike="noStrike" kern="0" cap="none" spc="0" normalizeH="0" baseline="0" noProof="0" dirty="0" smtClean="0">
                <a:ln>
                  <a:noFill/>
                </a:ln>
                <a:solidFill>
                  <a:schemeClr val="tx1"/>
                </a:solidFill>
                <a:effectLst/>
                <a:uLnTx/>
                <a:uFillTx/>
                <a:latin typeface="+mn-lt"/>
                <a:ea typeface="+mn-ea"/>
                <a:cs typeface="+mn-cs"/>
              </a:rPr>
              <a:t>P</a:t>
            </a:r>
            <a:r>
              <a:rPr kumimoji="0" lang="en-US" sz="3200" b="0" i="0" u="none" strike="noStrike" kern="0" cap="none" spc="0" normalizeH="0" baseline="0" noProof="0" dirty="0" smtClean="0">
                <a:ln>
                  <a:noFill/>
                </a:ln>
                <a:solidFill>
                  <a:schemeClr val="tx1"/>
                </a:solidFill>
                <a:effectLst/>
                <a:uLnTx/>
                <a:uFillTx/>
                <a:latin typeface="+mn-lt"/>
                <a:ea typeface="+mn-ea"/>
                <a:cs typeface="+mn-cs"/>
              </a:rPr>
              <a:t>(event </a:t>
            </a:r>
            <a:r>
              <a:rPr kumimoji="0" lang="en-US" sz="3200" b="0" i="1" u="none" strike="noStrike" kern="0" cap="none" spc="0" normalizeH="0" baseline="0" noProof="0" dirty="0" smtClean="0">
                <a:ln>
                  <a:noFill/>
                </a:ln>
                <a:solidFill>
                  <a:schemeClr val="tx1"/>
                </a:solidFill>
                <a:effectLst/>
                <a:uLnTx/>
                <a:uFillTx/>
                <a:latin typeface="+mn-lt"/>
                <a:ea typeface="+mn-ea"/>
                <a:cs typeface="+mn-cs"/>
              </a:rPr>
              <a:t>A</a:t>
            </a:r>
            <a:r>
              <a:rPr kumimoji="0" lang="en-US" sz="3200" b="0" i="0" u="none" strike="noStrike" kern="0" cap="none" spc="0" normalizeH="0" baseline="0" noProof="0" dirty="0" smtClean="0">
                <a:ln>
                  <a:noFill/>
                </a:ln>
                <a:solidFill>
                  <a:schemeClr val="tx1"/>
                </a:solidFill>
                <a:effectLst/>
                <a:uLnTx/>
                <a:uFillTx/>
                <a:latin typeface="+mn-lt"/>
                <a:ea typeface="+mn-ea"/>
                <a:cs typeface="+mn-cs"/>
              </a:rPr>
              <a:t> occurs in a first trial and event </a:t>
            </a:r>
            <a:r>
              <a:rPr kumimoji="0" lang="en-US" sz="3200" b="0" i="1" u="none" strike="noStrike" kern="0" cap="none" spc="0" normalizeH="0" baseline="0" noProof="0" dirty="0" smtClean="0">
                <a:ln>
                  <a:noFill/>
                </a:ln>
                <a:solidFill>
                  <a:schemeClr val="tx1"/>
                </a:solidFill>
                <a:effectLst/>
                <a:uLnTx/>
                <a:uFillTx/>
                <a:latin typeface="+mn-lt"/>
                <a:ea typeface="+mn-ea"/>
                <a:cs typeface="+mn-cs"/>
              </a:rPr>
              <a:t>B</a:t>
            </a:r>
            <a:r>
              <a:rPr kumimoji="0" lang="en-US" sz="3200" b="0" i="0" u="none" strike="noStrike" kern="0" cap="none" spc="0" normalizeH="0" baseline="0" noProof="0" dirty="0" smtClean="0">
                <a:ln>
                  <a:noFill/>
                </a:ln>
                <a:solidFill>
                  <a:schemeClr val="tx1"/>
                </a:solidFill>
                <a:effectLst/>
                <a:uLnTx/>
                <a:uFillTx/>
                <a:latin typeface="+mn-lt"/>
                <a:ea typeface="+mn-ea"/>
                <a:cs typeface="+mn-cs"/>
              </a:rPr>
              <a:t> occurs in a second trial)</a:t>
            </a:r>
            <a:endParaRPr kumimoji="0" lang="en-US" sz="3200" b="0" i="0" u="none" strike="noStrike" kern="0" cap="none" spc="0" normalizeH="0" baseline="0" noProof="0" dirty="0" smtClean="0">
              <a:ln>
                <a:noFill/>
              </a:ln>
              <a:solidFill>
                <a:schemeClr val="tx1"/>
              </a:solidFill>
              <a:effectLst/>
              <a:uLnTx/>
              <a:uFillTx/>
              <a:latin typeface="+mn-lt"/>
              <a:ea typeface="+mn-ea"/>
              <a:cs typeface="+mn-cs"/>
            </a:endParaRPr>
          </a:p>
          <a:p>
            <a:pPr marL="285750" marR="0" lvl="0" indent="-285750" algn="l" defTabSz="914400" rtl="0" eaLnBrk="0" fontAlgn="base" latinLnBrk="0" hangingPunct="0">
              <a:lnSpc>
                <a:spcPct val="90000"/>
              </a:lnSpc>
              <a:spcBef>
                <a:spcPct val="30000"/>
              </a:spcBef>
              <a:spcAft>
                <a:spcPct val="0"/>
              </a:spcAft>
              <a:buClrTx/>
              <a:buSzPct val="100000"/>
              <a:buFontTx/>
              <a:buNone/>
              <a:defRPr/>
            </a:pPr>
            <a:endParaRPr kumimoji="0" lang="en-US" sz="32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285750" algn="l" defTabSz="914400" rtl="0" eaLnBrk="0" fontAlgn="base" latinLnBrk="0" hangingPunct="0">
              <a:lnSpc>
                <a:spcPct val="90000"/>
              </a:lnSpc>
              <a:spcBef>
                <a:spcPct val="30000"/>
              </a:spcBef>
              <a:spcAft>
                <a:spcPct val="0"/>
              </a:spcAft>
              <a:buClrTx/>
              <a:buSzPct val="100000"/>
              <a:buFontTx/>
              <a:buNone/>
              <a:defRPr/>
            </a:pPr>
            <a:r>
              <a:rPr kumimoji="0" lang="en-US" sz="3200" b="0" i="1" u="none" strike="noStrike" kern="0" cap="none" spc="0" normalizeH="0" baseline="0" noProof="0" dirty="0" smtClean="0">
                <a:ln>
                  <a:noFill/>
                </a:ln>
                <a:solidFill>
                  <a:schemeClr val="tx1"/>
                </a:solidFill>
                <a:effectLst/>
                <a:uLnTx/>
                <a:uFillTx/>
                <a:latin typeface="+mn-lt"/>
                <a:ea typeface="+mn-ea"/>
                <a:cs typeface="+mn-cs"/>
              </a:rPr>
              <a:t>P</a:t>
            </a:r>
            <a:r>
              <a:rPr kumimoji="0" lang="en-US" sz="3200" b="0" i="0" u="none" strike="noStrike" kern="0" cap="none" spc="0" normalizeH="0" baseline="0" noProof="0" dirty="0" smtClean="0">
                <a:ln>
                  <a:noFill/>
                </a:ln>
                <a:solidFill>
                  <a:schemeClr val="tx1"/>
                </a:solidFill>
                <a:effectLst/>
                <a:uLnTx/>
                <a:uFillTx/>
                <a:latin typeface="+mn-lt"/>
                <a:ea typeface="+mn-ea"/>
                <a:cs typeface="+mn-cs"/>
              </a:rPr>
              <a:t>(</a:t>
            </a:r>
            <a:r>
              <a:rPr kumimoji="0" lang="en-US" sz="3200" b="0" i="1" u="none" strike="noStrike" kern="0" cap="none" spc="0" normalizeH="0" baseline="0" noProof="0" dirty="0" smtClean="0">
                <a:ln>
                  <a:noFill/>
                </a:ln>
                <a:solidFill>
                  <a:schemeClr val="tx1"/>
                </a:solidFill>
                <a:effectLst/>
                <a:uLnTx/>
                <a:uFillTx/>
                <a:latin typeface="+mn-lt"/>
                <a:ea typeface="+mn-ea"/>
                <a:cs typeface="+mn-cs"/>
              </a:rPr>
              <a:t>B</a:t>
            </a:r>
            <a:r>
              <a:rPr kumimoji="0" lang="en-US" sz="3200" b="0" i="0" u="none" strike="noStrike" kern="0" cap="none" spc="0" normalizeH="0" baseline="0" noProof="0" dirty="0" smtClean="0">
                <a:ln>
                  <a:noFill/>
                </a:ln>
                <a:solidFill>
                  <a:schemeClr val="tx1"/>
                </a:solidFill>
                <a:effectLst/>
                <a:uLnTx/>
                <a:uFillTx/>
                <a:latin typeface="+mn-lt"/>
                <a:ea typeface="+mn-ea"/>
                <a:cs typeface="+mn-cs"/>
              </a:rPr>
              <a:t> | </a:t>
            </a:r>
            <a:r>
              <a:rPr kumimoji="0" lang="en-US" sz="3200" b="0" i="1" u="none" strike="noStrike" kern="0" cap="none" spc="0" normalizeH="0" baseline="0" noProof="0" dirty="0" smtClean="0">
                <a:ln>
                  <a:noFill/>
                </a:ln>
                <a:solidFill>
                  <a:schemeClr val="tx1"/>
                </a:solidFill>
                <a:effectLst/>
                <a:uLnTx/>
                <a:uFillTx/>
                <a:latin typeface="+mn-lt"/>
                <a:ea typeface="+mn-ea"/>
                <a:cs typeface="+mn-cs"/>
              </a:rPr>
              <a:t>A</a:t>
            </a:r>
            <a:r>
              <a:rPr kumimoji="0" lang="en-US" sz="3200" b="0" i="0" u="none" strike="noStrike" kern="0" cap="none" spc="0" normalizeH="0" baseline="0" noProof="0" dirty="0" smtClean="0">
                <a:ln>
                  <a:noFill/>
                </a:ln>
                <a:solidFill>
                  <a:schemeClr val="tx1"/>
                </a:solidFill>
                <a:effectLst/>
                <a:uLnTx/>
                <a:uFillTx/>
                <a:latin typeface="+mn-lt"/>
                <a:ea typeface="+mn-ea"/>
                <a:cs typeface="+mn-cs"/>
              </a:rPr>
              <a:t>) represents the probability of event </a:t>
            </a:r>
            <a:r>
              <a:rPr kumimoji="0" lang="en-US" sz="3200" b="0" i="1" u="none" strike="noStrike" kern="0" cap="none" spc="0" normalizeH="0" baseline="0" noProof="0" dirty="0" smtClean="0">
                <a:ln>
                  <a:noFill/>
                </a:ln>
                <a:solidFill>
                  <a:schemeClr val="tx1"/>
                </a:solidFill>
                <a:effectLst/>
                <a:uLnTx/>
                <a:uFillTx/>
                <a:latin typeface="+mn-lt"/>
                <a:ea typeface="+mn-ea"/>
                <a:cs typeface="+mn-cs"/>
              </a:rPr>
              <a:t>B</a:t>
            </a:r>
            <a:r>
              <a:rPr kumimoji="0" lang="en-US" sz="3200" b="0" i="0" u="none" strike="noStrike" kern="0" cap="none" spc="0" normalizeH="0" baseline="0" noProof="0" dirty="0" smtClean="0">
                <a:ln>
                  <a:noFill/>
                </a:ln>
                <a:solidFill>
                  <a:schemeClr val="tx1"/>
                </a:solidFill>
                <a:effectLst/>
                <a:uLnTx/>
                <a:uFillTx/>
                <a:latin typeface="+mn-lt"/>
                <a:ea typeface="+mn-ea"/>
                <a:cs typeface="+mn-cs"/>
              </a:rPr>
              <a:t> occurring after event </a:t>
            </a:r>
            <a:r>
              <a:rPr kumimoji="0" lang="en-US" sz="3200" b="0" i="1" u="none" strike="noStrike" kern="0" cap="none" spc="0" normalizeH="0" baseline="0" noProof="0" dirty="0" smtClean="0">
                <a:ln>
                  <a:noFill/>
                </a:ln>
                <a:solidFill>
                  <a:schemeClr val="tx1"/>
                </a:solidFill>
                <a:effectLst/>
                <a:uLnTx/>
                <a:uFillTx/>
                <a:latin typeface="+mn-lt"/>
                <a:ea typeface="+mn-ea"/>
                <a:cs typeface="+mn-cs"/>
              </a:rPr>
              <a:t>A</a:t>
            </a:r>
            <a:r>
              <a:rPr kumimoji="0" lang="en-US" sz="3200" b="0" i="0" u="none" strike="noStrike" kern="0" cap="none" spc="0" normalizeH="0" baseline="0" noProof="0" dirty="0" smtClean="0">
                <a:ln>
                  <a:noFill/>
                </a:ln>
                <a:solidFill>
                  <a:schemeClr val="tx1"/>
                </a:solidFill>
                <a:effectLst/>
                <a:uLnTx/>
                <a:uFillTx/>
                <a:latin typeface="+mn-lt"/>
                <a:ea typeface="+mn-ea"/>
                <a:cs typeface="+mn-cs"/>
              </a:rPr>
              <a:t> has already occurred.</a:t>
            </a:r>
            <a:endParaRPr kumimoji="0" lang="en-US" sz="32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idx="4294967295"/>
          </p:nvPr>
        </p:nvSpPr>
        <p:spPr>
          <a:xfrm>
            <a:off x="2686050" y="292100"/>
            <a:ext cx="6800850" cy="1087438"/>
          </a:xfrm>
          <a:prstGeom prst="rect">
            <a:avLst/>
          </a:prstGeom>
          <a:noFill/>
          <a:ln w="9525">
            <a:noFill/>
          </a:ln>
        </p:spPr>
        <p:txBody>
          <a:bodyPr lIns="90488" tIns="44450" rIns="90488" bIns="44450"/>
          <a:p>
            <a:r>
              <a:rPr dirty="0"/>
              <a:t>Formal Multiplication Rule</a:t>
            </a:r>
            <a:endParaRPr dirty="0"/>
          </a:p>
        </p:txBody>
      </p:sp>
      <p:sp>
        <p:nvSpPr>
          <p:cNvPr id="6147" name="Rectangle 4"/>
          <p:cNvSpPr/>
          <p:nvPr>
            <p:ph type="body" idx="4294967295"/>
          </p:nvPr>
        </p:nvSpPr>
        <p:spPr>
          <a:xfrm>
            <a:off x="2160588" y="2181225"/>
            <a:ext cx="7950200" cy="4114800"/>
          </a:xfrm>
          <a:prstGeom prst="rect">
            <a:avLst/>
          </a:prstGeom>
          <a:noFill/>
          <a:ln w="12700">
            <a:noFill/>
          </a:ln>
        </p:spPr>
        <p:txBody>
          <a:bodyPr lIns="90488" tIns="44450" rIns="90488" bIns="44450"/>
          <a:p>
            <a:pPr marL="571500" indent="-571500" defTabSz="631825">
              <a:spcBef>
                <a:spcPct val="40000"/>
              </a:spcBef>
              <a:spcAft>
                <a:spcPct val="40000"/>
              </a:spcAft>
              <a:buClr>
                <a:schemeClr val="accent2"/>
              </a:buClr>
              <a:buFont typeface="Wingdings" panose="05000000000000000000" pitchFamily="2" charset="2"/>
              <a:buChar char="v"/>
            </a:pPr>
            <a:r>
              <a:rPr b="0" i="1" dirty="0"/>
              <a:t> </a:t>
            </a:r>
            <a:endParaRPr b="0" dirty="0"/>
          </a:p>
        </p:txBody>
      </p:sp>
      <p:graphicFrame>
        <p:nvGraphicFramePr>
          <p:cNvPr id="6148" name="Object 2"/>
          <p:cNvGraphicFramePr>
            <a:graphicFrameLocks noChangeAspect="1"/>
          </p:cNvGraphicFramePr>
          <p:nvPr/>
        </p:nvGraphicFramePr>
        <p:xfrm>
          <a:off x="2752725" y="2052638"/>
          <a:ext cx="7221538" cy="690562"/>
        </p:xfrm>
        <a:graphic>
          <a:graphicData uri="http://schemas.openxmlformats.org/presentationml/2006/ole">
            <mc:AlternateContent xmlns:mc="http://schemas.openxmlformats.org/markup-compatibility/2006">
              <mc:Choice xmlns:v="urn:schemas-microsoft-com:vml" Requires="v">
                <p:oleObj spid="_x0000_s3076" name="" r:id="rId1" imgW="4112895" imgH="393700" progId="Equation.DSMT4">
                  <p:embed/>
                </p:oleObj>
              </mc:Choice>
              <mc:Fallback>
                <p:oleObj name="" r:id="rId1" imgW="4112895" imgH="393700" progId="Equation.DSMT4">
                  <p:embed/>
                  <p:pic>
                    <p:nvPicPr>
                      <p:cNvPr id="0" name="Picture 3075"/>
                      <p:cNvPicPr/>
                      <p:nvPr/>
                    </p:nvPicPr>
                    <p:blipFill>
                      <a:blip r:embed="rId2"/>
                      <a:stretch>
                        <a:fillRect/>
                      </a:stretch>
                    </p:blipFill>
                    <p:spPr>
                      <a:xfrm>
                        <a:off x="2752725" y="2052638"/>
                        <a:ext cx="7221538" cy="690562"/>
                      </a:xfrm>
                      <a:prstGeom prst="rect">
                        <a:avLst/>
                      </a:prstGeom>
                      <a:noFill/>
                      <a:ln w="38100">
                        <a:noFill/>
                        <a:miter/>
                      </a:ln>
                    </p:spPr>
                  </p:pic>
                </p:oleObj>
              </mc:Fallback>
            </mc:AlternateContent>
          </a:graphicData>
        </a:graphic>
      </p:graphicFrame>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idx="4294967295"/>
          </p:nvPr>
        </p:nvSpPr>
        <p:spPr>
          <a:xfrm>
            <a:off x="2514600" y="342900"/>
            <a:ext cx="7162800" cy="990600"/>
          </a:xfrm>
          <a:prstGeom prst="rect">
            <a:avLst/>
          </a:prstGeom>
          <a:noFill/>
          <a:ln w="9525">
            <a:noFill/>
          </a:ln>
        </p:spPr>
        <p:txBody>
          <a:bodyPr lIns="90488" tIns="44450" rIns="90488" bIns="44450"/>
          <a:p>
            <a:r>
              <a:rPr dirty="0"/>
              <a:t>Intuitive Multiplication Rule</a:t>
            </a:r>
            <a:endParaRPr dirty="0"/>
          </a:p>
        </p:txBody>
      </p:sp>
      <p:sp>
        <p:nvSpPr>
          <p:cNvPr id="7171" name="Rectangle 3"/>
          <p:cNvSpPr/>
          <p:nvPr>
            <p:ph type="body" idx="4294967295"/>
          </p:nvPr>
        </p:nvSpPr>
        <p:spPr>
          <a:xfrm>
            <a:off x="1838325" y="2185988"/>
            <a:ext cx="8534400" cy="3913187"/>
          </a:xfrm>
          <a:prstGeom prst="rect">
            <a:avLst/>
          </a:prstGeom>
          <a:noFill/>
          <a:ln w="12700">
            <a:noFill/>
          </a:ln>
        </p:spPr>
        <p:txBody>
          <a:bodyPr lIns="90488" tIns="44450" rIns="90488" bIns="44450"/>
          <a:p>
            <a:pPr>
              <a:lnSpc>
                <a:spcPct val="105000"/>
              </a:lnSpc>
              <a:buNone/>
            </a:pPr>
            <a:r>
              <a:rPr sz="2800" b="0" dirty="0"/>
              <a:t>   When finding the probability that event </a:t>
            </a:r>
            <a:r>
              <a:rPr sz="2800" b="0" i="1" dirty="0"/>
              <a:t>A</a:t>
            </a:r>
            <a:r>
              <a:rPr sz="2800" b="0" dirty="0"/>
              <a:t> occurs in one trial and event </a:t>
            </a:r>
            <a:r>
              <a:rPr sz="2800" b="0" i="1" dirty="0"/>
              <a:t>B</a:t>
            </a:r>
            <a:r>
              <a:rPr sz="2800" b="0" dirty="0"/>
              <a:t> occurs in the next trial, multiply the probability of event </a:t>
            </a:r>
            <a:r>
              <a:rPr sz="2800" b="0" i="1" dirty="0"/>
              <a:t>A</a:t>
            </a:r>
            <a:r>
              <a:rPr sz="2800" b="0" dirty="0"/>
              <a:t> by the probability of event </a:t>
            </a:r>
            <a:r>
              <a:rPr sz="2800" b="0" i="1" dirty="0"/>
              <a:t>B</a:t>
            </a:r>
            <a:r>
              <a:rPr sz="2800" b="0" dirty="0"/>
              <a:t>, but </a:t>
            </a:r>
            <a:r>
              <a:rPr sz="2800" b="0" dirty="0">
                <a:solidFill>
                  <a:srgbClr val="FF0000"/>
                </a:solidFill>
              </a:rPr>
              <a:t>be sure that the probability of event </a:t>
            </a:r>
            <a:r>
              <a:rPr sz="2800" b="0" i="1" dirty="0">
                <a:solidFill>
                  <a:srgbClr val="FF0000"/>
                </a:solidFill>
              </a:rPr>
              <a:t>B</a:t>
            </a:r>
            <a:r>
              <a:rPr sz="2800" b="0" dirty="0">
                <a:solidFill>
                  <a:srgbClr val="FF0000"/>
                </a:solidFill>
              </a:rPr>
              <a:t> takes into account the previous occurrence of event </a:t>
            </a:r>
            <a:r>
              <a:rPr sz="2800" b="0" i="1" dirty="0">
                <a:solidFill>
                  <a:srgbClr val="FF0000"/>
                </a:solidFill>
              </a:rPr>
              <a:t>A</a:t>
            </a:r>
            <a:r>
              <a:rPr sz="2800" b="0" dirty="0"/>
              <a:t>.</a:t>
            </a:r>
            <a:endParaRPr sz="2800" b="0"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idx="4294967295"/>
          </p:nvPr>
        </p:nvSpPr>
        <p:spPr>
          <a:xfrm>
            <a:off x="2514600" y="279400"/>
            <a:ext cx="7162800" cy="1143000"/>
          </a:xfrm>
          <a:prstGeom prst="rect">
            <a:avLst/>
          </a:prstGeom>
          <a:noFill/>
          <a:ln w="9525">
            <a:noFill/>
          </a:ln>
        </p:spPr>
        <p:txBody>
          <a:bodyPr lIns="90488" tIns="44450" rIns="90488" bIns="44450"/>
          <a:p>
            <a:r>
              <a:rPr dirty="0"/>
              <a:t>Caution</a:t>
            </a:r>
            <a:endParaRPr dirty="0"/>
          </a:p>
        </p:txBody>
      </p:sp>
      <p:sp>
        <p:nvSpPr>
          <p:cNvPr id="8195" name="Rectangle 3"/>
          <p:cNvSpPr/>
          <p:nvPr>
            <p:ph type="body" idx="4294967295"/>
          </p:nvPr>
        </p:nvSpPr>
        <p:spPr>
          <a:xfrm>
            <a:off x="2017713" y="2101850"/>
            <a:ext cx="8153400" cy="3387725"/>
          </a:xfrm>
          <a:prstGeom prst="rect">
            <a:avLst/>
          </a:prstGeom>
          <a:noFill/>
          <a:ln w="12700">
            <a:noFill/>
          </a:ln>
        </p:spPr>
        <p:txBody>
          <a:bodyPr lIns="90488" tIns="44450" rIns="90488" bIns="44450"/>
          <a:p>
            <a:pPr indent="0">
              <a:buNone/>
            </a:pPr>
            <a:r>
              <a:rPr sz="2800" b="0" dirty="0"/>
              <a:t>When applying the multiplication rule, always consider whether the events are independent or dependent, and adjust the calculations accordingly. </a:t>
            </a:r>
            <a:endParaRPr sz="2800" b="0"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type="title" idx="4294967295"/>
          </p:nvPr>
        </p:nvSpPr>
        <p:spPr>
          <a:xfrm>
            <a:off x="2322830" y="381635"/>
            <a:ext cx="8007985" cy="1143000"/>
          </a:xfrm>
          <a:prstGeom prst="rect">
            <a:avLst/>
          </a:prstGeom>
          <a:noFill/>
          <a:ln w="9525">
            <a:noFill/>
          </a:ln>
        </p:spPr>
        <p:txBody>
          <a:bodyPr lIns="90488" tIns="44450" rIns="90488" bIns="44450">
            <a:normAutofit fontScale="90000"/>
          </a:bodyPr>
          <a:p>
            <a:r>
              <a:rPr dirty="0"/>
              <a:t>Multiplication Rule for Several</a:t>
            </a:r>
            <a:r>
              <a:rPr lang="en-US" dirty="0"/>
              <a:t> </a:t>
            </a:r>
            <a:r>
              <a:rPr dirty="0"/>
              <a:t>Events</a:t>
            </a:r>
            <a:endParaRPr dirty="0"/>
          </a:p>
        </p:txBody>
      </p:sp>
      <p:sp>
        <p:nvSpPr>
          <p:cNvPr id="9219" name="Rectangle 3"/>
          <p:cNvSpPr/>
          <p:nvPr>
            <p:ph type="body" idx="4294967295"/>
          </p:nvPr>
        </p:nvSpPr>
        <p:spPr>
          <a:xfrm>
            <a:off x="2322513" y="2101850"/>
            <a:ext cx="7848600" cy="3387725"/>
          </a:xfrm>
          <a:prstGeom prst="rect">
            <a:avLst/>
          </a:prstGeom>
          <a:noFill/>
          <a:ln w="12700">
            <a:noFill/>
          </a:ln>
        </p:spPr>
        <p:txBody>
          <a:bodyPr lIns="90488" tIns="44450" rIns="90488" bIns="44450"/>
          <a:p>
            <a:pPr marL="0" indent="0">
              <a:buNone/>
            </a:pPr>
            <a:r>
              <a:rPr sz="2800" b="0" dirty="0"/>
              <a:t>In general, the probability of any sequence of independent events is simply the product of their corresponding probabilities.</a:t>
            </a:r>
            <a:endParaRPr sz="2800" b="0" dirty="0"/>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idx="4294967295"/>
          </p:nvPr>
        </p:nvSpPr>
        <p:spPr>
          <a:xfrm>
            <a:off x="2514600" y="468630"/>
            <a:ext cx="7162800" cy="762000"/>
          </a:xfrm>
          <a:prstGeom prst="rect">
            <a:avLst/>
          </a:prstGeom>
          <a:noFill/>
          <a:ln w="9525">
            <a:noFill/>
          </a:ln>
        </p:spPr>
        <p:txBody>
          <a:bodyPr lIns="90488" tIns="44450" rIns="90488" bIns="44450">
            <a:normAutofit fontScale="90000"/>
          </a:bodyPr>
          <a:p>
            <a:r>
              <a:rPr dirty="0"/>
              <a:t>Dependent and Independent</a:t>
            </a:r>
            <a:br>
              <a:rPr dirty="0"/>
            </a:br>
            <a:r>
              <a:rPr lang="en-US" dirty="0"/>
              <a:t>(Biến cố độc lập, không độc lập)</a:t>
            </a:r>
            <a:endParaRPr lang="en-US" dirty="0"/>
          </a:p>
        </p:txBody>
      </p:sp>
      <p:sp>
        <p:nvSpPr>
          <p:cNvPr id="10243" name="Rectangle 3"/>
          <p:cNvSpPr/>
          <p:nvPr>
            <p:ph type="body" idx="4294967295"/>
          </p:nvPr>
        </p:nvSpPr>
        <p:spPr>
          <a:xfrm>
            <a:off x="2286000" y="1619250"/>
            <a:ext cx="7937500" cy="4432300"/>
          </a:xfrm>
          <a:prstGeom prst="rect">
            <a:avLst/>
          </a:prstGeom>
          <a:noFill/>
          <a:ln w="12700">
            <a:noFill/>
          </a:ln>
        </p:spPr>
        <p:txBody>
          <a:bodyPr lIns="90488" tIns="44450" rIns="90488" bIns="44450"/>
          <a:p>
            <a:pPr marL="0" indent="0">
              <a:lnSpc>
                <a:spcPct val="95000"/>
              </a:lnSpc>
              <a:spcAft>
                <a:spcPct val="30000"/>
              </a:spcAft>
              <a:buClr>
                <a:schemeClr val="accent2"/>
              </a:buClr>
              <a:buFont typeface="Wingdings" panose="05000000000000000000" pitchFamily="2" charset="2"/>
              <a:buNone/>
            </a:pPr>
            <a:r>
              <a:rPr sz="2800" b="0" dirty="0"/>
              <a:t>Two events </a:t>
            </a:r>
            <a:r>
              <a:rPr sz="2800" b="0" i="1" dirty="0"/>
              <a:t>A</a:t>
            </a:r>
            <a:r>
              <a:rPr sz="2800" b="0" dirty="0"/>
              <a:t> and </a:t>
            </a:r>
            <a:r>
              <a:rPr sz="2800" b="0" i="1" dirty="0"/>
              <a:t>B</a:t>
            </a:r>
            <a:r>
              <a:rPr sz="2800" b="0" dirty="0"/>
              <a:t> are </a:t>
            </a:r>
            <a:r>
              <a:rPr sz="2800" b="0" dirty="0">
                <a:solidFill>
                  <a:schemeClr val="hlink"/>
                </a:solidFill>
              </a:rPr>
              <a:t>independent</a:t>
            </a:r>
            <a:r>
              <a:rPr sz="2800" b="0" dirty="0"/>
              <a:t> if the occurrence of one does not affect the </a:t>
            </a:r>
            <a:r>
              <a:rPr sz="2800" b="0" i="1" dirty="0"/>
              <a:t>probability</a:t>
            </a:r>
            <a:r>
              <a:rPr sz="2800" b="0" dirty="0"/>
              <a:t> of the occurrence of the other.  </a:t>
            </a:r>
            <a:endParaRPr sz="2800" b="0" dirty="0"/>
          </a:p>
          <a:p>
            <a:pPr marL="0" indent="0">
              <a:lnSpc>
                <a:spcPct val="95000"/>
              </a:lnSpc>
              <a:spcAft>
                <a:spcPct val="30000"/>
              </a:spcAft>
              <a:buClr>
                <a:schemeClr val="accent2"/>
              </a:buClr>
              <a:buFont typeface="Wingdings" panose="05000000000000000000" pitchFamily="2" charset="2"/>
              <a:buNone/>
            </a:pPr>
            <a:r>
              <a:rPr sz="2800" b="0" dirty="0"/>
              <a:t>(Several events are similarly independent if the occurrence of any does not affect the probabilities of the occurrence of the others.)  </a:t>
            </a:r>
            <a:endParaRPr sz="2800" b="0" dirty="0"/>
          </a:p>
          <a:p>
            <a:pPr marL="0" indent="0">
              <a:lnSpc>
                <a:spcPct val="95000"/>
              </a:lnSpc>
              <a:spcAft>
                <a:spcPct val="30000"/>
              </a:spcAft>
              <a:buClr>
                <a:schemeClr val="accent2"/>
              </a:buClr>
              <a:buFont typeface="Wingdings" panose="05000000000000000000" pitchFamily="2" charset="2"/>
              <a:buNone/>
            </a:pPr>
            <a:r>
              <a:rPr sz="2800" b="0" dirty="0"/>
              <a:t>If </a:t>
            </a:r>
            <a:r>
              <a:rPr sz="2800" b="0" i="1" dirty="0"/>
              <a:t>A</a:t>
            </a:r>
            <a:r>
              <a:rPr sz="2800" b="0" dirty="0"/>
              <a:t> and </a:t>
            </a:r>
            <a:r>
              <a:rPr sz="2800" b="0" i="1" dirty="0"/>
              <a:t>B</a:t>
            </a:r>
            <a:r>
              <a:rPr sz="2800" b="0" dirty="0"/>
              <a:t> are not independent, they are said to be </a:t>
            </a:r>
            <a:r>
              <a:rPr sz="2800" b="0" dirty="0">
                <a:solidFill>
                  <a:schemeClr val="hlink"/>
                </a:solidFill>
              </a:rPr>
              <a:t>dependent</a:t>
            </a:r>
            <a:r>
              <a:rPr sz="2800" b="0" dirty="0"/>
              <a:t>.</a:t>
            </a:r>
            <a:endParaRPr sz="2800" b="0" dirty="0"/>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idx="4294967295"/>
          </p:nvPr>
        </p:nvSpPr>
        <p:spPr>
          <a:xfrm>
            <a:off x="2514600" y="190500"/>
            <a:ext cx="7162800" cy="762000"/>
          </a:xfrm>
          <a:prstGeom prst="rect">
            <a:avLst/>
          </a:prstGeom>
          <a:noFill/>
          <a:ln w="9525">
            <a:noFill/>
          </a:ln>
        </p:spPr>
        <p:txBody>
          <a:bodyPr lIns="90488" tIns="44450" rIns="90488" bIns="44450"/>
          <a:p>
            <a:r>
              <a:rPr dirty="0"/>
              <a:t>Dependent Events</a:t>
            </a:r>
            <a:endParaRPr dirty="0"/>
          </a:p>
        </p:txBody>
      </p:sp>
      <p:sp>
        <p:nvSpPr>
          <p:cNvPr id="11267" name="Rectangle 3"/>
          <p:cNvSpPr/>
          <p:nvPr>
            <p:ph type="body" idx="4294967295"/>
          </p:nvPr>
        </p:nvSpPr>
        <p:spPr>
          <a:xfrm>
            <a:off x="2286000" y="1619250"/>
            <a:ext cx="7937500" cy="4432300"/>
          </a:xfrm>
          <a:prstGeom prst="rect">
            <a:avLst/>
          </a:prstGeom>
          <a:noFill/>
          <a:ln w="12700">
            <a:noFill/>
          </a:ln>
        </p:spPr>
        <p:txBody>
          <a:bodyPr lIns="90488" tIns="44450" rIns="90488" bIns="44450"/>
          <a:p>
            <a:pPr marL="0" indent="0">
              <a:lnSpc>
                <a:spcPct val="95000"/>
              </a:lnSpc>
              <a:spcAft>
                <a:spcPct val="30000"/>
              </a:spcAft>
              <a:buClr>
                <a:schemeClr val="accent2"/>
              </a:buClr>
              <a:buFont typeface="Wingdings" panose="05000000000000000000" pitchFamily="2" charset="2"/>
              <a:buNone/>
            </a:pPr>
            <a:r>
              <a:rPr sz="2800" b="0" dirty="0"/>
              <a:t>Two events are dependent if the occurrence of one of them affects the </a:t>
            </a:r>
            <a:r>
              <a:rPr sz="2800" b="0" i="1" dirty="0"/>
              <a:t>probability</a:t>
            </a:r>
            <a:r>
              <a:rPr sz="2800" b="0" dirty="0"/>
              <a:t> of the occurrence of the other, but this does not necessarily mean that one of the events is a </a:t>
            </a:r>
            <a:r>
              <a:rPr sz="2800" b="0" i="1" dirty="0"/>
              <a:t>cause</a:t>
            </a:r>
            <a:r>
              <a:rPr sz="2800" b="0" dirty="0"/>
              <a:t> of the other.</a:t>
            </a:r>
            <a:endParaRPr sz="2800" b="0" dirty="0"/>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idx="4294967295"/>
          </p:nvPr>
        </p:nvSpPr>
        <p:spPr>
          <a:xfrm>
            <a:off x="2514600" y="279400"/>
            <a:ext cx="7162800" cy="1143000"/>
          </a:xfrm>
          <a:prstGeom prst="rect">
            <a:avLst/>
          </a:prstGeom>
          <a:noFill/>
          <a:ln w="9525">
            <a:noFill/>
          </a:ln>
        </p:spPr>
        <p:txBody>
          <a:bodyPr lIns="90488" tIns="44450" rIns="90488" bIns="44450">
            <a:normAutofit fontScale="90000"/>
          </a:bodyPr>
          <a:p>
            <a:r>
              <a:rPr dirty="0"/>
              <a:t>Treating Dependent Events as Independent</a:t>
            </a:r>
            <a:endParaRPr dirty="0"/>
          </a:p>
        </p:txBody>
      </p:sp>
      <p:sp>
        <p:nvSpPr>
          <p:cNvPr id="12291" name="Rectangle 3"/>
          <p:cNvSpPr/>
          <p:nvPr>
            <p:ph type="body" idx="4294967295"/>
          </p:nvPr>
        </p:nvSpPr>
        <p:spPr>
          <a:xfrm>
            <a:off x="2017713" y="2101850"/>
            <a:ext cx="8153400" cy="3857625"/>
          </a:xfrm>
          <a:prstGeom prst="rect">
            <a:avLst/>
          </a:prstGeom>
          <a:noFill/>
          <a:ln w="12700">
            <a:noFill/>
          </a:ln>
        </p:spPr>
        <p:txBody>
          <a:bodyPr lIns="90488" tIns="44450" rIns="90488" bIns="44450"/>
          <a:p>
            <a:pPr indent="0">
              <a:buNone/>
            </a:pPr>
            <a:r>
              <a:rPr sz="2800" b="0" dirty="0"/>
              <a:t>Some calculations are cumbersome, but they can be made manageable by using the common practice of treating events as independent when </a:t>
            </a:r>
            <a:r>
              <a:rPr sz="2800" b="0" dirty="0">
                <a:solidFill>
                  <a:srgbClr val="FF0000"/>
                </a:solidFill>
              </a:rPr>
              <a:t>small samples </a:t>
            </a:r>
            <a:r>
              <a:rPr sz="2800" b="0" dirty="0"/>
              <a:t>are drawn from </a:t>
            </a:r>
            <a:r>
              <a:rPr sz="2800" b="0" dirty="0">
                <a:solidFill>
                  <a:srgbClr val="FF0000"/>
                </a:solidFill>
              </a:rPr>
              <a:t>large populations</a:t>
            </a:r>
            <a:r>
              <a:rPr sz="2800" b="0" dirty="0"/>
              <a:t>. In such cases, it is rare to select the same item twice. </a:t>
            </a:r>
            <a:endParaRPr sz="2800" b="0" dirty="0"/>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idx="4294967295"/>
          </p:nvPr>
        </p:nvSpPr>
        <p:spPr>
          <a:xfrm>
            <a:off x="2514600" y="279400"/>
            <a:ext cx="7800975" cy="1421130"/>
          </a:xfrm>
          <a:prstGeom prst="rect">
            <a:avLst/>
          </a:prstGeom>
          <a:noFill/>
          <a:ln w="9525">
            <a:noFill/>
          </a:ln>
        </p:spPr>
        <p:txBody>
          <a:bodyPr lIns="90488" tIns="44450" rIns="90488" bIns="44450">
            <a:normAutofit fontScale="90000"/>
          </a:bodyPr>
          <a:p>
            <a:r>
              <a:rPr dirty="0"/>
              <a:t>The 5% Guideline for Cumbersome Calculations</a:t>
            </a:r>
            <a:r>
              <a:rPr lang="en-US" dirty="0"/>
              <a:t> (trở ngại)</a:t>
            </a:r>
            <a:endParaRPr lang="en-US" dirty="0"/>
          </a:p>
        </p:txBody>
      </p:sp>
      <p:sp>
        <p:nvSpPr>
          <p:cNvPr id="13315" name="Rectangle 3"/>
          <p:cNvSpPr/>
          <p:nvPr>
            <p:ph type="body" idx="4294967295"/>
          </p:nvPr>
        </p:nvSpPr>
        <p:spPr>
          <a:xfrm>
            <a:off x="2017713" y="2101850"/>
            <a:ext cx="8153400" cy="3387725"/>
          </a:xfrm>
          <a:prstGeom prst="rect">
            <a:avLst/>
          </a:prstGeom>
          <a:noFill/>
          <a:ln w="12700">
            <a:noFill/>
          </a:ln>
        </p:spPr>
        <p:txBody>
          <a:bodyPr lIns="90488" tIns="44450" rIns="90488" bIns="44450"/>
          <a:p>
            <a:pPr>
              <a:buNone/>
            </a:pPr>
            <a:r>
              <a:rPr sz="2800" b="0" dirty="0"/>
              <a:t>   If a sample size is no more than 5% of the size of the population, treat the selections as being </a:t>
            </a:r>
            <a:r>
              <a:rPr sz="2800" b="0" dirty="0">
                <a:solidFill>
                  <a:schemeClr val="hlink"/>
                </a:solidFill>
              </a:rPr>
              <a:t>independent</a:t>
            </a:r>
            <a:r>
              <a:rPr sz="2800" b="0" dirty="0"/>
              <a:t> (even if the selections are made without replacement, so they are technically dependent).</a:t>
            </a:r>
            <a:endParaRPr sz="2800" b="0" dirty="0"/>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idx="4294967295"/>
          </p:nvPr>
        </p:nvSpPr>
        <p:spPr>
          <a:xfrm>
            <a:off x="2514600" y="279400"/>
            <a:ext cx="7162800" cy="635000"/>
          </a:xfrm>
          <a:prstGeom prst="rect">
            <a:avLst/>
          </a:prstGeom>
          <a:noFill/>
          <a:ln w="9525">
            <a:noFill/>
          </a:ln>
        </p:spPr>
        <p:txBody>
          <a:bodyPr lIns="90488" tIns="44450" rIns="90488" bIns="44450">
            <a:normAutofit fontScale="90000"/>
          </a:bodyPr>
          <a:p>
            <a:r>
              <a:rPr dirty="0"/>
              <a:t>Example</a:t>
            </a:r>
            <a:endParaRPr dirty="0"/>
          </a:p>
        </p:txBody>
      </p:sp>
      <p:sp>
        <p:nvSpPr>
          <p:cNvPr id="14339" name="Rectangle 3"/>
          <p:cNvSpPr/>
          <p:nvPr>
            <p:ph type="body" idx="4294967295"/>
          </p:nvPr>
        </p:nvSpPr>
        <p:spPr>
          <a:xfrm>
            <a:off x="2017713" y="1066800"/>
            <a:ext cx="8153400" cy="4422775"/>
          </a:xfrm>
          <a:prstGeom prst="rect">
            <a:avLst/>
          </a:prstGeom>
          <a:noFill/>
          <a:ln w="12700">
            <a:noFill/>
          </a:ln>
        </p:spPr>
        <p:txBody>
          <a:bodyPr lIns="90488" tIns="44450" rIns="90488" bIns="44450"/>
          <a:p>
            <a:pPr marL="0" indent="0">
              <a:buNone/>
            </a:pPr>
            <a:r>
              <a:rPr sz="2800" b="0" dirty="0"/>
              <a:t>Suppose 50 drug test results are given from people who use drugs:</a:t>
            </a:r>
            <a:endParaRPr sz="2800" b="0" dirty="0"/>
          </a:p>
          <a:p>
            <a:pPr marL="0" indent="0">
              <a:buNone/>
            </a:pPr>
            <a:endParaRPr sz="2800" b="0" dirty="0"/>
          </a:p>
          <a:p>
            <a:pPr marL="0" indent="0">
              <a:buNone/>
            </a:pPr>
            <a:endParaRPr sz="2800" b="0" dirty="0"/>
          </a:p>
          <a:p>
            <a:pPr marL="0" indent="0">
              <a:buNone/>
            </a:pPr>
            <a:endParaRPr sz="2800" b="0" dirty="0"/>
          </a:p>
          <a:p>
            <a:pPr marL="0" indent="0">
              <a:buNone/>
            </a:pPr>
            <a:endParaRPr sz="2800" b="0" dirty="0"/>
          </a:p>
          <a:p>
            <a:pPr marL="0" indent="0">
              <a:buNone/>
            </a:pPr>
            <a:r>
              <a:rPr sz="2800" b="0" dirty="0"/>
              <a:t>If 2 of the 50 subjects are randomly selected </a:t>
            </a:r>
            <a:r>
              <a:rPr sz="2800" i="1" dirty="0"/>
              <a:t>without replacement</a:t>
            </a:r>
            <a:r>
              <a:rPr sz="2800" b="0" dirty="0"/>
              <a:t>, find the probability that the first person tested positive and the second person tested negative.</a:t>
            </a:r>
            <a:endParaRPr sz="2800" b="0" dirty="0"/>
          </a:p>
        </p:txBody>
      </p:sp>
      <p:graphicFrame>
        <p:nvGraphicFramePr>
          <p:cNvPr id="4" name="Table 3"/>
          <p:cNvGraphicFramePr>
            <a:graphicFrameLocks noGrp="1"/>
          </p:cNvGraphicFramePr>
          <p:nvPr/>
        </p:nvGraphicFramePr>
        <p:xfrm>
          <a:off x="2819400" y="2286000"/>
          <a:ext cx="5486400" cy="1114425"/>
        </p:xfrm>
        <a:graphic>
          <a:graphicData uri="http://schemas.openxmlformats.org/drawingml/2006/table">
            <a:tbl>
              <a:tblPr firstRow="1" bandRow="1">
                <a:tableStyleId>{5940675A-B579-460E-94D1-54222C63F5DA}</a:tableStyleId>
              </a:tblPr>
              <a:tblGrid>
                <a:gridCol w="2743200"/>
                <a:gridCol w="2743200"/>
              </a:tblGrid>
              <a:tr h="371475">
                <a:tc>
                  <a:txBody>
                    <a:bodyPr/>
                    <a:lstStyle/>
                    <a:p>
                      <a:r>
                        <a:rPr lang="en-US" sz="1800" dirty="0" smtClean="0"/>
                        <a:t>Positive</a:t>
                      </a:r>
                      <a:r>
                        <a:rPr lang="en-US" sz="1800" baseline="0" dirty="0" smtClean="0"/>
                        <a:t> Test Results:</a:t>
                      </a:r>
                      <a:endParaRPr lang="en-US" sz="1800" dirty="0"/>
                    </a:p>
                  </a:txBody>
                  <a:tcPr marT="45733" marB="45733"/>
                </a:tc>
                <a:tc>
                  <a:txBody>
                    <a:bodyPr/>
                    <a:lstStyle/>
                    <a:p>
                      <a:r>
                        <a:rPr lang="en-US" sz="1800" dirty="0" smtClean="0"/>
                        <a:t>44</a:t>
                      </a:r>
                      <a:endParaRPr lang="en-US" sz="1800" dirty="0"/>
                    </a:p>
                  </a:txBody>
                  <a:tcPr marT="45733" marB="45733"/>
                </a:tc>
              </a:tr>
              <a:tr h="371475">
                <a:tc>
                  <a:txBody>
                    <a:bodyPr/>
                    <a:lstStyle/>
                    <a:p>
                      <a:r>
                        <a:rPr lang="en-US" sz="1800" dirty="0" smtClean="0"/>
                        <a:t>Negative Test Results:</a:t>
                      </a:r>
                      <a:endParaRPr lang="en-US" sz="1800" dirty="0"/>
                    </a:p>
                  </a:txBody>
                  <a:tcPr marT="45733" marB="45733"/>
                </a:tc>
                <a:tc>
                  <a:txBody>
                    <a:bodyPr/>
                    <a:lstStyle/>
                    <a:p>
                      <a:r>
                        <a:rPr lang="en-US" sz="1800" dirty="0" smtClean="0"/>
                        <a:t>6</a:t>
                      </a:r>
                      <a:endParaRPr lang="en-US" sz="1800" dirty="0"/>
                    </a:p>
                  </a:txBody>
                  <a:tcPr marT="45733" marB="45733"/>
                </a:tc>
              </a:tr>
              <a:tr h="371475">
                <a:tc>
                  <a:txBody>
                    <a:bodyPr/>
                    <a:lstStyle/>
                    <a:p>
                      <a:r>
                        <a:rPr lang="en-US" sz="1800" dirty="0" smtClean="0"/>
                        <a:t>Total Results:</a:t>
                      </a:r>
                      <a:endParaRPr lang="en-US" sz="1800" dirty="0"/>
                    </a:p>
                  </a:txBody>
                  <a:tcPr marT="45733" marB="45733"/>
                </a:tc>
                <a:tc>
                  <a:txBody>
                    <a:bodyPr/>
                    <a:lstStyle/>
                    <a:p>
                      <a:r>
                        <a:rPr lang="en-US" sz="1800" dirty="0" smtClean="0"/>
                        <a:t>50</a:t>
                      </a:r>
                      <a:endParaRPr lang="en-US" sz="1800" dirty="0"/>
                    </a:p>
                  </a:txBody>
                  <a:tcPr marT="45733" marB="45733"/>
                </a:tc>
              </a:tr>
            </a:tbl>
          </a:graphicData>
        </a:graphic>
      </p:graphicFrame>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idx="4294967295"/>
          </p:nvPr>
        </p:nvSpPr>
        <p:spPr>
          <a:xfrm>
            <a:off x="2514600" y="279400"/>
            <a:ext cx="7162800" cy="635000"/>
          </a:xfrm>
          <a:prstGeom prst="rect">
            <a:avLst/>
          </a:prstGeom>
          <a:noFill/>
          <a:ln w="9525">
            <a:noFill/>
          </a:ln>
        </p:spPr>
        <p:txBody>
          <a:bodyPr lIns="90488" tIns="44450" rIns="90488" bIns="44450">
            <a:normAutofit fontScale="90000"/>
          </a:bodyPr>
          <a:p>
            <a:r>
              <a:rPr dirty="0"/>
              <a:t>Example – continued </a:t>
            </a:r>
            <a:endParaRPr dirty="0"/>
          </a:p>
        </p:txBody>
      </p:sp>
      <p:sp>
        <p:nvSpPr>
          <p:cNvPr id="15363" name="Rectangle 3"/>
          <p:cNvSpPr/>
          <p:nvPr>
            <p:ph type="body" idx="4294967295"/>
          </p:nvPr>
        </p:nvSpPr>
        <p:spPr>
          <a:xfrm>
            <a:off x="2017713" y="1066800"/>
            <a:ext cx="8153400" cy="4422775"/>
          </a:xfrm>
          <a:prstGeom prst="rect">
            <a:avLst/>
          </a:prstGeom>
          <a:noFill/>
          <a:ln w="12700">
            <a:noFill/>
          </a:ln>
        </p:spPr>
        <p:txBody>
          <a:bodyPr lIns="90488" tIns="44450" rIns="90488" bIns="44450"/>
          <a:p>
            <a:pPr marL="0" indent="0">
              <a:buNone/>
            </a:pPr>
            <a:r>
              <a:rPr b="0" dirty="0"/>
              <a:t>If 2 of the 50 subjects are randomly selected </a:t>
            </a:r>
            <a:r>
              <a:rPr i="1" dirty="0"/>
              <a:t>without replacement</a:t>
            </a:r>
            <a:r>
              <a:rPr b="0" dirty="0"/>
              <a:t>, find the probability that the first person tested positive and the second person tested negative.</a:t>
            </a:r>
            <a:endParaRPr b="0" dirty="0"/>
          </a:p>
          <a:p>
            <a:pPr marL="0" indent="0">
              <a:buNone/>
            </a:pPr>
            <a:endParaRPr sz="2800" b="0" dirty="0"/>
          </a:p>
          <a:p>
            <a:pPr marL="0" indent="0">
              <a:buNone/>
            </a:pPr>
            <a:endParaRPr sz="2800" b="0" dirty="0"/>
          </a:p>
          <a:p>
            <a:pPr marL="0" indent="0">
              <a:buNone/>
            </a:pPr>
            <a:endParaRPr sz="2800" b="0" dirty="0"/>
          </a:p>
          <a:p>
            <a:pPr marL="0" indent="0">
              <a:buNone/>
            </a:pPr>
            <a:endParaRPr sz="2800" b="0" dirty="0"/>
          </a:p>
        </p:txBody>
      </p:sp>
      <p:graphicFrame>
        <p:nvGraphicFramePr>
          <p:cNvPr id="4" name="Table 3"/>
          <p:cNvGraphicFramePr>
            <a:graphicFrameLocks noGrp="1"/>
          </p:cNvGraphicFramePr>
          <p:nvPr/>
        </p:nvGraphicFramePr>
        <p:xfrm>
          <a:off x="3200400" y="2362200"/>
          <a:ext cx="5486400" cy="1114425"/>
        </p:xfrm>
        <a:graphic>
          <a:graphicData uri="http://schemas.openxmlformats.org/drawingml/2006/table">
            <a:tbl>
              <a:tblPr firstRow="1" bandRow="1">
                <a:tableStyleId>{5940675A-B579-460E-94D1-54222C63F5DA}</a:tableStyleId>
              </a:tblPr>
              <a:tblGrid>
                <a:gridCol w="2743200"/>
                <a:gridCol w="2743200"/>
              </a:tblGrid>
              <a:tr h="371475">
                <a:tc>
                  <a:txBody>
                    <a:bodyPr/>
                    <a:lstStyle/>
                    <a:p>
                      <a:r>
                        <a:rPr lang="en-US" sz="1800" dirty="0" smtClean="0"/>
                        <a:t>Positive</a:t>
                      </a:r>
                      <a:r>
                        <a:rPr lang="en-US" sz="1800" baseline="0" dirty="0" smtClean="0"/>
                        <a:t> Test Results:</a:t>
                      </a:r>
                      <a:endParaRPr lang="en-US" sz="1800" dirty="0"/>
                    </a:p>
                  </a:txBody>
                  <a:tcPr marT="45733" marB="45733"/>
                </a:tc>
                <a:tc>
                  <a:txBody>
                    <a:bodyPr/>
                    <a:lstStyle/>
                    <a:p>
                      <a:r>
                        <a:rPr lang="en-US" sz="1800" dirty="0" smtClean="0"/>
                        <a:t>44</a:t>
                      </a:r>
                      <a:endParaRPr lang="en-US" sz="1800" dirty="0"/>
                    </a:p>
                  </a:txBody>
                  <a:tcPr marT="45733" marB="45733"/>
                </a:tc>
              </a:tr>
              <a:tr h="371475">
                <a:tc>
                  <a:txBody>
                    <a:bodyPr/>
                    <a:lstStyle/>
                    <a:p>
                      <a:r>
                        <a:rPr lang="en-US" sz="1800" dirty="0" smtClean="0"/>
                        <a:t>Negative Test Results:</a:t>
                      </a:r>
                      <a:endParaRPr lang="en-US" sz="1800" dirty="0"/>
                    </a:p>
                  </a:txBody>
                  <a:tcPr marT="45733" marB="45733"/>
                </a:tc>
                <a:tc>
                  <a:txBody>
                    <a:bodyPr/>
                    <a:lstStyle/>
                    <a:p>
                      <a:r>
                        <a:rPr lang="en-US" sz="1800" dirty="0" smtClean="0"/>
                        <a:t>6</a:t>
                      </a:r>
                      <a:endParaRPr lang="en-US" sz="1800" dirty="0"/>
                    </a:p>
                  </a:txBody>
                  <a:tcPr marT="45733" marB="45733"/>
                </a:tc>
              </a:tr>
              <a:tr h="371475">
                <a:tc>
                  <a:txBody>
                    <a:bodyPr/>
                    <a:lstStyle/>
                    <a:p>
                      <a:r>
                        <a:rPr lang="en-US" sz="1800" dirty="0" smtClean="0"/>
                        <a:t>Total Results:</a:t>
                      </a:r>
                      <a:endParaRPr lang="en-US" sz="1800" dirty="0"/>
                    </a:p>
                  </a:txBody>
                  <a:tcPr marT="45733" marB="45733"/>
                </a:tc>
                <a:tc>
                  <a:txBody>
                    <a:bodyPr/>
                    <a:lstStyle/>
                    <a:p>
                      <a:r>
                        <a:rPr lang="en-US" sz="1800" dirty="0" smtClean="0"/>
                        <a:t>50</a:t>
                      </a:r>
                      <a:endParaRPr lang="en-US" sz="1800" dirty="0"/>
                    </a:p>
                  </a:txBody>
                  <a:tcPr marT="45733" marB="45733"/>
                </a:tc>
              </a:tr>
            </a:tbl>
          </a:graphicData>
        </a:graphic>
      </p:graphicFrame>
      <p:graphicFrame>
        <p:nvGraphicFramePr>
          <p:cNvPr id="15378" name="Object 2"/>
          <p:cNvGraphicFramePr>
            <a:graphicFrameLocks noChangeAspect="1"/>
          </p:cNvGraphicFramePr>
          <p:nvPr/>
        </p:nvGraphicFramePr>
        <p:xfrm>
          <a:off x="2590800" y="3886200"/>
          <a:ext cx="5924550" cy="1828800"/>
        </p:xfrm>
        <a:graphic>
          <a:graphicData uri="http://schemas.openxmlformats.org/presentationml/2006/ole">
            <mc:AlternateContent xmlns:mc="http://schemas.openxmlformats.org/markup-compatibility/2006">
              <mc:Choice xmlns:v="urn:schemas-microsoft-com:vml" Requires="v">
                <p:oleObj spid="_x0000_s3077" name="" r:id="rId1" imgW="3949700" imgH="1219200" progId="Equation.DSMT4">
                  <p:embed/>
                </p:oleObj>
              </mc:Choice>
              <mc:Fallback>
                <p:oleObj name="" r:id="rId1" imgW="3949700" imgH="1219200" progId="Equation.DSMT4">
                  <p:embed/>
                  <p:pic>
                    <p:nvPicPr>
                      <p:cNvPr id="0" name="Picture 3076"/>
                      <p:cNvPicPr/>
                      <p:nvPr/>
                    </p:nvPicPr>
                    <p:blipFill>
                      <a:blip r:embed="rId2"/>
                      <a:stretch>
                        <a:fillRect/>
                      </a:stretch>
                    </p:blipFill>
                    <p:spPr>
                      <a:xfrm>
                        <a:off x="2590800" y="3886200"/>
                        <a:ext cx="5924550" cy="1828800"/>
                      </a:xfrm>
                      <a:prstGeom prst="rect">
                        <a:avLst/>
                      </a:prstGeom>
                      <a:noFill/>
                      <a:ln w="38100">
                        <a:noFill/>
                        <a:miter/>
                      </a:ln>
                    </p:spPr>
                  </p:pic>
                </p:oleObj>
              </mc:Fallback>
            </mc:AlternateContent>
          </a:graphicData>
        </a:graphic>
      </p:graphicFrame>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idx="4294967295"/>
          </p:nvPr>
        </p:nvSpPr>
        <p:spPr>
          <a:xfrm>
            <a:off x="2514600" y="279400"/>
            <a:ext cx="7162800" cy="635000"/>
          </a:xfrm>
          <a:prstGeom prst="rect">
            <a:avLst/>
          </a:prstGeom>
          <a:noFill/>
          <a:ln w="9525">
            <a:noFill/>
          </a:ln>
        </p:spPr>
        <p:txBody>
          <a:bodyPr lIns="90488" tIns="44450" rIns="90488" bIns="44450">
            <a:normAutofit fontScale="90000"/>
          </a:bodyPr>
          <a:p>
            <a:r>
              <a:rPr dirty="0"/>
              <a:t>Example</a:t>
            </a:r>
            <a:endParaRPr dirty="0"/>
          </a:p>
        </p:txBody>
      </p:sp>
      <p:sp>
        <p:nvSpPr>
          <p:cNvPr id="13315" name="Rectangle 3"/>
          <p:cNvSpPr>
            <a:spLocks noGrp="1" noChangeArrowheads="1"/>
          </p:cNvSpPr>
          <p:nvPr>
            <p:ph type="body" idx="4294967295"/>
          </p:nvPr>
        </p:nvSpPr>
        <p:spPr bwMode="auto">
          <a:xfrm>
            <a:off x="2017713" y="1143000"/>
            <a:ext cx="8153400" cy="4346575"/>
          </a:xfrm>
          <a:prstGeom prst="rect">
            <a:avLst/>
          </a:prstGeom>
          <a:ln w="12700">
            <a:noFill/>
            <a:miter lim="800000"/>
          </a:ln>
        </p:spPr>
        <p:txBody>
          <a:bodyPr lIns="90488" tIns="44450" rIns="90488" bIns="44450"/>
          <a:lstStyle/>
          <a:p>
            <a:pPr marL="0" marR="0" lvl="0" indent="-285750" algn="l" defTabSz="914400" rtl="0" eaLnBrk="0" fontAlgn="base" latinLnBrk="0" hangingPunct="0">
              <a:lnSpc>
                <a:spcPct val="90000"/>
              </a:lnSpc>
              <a:spcBef>
                <a:spcPct val="30000"/>
              </a:spcBef>
              <a:spcAft>
                <a:spcPct val="0"/>
              </a:spcAft>
              <a:buClrTx/>
              <a:buSzPct val="100000"/>
              <a:buFontTx/>
              <a:buNone/>
              <a:defRPr/>
            </a:pPr>
            <a:r>
              <a:rPr kumimoji="0" lang="en-US" sz="2800" b="0" i="0" u="none" strike="noStrike" kern="0" cap="none" spc="0" normalizeH="0" baseline="0" noProof="0" dirty="0" smtClean="0">
                <a:ln>
                  <a:noFill/>
                </a:ln>
                <a:solidFill>
                  <a:schemeClr val="tx1"/>
                </a:solidFill>
                <a:effectLst/>
                <a:uLnTx/>
                <a:uFillTx/>
                <a:latin typeface="+mn-lt"/>
                <a:ea typeface="+mn-ea"/>
                <a:cs typeface="+mn-cs"/>
              </a:rPr>
              <a:t>When two different people are randomly selected from those in your class, find the indicated probability by assuming birthdays occur on the same day of the week with equal frequencies.</a:t>
            </a:r>
            <a:endParaRPr kumimoji="0" lang="en-US" sz="2800" b="0" i="0" u="none" strike="noStrike" kern="0" cap="none" spc="0" normalizeH="0" baseline="0" noProof="0" dirty="0" smtClean="0">
              <a:ln>
                <a:noFill/>
              </a:ln>
              <a:solidFill>
                <a:schemeClr val="tx1"/>
              </a:solidFill>
              <a:effectLst/>
              <a:uLnTx/>
              <a:uFillTx/>
              <a:latin typeface="+mn-lt"/>
              <a:ea typeface="+mn-ea"/>
              <a:cs typeface="+mn-cs"/>
            </a:endParaRPr>
          </a:p>
          <a:p>
            <a:pPr marL="285750" marR="0" lvl="0" indent="-285750" algn="l" defTabSz="914400" rtl="0" eaLnBrk="0" fontAlgn="base" latinLnBrk="0" hangingPunct="0">
              <a:lnSpc>
                <a:spcPct val="90000"/>
              </a:lnSpc>
              <a:spcBef>
                <a:spcPct val="30000"/>
              </a:spcBef>
              <a:spcAft>
                <a:spcPct val="0"/>
              </a:spcAft>
              <a:buClrTx/>
              <a:buSzPct val="100000"/>
              <a:buFontTx/>
              <a:buNone/>
              <a:defRPr/>
            </a:pPr>
            <a:endParaRPr kumimoji="0" lang="en-US" sz="2800" b="0" i="0" u="none" strike="noStrike" kern="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90000"/>
              </a:lnSpc>
              <a:spcBef>
                <a:spcPct val="30000"/>
              </a:spcBef>
              <a:spcAft>
                <a:spcPct val="0"/>
              </a:spcAft>
              <a:buClrTx/>
              <a:buSzPct val="100000"/>
              <a:buFontTx/>
              <a:buAutoNum type="alphaLcPeriod"/>
              <a:defRPr/>
            </a:pPr>
            <a:r>
              <a:rPr kumimoji="0" lang="en-US" sz="2800" b="0" i="0" u="none" strike="noStrike" kern="0" cap="none" spc="0" normalizeH="0" baseline="0" noProof="0" dirty="0" smtClean="0">
                <a:ln>
                  <a:noFill/>
                </a:ln>
                <a:solidFill>
                  <a:schemeClr val="tx1"/>
                </a:solidFill>
                <a:effectLst/>
                <a:uLnTx/>
                <a:uFillTx/>
                <a:latin typeface="+mn-lt"/>
                <a:ea typeface="+mn-ea"/>
                <a:cs typeface="+mn-cs"/>
              </a:rPr>
              <a:t>Probability that two people are born on the same day of the week.</a:t>
            </a:r>
            <a:endParaRPr kumimoji="0" lang="en-US" sz="2800" b="0" i="0" u="none" strike="noStrike" kern="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90000"/>
              </a:lnSpc>
              <a:spcBef>
                <a:spcPct val="30000"/>
              </a:spcBef>
              <a:spcAft>
                <a:spcPct val="0"/>
              </a:spcAft>
              <a:buClrTx/>
              <a:buSzPct val="100000"/>
              <a:buFontTx/>
              <a:buAutoNum type="alphaLcPeriod"/>
              <a:defRPr/>
            </a:pPr>
            <a:r>
              <a:rPr kumimoji="0" lang="en-US" sz="2800" b="0" i="0" u="none" strike="noStrike" kern="0" cap="none" spc="0" normalizeH="0" baseline="0" noProof="0" dirty="0" smtClean="0">
                <a:ln>
                  <a:noFill/>
                </a:ln>
                <a:solidFill>
                  <a:schemeClr val="tx1"/>
                </a:solidFill>
                <a:effectLst/>
                <a:uLnTx/>
                <a:uFillTx/>
                <a:latin typeface="+mn-lt"/>
                <a:ea typeface="+mn-ea"/>
                <a:cs typeface="+mn-cs"/>
              </a:rPr>
              <a:t>Probability that two people are both born on Monday.</a:t>
            </a:r>
            <a:endParaRPr kumimoji="0" lang="en-US" sz="28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idx="4294967295"/>
          </p:nvPr>
        </p:nvSpPr>
        <p:spPr>
          <a:xfrm>
            <a:off x="2514600" y="279400"/>
            <a:ext cx="7162800" cy="635000"/>
          </a:xfrm>
          <a:prstGeom prst="rect">
            <a:avLst/>
          </a:prstGeom>
          <a:noFill/>
          <a:ln w="9525">
            <a:noFill/>
          </a:ln>
        </p:spPr>
        <p:txBody>
          <a:bodyPr lIns="90488" tIns="44450" rIns="90488" bIns="44450">
            <a:normAutofit fontScale="90000"/>
          </a:bodyPr>
          <a:p>
            <a:r>
              <a:rPr dirty="0"/>
              <a:t>Example – continued </a:t>
            </a:r>
            <a:endParaRPr dirty="0"/>
          </a:p>
        </p:txBody>
      </p:sp>
      <p:sp>
        <p:nvSpPr>
          <p:cNvPr id="17411" name="Rectangle 3"/>
          <p:cNvSpPr/>
          <p:nvPr>
            <p:ph type="body" idx="4294967295"/>
          </p:nvPr>
        </p:nvSpPr>
        <p:spPr>
          <a:xfrm>
            <a:off x="2017713" y="1143000"/>
            <a:ext cx="8153400" cy="4346575"/>
          </a:xfrm>
          <a:prstGeom prst="rect">
            <a:avLst/>
          </a:prstGeom>
          <a:noFill/>
          <a:ln w="12700">
            <a:noFill/>
          </a:ln>
        </p:spPr>
        <p:txBody>
          <a:bodyPr lIns="90488" tIns="44450" rIns="90488" bIns="44450">
            <a:normAutofit fontScale="90000" lnSpcReduction="10000"/>
          </a:bodyPr>
          <a:p>
            <a:pPr marL="514350" indent="-514350">
              <a:buFontTx/>
              <a:buAutoNum type="alphaLcPeriod"/>
            </a:pPr>
            <a:r>
              <a:rPr b="0" dirty="0"/>
              <a:t>Probability that two people are born on the same day of the week.</a:t>
            </a:r>
            <a:endParaRPr b="0" dirty="0"/>
          </a:p>
          <a:p>
            <a:pPr marL="514350" indent="-514350">
              <a:buNone/>
            </a:pPr>
            <a:r>
              <a:rPr b="0" dirty="0"/>
              <a:t>	Because no particular day is specified, the first person can be born on any day.  The probability that the second person is born on the same day is 1/7, so the probability both are born on the same day is 1/7.</a:t>
            </a:r>
            <a:endParaRPr b="0" dirty="0"/>
          </a:p>
          <a:p>
            <a:pPr marL="514350" indent="-514350">
              <a:buNone/>
            </a:pPr>
            <a:endParaRPr b="0" dirty="0"/>
          </a:p>
          <a:p>
            <a:pPr marL="514350" indent="-514350">
              <a:buFontTx/>
              <a:buAutoNum type="alphaLcPeriod" startAt="2"/>
            </a:pPr>
            <a:r>
              <a:rPr b="0" dirty="0"/>
              <a:t>Probability that two people are both born on Monday.</a:t>
            </a:r>
            <a:endParaRPr b="0" dirty="0"/>
          </a:p>
          <a:p>
            <a:pPr marL="514350" indent="-514350">
              <a:buNone/>
            </a:pPr>
            <a:r>
              <a:rPr b="0" dirty="0"/>
              <a:t>	The probability the first person is born on Monday is 1/7, and the same goes for the second person.  The </a:t>
            </a:r>
            <a:endParaRPr b="0" dirty="0"/>
          </a:p>
          <a:p>
            <a:pPr marL="514350" indent="-514350">
              <a:buNone/>
            </a:pPr>
            <a:r>
              <a:rPr b="0" dirty="0"/>
              <a:t>	probability they are both born on Monday is:              .</a:t>
            </a:r>
            <a:endParaRPr b="0" dirty="0"/>
          </a:p>
        </p:txBody>
      </p:sp>
      <p:graphicFrame>
        <p:nvGraphicFramePr>
          <p:cNvPr id="17412" name="Object 2"/>
          <p:cNvGraphicFramePr>
            <a:graphicFrameLocks noChangeAspect="1"/>
          </p:cNvGraphicFramePr>
          <p:nvPr/>
        </p:nvGraphicFramePr>
        <p:xfrm>
          <a:off x="8610600" y="4800600"/>
          <a:ext cx="1098550" cy="695325"/>
        </p:xfrm>
        <a:graphic>
          <a:graphicData uri="http://schemas.openxmlformats.org/presentationml/2006/ole">
            <mc:AlternateContent xmlns:mc="http://schemas.openxmlformats.org/markup-compatibility/2006">
              <mc:Choice xmlns:v="urn:schemas-microsoft-com:vml" Requires="v">
                <p:oleObj spid="_x0000_s3076" name="" r:id="rId1" imgW="622300" imgH="393700" progId="Equation.DSMT4">
                  <p:embed/>
                </p:oleObj>
              </mc:Choice>
              <mc:Fallback>
                <p:oleObj name="" r:id="rId1" imgW="622300" imgH="393700" progId="Equation.DSMT4">
                  <p:embed/>
                  <p:pic>
                    <p:nvPicPr>
                      <p:cNvPr id="0" name="Picture 3075"/>
                      <p:cNvPicPr/>
                      <p:nvPr/>
                    </p:nvPicPr>
                    <p:blipFill>
                      <a:blip r:embed="rId2"/>
                      <a:stretch>
                        <a:fillRect/>
                      </a:stretch>
                    </p:blipFill>
                    <p:spPr>
                      <a:xfrm>
                        <a:off x="8610600" y="4800600"/>
                        <a:ext cx="1098550" cy="695325"/>
                      </a:xfrm>
                      <a:prstGeom prst="rect">
                        <a:avLst/>
                      </a:prstGeom>
                      <a:noFill/>
                      <a:ln w="38100">
                        <a:noFill/>
                        <a:miter/>
                      </a:ln>
                    </p:spPr>
                  </p:pic>
                </p:oleObj>
              </mc:Fallback>
            </mc:AlternateContent>
          </a:graphicData>
        </a:graphic>
      </p:graphicFrame>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p:nvPr/>
        </p:nvSpPr>
        <p:spPr>
          <a:xfrm>
            <a:off x="2514600" y="152400"/>
            <a:ext cx="7162800" cy="831850"/>
          </a:xfrm>
          <a:prstGeom prst="rect">
            <a:avLst/>
          </a:prstGeom>
          <a:noFill/>
          <a:ln w="12700">
            <a:noFill/>
          </a:ln>
        </p:spPr>
        <p:txBody>
          <a:bodyPr lIns="90488" tIns="44450" rIns="90488" bIns="44450" anchor="ctr" anchorCtr="0"/>
          <a:p>
            <a:pPr algn="ctr"/>
            <a:r>
              <a:rPr sz="4000" dirty="0">
                <a:solidFill>
                  <a:srgbClr val="008000"/>
                </a:solidFill>
                <a:latin typeface="Arial" panose="020B0604020202020204" pitchFamily="34" charset="0"/>
              </a:rPr>
              <a:t>Tree Diagrams</a:t>
            </a:r>
            <a:endParaRPr sz="4000" dirty="0">
              <a:solidFill>
                <a:srgbClr val="008000"/>
              </a:solidFill>
              <a:latin typeface="Arial" panose="020B0604020202020204" pitchFamily="34" charset="0"/>
            </a:endParaRPr>
          </a:p>
        </p:txBody>
      </p:sp>
      <p:sp>
        <p:nvSpPr>
          <p:cNvPr id="18435" name="Text Box 3"/>
          <p:cNvSpPr txBox="1"/>
          <p:nvPr/>
        </p:nvSpPr>
        <p:spPr>
          <a:xfrm>
            <a:off x="2211388" y="1616075"/>
            <a:ext cx="7735887" cy="3535680"/>
          </a:xfrm>
          <a:prstGeom prst="rect">
            <a:avLst/>
          </a:prstGeom>
          <a:noFill/>
          <a:ln w="12700">
            <a:noFill/>
          </a:ln>
        </p:spPr>
        <p:txBody>
          <a:bodyPr lIns="90488" tIns="44450" rIns="90488" bIns="44450">
            <a:spAutoFit/>
          </a:bodyPr>
          <a:p>
            <a:pPr>
              <a:lnSpc>
                <a:spcPct val="100000"/>
              </a:lnSpc>
              <a:spcBef>
                <a:spcPct val="50000"/>
              </a:spcBef>
            </a:pPr>
            <a:r>
              <a:rPr sz="3200" b="0" dirty="0">
                <a:latin typeface="Arial" panose="020B0604020202020204" pitchFamily="34" charset="0"/>
              </a:rPr>
              <a:t>A </a:t>
            </a:r>
            <a:r>
              <a:rPr sz="3200" b="0" dirty="0">
                <a:solidFill>
                  <a:schemeClr val="hlink"/>
                </a:solidFill>
                <a:latin typeface="Arial" panose="020B0604020202020204" pitchFamily="34" charset="0"/>
              </a:rPr>
              <a:t>tree diagram</a:t>
            </a:r>
            <a:r>
              <a:rPr sz="3200" b="0" dirty="0">
                <a:latin typeface="Arial" panose="020B0604020202020204" pitchFamily="34" charset="0"/>
              </a:rPr>
              <a:t> is a picture of the possible outcomes of a procedure, shown as line segments emanating from one starting point.  These diagrams are sometimes helpful in determining the number of possible outcomes in a sample space, if the number of possibilities is not too large.</a:t>
            </a:r>
            <a:endParaRPr sz="3200" b="0" dirty="0">
              <a:latin typeface="Arial" panose="020B0604020202020204" pitchFamily="34" charset="0"/>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p:nvPr/>
        </p:nvSpPr>
        <p:spPr>
          <a:xfrm>
            <a:off x="2514600" y="152400"/>
            <a:ext cx="7162800" cy="831850"/>
          </a:xfrm>
          <a:prstGeom prst="rect">
            <a:avLst/>
          </a:prstGeom>
          <a:noFill/>
          <a:ln w="12700">
            <a:noFill/>
          </a:ln>
        </p:spPr>
        <p:txBody>
          <a:bodyPr lIns="90488" tIns="44450" rIns="90488" bIns="44450" anchor="ctr" anchorCtr="0"/>
          <a:p>
            <a:pPr algn="ctr"/>
            <a:r>
              <a:rPr sz="4000" dirty="0">
                <a:solidFill>
                  <a:srgbClr val="008000"/>
                </a:solidFill>
                <a:latin typeface="Arial" panose="020B0604020202020204" pitchFamily="34" charset="0"/>
              </a:rPr>
              <a:t>Tree Diagrams</a:t>
            </a:r>
            <a:endParaRPr sz="4000" dirty="0">
              <a:solidFill>
                <a:srgbClr val="008000"/>
              </a:solidFill>
              <a:latin typeface="Arial" panose="020B0604020202020204" pitchFamily="34" charset="0"/>
            </a:endParaRPr>
          </a:p>
        </p:txBody>
      </p:sp>
      <p:pic>
        <p:nvPicPr>
          <p:cNvPr id="19459" name="Picture 4" descr="3_08"/>
          <p:cNvPicPr>
            <a:picLocks noChangeAspect="1"/>
          </p:cNvPicPr>
          <p:nvPr/>
        </p:nvPicPr>
        <p:blipFill>
          <a:blip r:embed="rId1"/>
          <a:stretch>
            <a:fillRect/>
          </a:stretch>
        </p:blipFill>
        <p:spPr>
          <a:xfrm>
            <a:off x="5311775" y="1092200"/>
            <a:ext cx="4789488" cy="5013325"/>
          </a:xfrm>
          <a:prstGeom prst="rect">
            <a:avLst/>
          </a:prstGeom>
          <a:noFill/>
          <a:ln w="9525">
            <a:noFill/>
          </a:ln>
        </p:spPr>
      </p:pic>
      <p:sp>
        <p:nvSpPr>
          <p:cNvPr id="19460" name="Rectangle 5"/>
          <p:cNvSpPr/>
          <p:nvPr/>
        </p:nvSpPr>
        <p:spPr>
          <a:xfrm>
            <a:off x="1981200" y="1333500"/>
            <a:ext cx="3276600" cy="3599815"/>
          </a:xfrm>
          <a:prstGeom prst="rect">
            <a:avLst/>
          </a:prstGeom>
          <a:noFill/>
          <a:ln w="12700">
            <a:noFill/>
          </a:ln>
        </p:spPr>
        <p:txBody>
          <a:bodyPr>
            <a:spAutoFit/>
          </a:bodyPr>
          <a:p>
            <a:pPr>
              <a:lnSpc>
                <a:spcPct val="100000"/>
              </a:lnSpc>
            </a:pPr>
            <a:r>
              <a:rPr sz="2400" dirty="0">
                <a:latin typeface="Arial" panose="020B0604020202020204" pitchFamily="34" charset="0"/>
              </a:rPr>
              <a:t>This figure summarizes </a:t>
            </a:r>
            <a:endParaRPr sz="2400" dirty="0">
              <a:latin typeface="Arial" panose="020B0604020202020204" pitchFamily="34" charset="0"/>
            </a:endParaRPr>
          </a:p>
          <a:p>
            <a:pPr>
              <a:lnSpc>
                <a:spcPct val="100000"/>
              </a:lnSpc>
            </a:pPr>
            <a:r>
              <a:rPr sz="2400" dirty="0">
                <a:latin typeface="Arial" panose="020B0604020202020204" pitchFamily="34" charset="0"/>
              </a:rPr>
              <a:t>the possible outcomes </a:t>
            </a:r>
            <a:endParaRPr sz="2400" dirty="0">
              <a:latin typeface="Arial" panose="020B0604020202020204" pitchFamily="34" charset="0"/>
            </a:endParaRPr>
          </a:p>
          <a:p>
            <a:pPr>
              <a:lnSpc>
                <a:spcPct val="100000"/>
              </a:lnSpc>
            </a:pPr>
            <a:r>
              <a:rPr sz="2400" dirty="0">
                <a:latin typeface="Arial" panose="020B0604020202020204" pitchFamily="34" charset="0"/>
              </a:rPr>
              <a:t>for a true/false question followed </a:t>
            </a:r>
            <a:endParaRPr sz="2400" dirty="0">
              <a:latin typeface="Arial" panose="020B0604020202020204" pitchFamily="34" charset="0"/>
            </a:endParaRPr>
          </a:p>
          <a:p>
            <a:pPr>
              <a:lnSpc>
                <a:spcPct val="100000"/>
              </a:lnSpc>
            </a:pPr>
            <a:r>
              <a:rPr sz="2400" dirty="0">
                <a:latin typeface="Arial" panose="020B0604020202020204" pitchFamily="34" charset="0"/>
              </a:rPr>
              <a:t>by a multiple choice question.  </a:t>
            </a:r>
            <a:endParaRPr sz="2400" dirty="0">
              <a:latin typeface="Arial" panose="020B0604020202020204" pitchFamily="34" charset="0"/>
            </a:endParaRPr>
          </a:p>
          <a:p>
            <a:pPr>
              <a:lnSpc>
                <a:spcPct val="100000"/>
              </a:lnSpc>
              <a:spcBef>
                <a:spcPct val="50000"/>
              </a:spcBef>
            </a:pPr>
            <a:r>
              <a:rPr sz="2400" dirty="0">
                <a:solidFill>
                  <a:schemeClr val="tx2"/>
                </a:solidFill>
                <a:latin typeface="Arial" panose="020B0604020202020204" pitchFamily="34" charset="0"/>
              </a:rPr>
              <a:t>Note that there are 10 possible combinations.</a:t>
            </a:r>
            <a:endParaRPr sz="2400" dirty="0">
              <a:latin typeface="Arial" panose="020B0604020202020204" pitchFamily="34" charset="0"/>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p:nvPr/>
        </p:nvSpPr>
        <p:spPr>
          <a:xfrm>
            <a:off x="2514600" y="241300"/>
            <a:ext cx="7162800" cy="685800"/>
          </a:xfrm>
          <a:prstGeom prst="rect">
            <a:avLst/>
          </a:prstGeom>
          <a:noFill/>
          <a:ln w="12700">
            <a:noFill/>
          </a:ln>
        </p:spPr>
        <p:txBody>
          <a:bodyPr lIns="90488" tIns="44450" rIns="90488" bIns="44450" anchor="ctr" anchorCtr="0"/>
          <a:p>
            <a:pPr algn="ctr"/>
            <a:r>
              <a:rPr sz="4000" dirty="0">
                <a:solidFill>
                  <a:srgbClr val="008000"/>
                </a:solidFill>
                <a:latin typeface="Arial" panose="020B0604020202020204" pitchFamily="34" charset="0"/>
              </a:rPr>
              <a:t>Summary of Fundamentals</a:t>
            </a:r>
            <a:endParaRPr sz="4000" dirty="0">
              <a:solidFill>
                <a:srgbClr val="008000"/>
              </a:solidFill>
              <a:latin typeface="Arial" panose="020B0604020202020204" pitchFamily="34" charset="0"/>
            </a:endParaRPr>
          </a:p>
        </p:txBody>
      </p:sp>
      <p:sp>
        <p:nvSpPr>
          <p:cNvPr id="20483" name="Text Box 3"/>
          <p:cNvSpPr txBox="1"/>
          <p:nvPr/>
        </p:nvSpPr>
        <p:spPr>
          <a:xfrm>
            <a:off x="1970088" y="1092200"/>
            <a:ext cx="8388350" cy="1812290"/>
          </a:xfrm>
          <a:prstGeom prst="rect">
            <a:avLst/>
          </a:prstGeom>
          <a:noFill/>
          <a:ln w="12700">
            <a:noFill/>
          </a:ln>
        </p:spPr>
        <p:txBody>
          <a:bodyPr lIns="90488" tIns="44450" rIns="90488" bIns="44450">
            <a:spAutoFit/>
          </a:bodyPr>
          <a:p>
            <a:pPr marL="457200" indent="-457200" defTabSz="349250">
              <a:lnSpc>
                <a:spcPct val="100000"/>
              </a:lnSpc>
              <a:spcBef>
                <a:spcPct val="50000"/>
              </a:spcBef>
              <a:buClr>
                <a:schemeClr val="accent2"/>
              </a:buClr>
              <a:buFont typeface="Wingdings" panose="05000000000000000000" pitchFamily="2" charset="2"/>
              <a:buChar char="v"/>
            </a:pPr>
            <a:r>
              <a:rPr sz="2800" b="0" dirty="0">
                <a:latin typeface="Arial" panose="020B0604020202020204" pitchFamily="34" charset="0"/>
              </a:rPr>
              <a:t>In the addition rule, the word “or” in </a:t>
            </a:r>
            <a:r>
              <a:rPr sz="2800" b="0" i="1" dirty="0">
                <a:latin typeface="Arial" panose="020B0604020202020204" pitchFamily="34" charset="0"/>
              </a:rPr>
              <a:t>P</a:t>
            </a:r>
            <a:r>
              <a:rPr sz="2800" b="0" dirty="0">
                <a:latin typeface="Arial" panose="020B0604020202020204" pitchFamily="34" charset="0"/>
              </a:rPr>
              <a:t>(</a:t>
            </a:r>
            <a:r>
              <a:rPr sz="2800" b="0" i="1" dirty="0">
                <a:latin typeface="Arial" panose="020B0604020202020204" pitchFamily="34" charset="0"/>
              </a:rPr>
              <a:t>A</a:t>
            </a:r>
            <a:r>
              <a:rPr sz="2800" b="0" dirty="0">
                <a:latin typeface="Arial" panose="020B0604020202020204" pitchFamily="34" charset="0"/>
              </a:rPr>
              <a:t> or </a:t>
            </a:r>
            <a:r>
              <a:rPr sz="2800" b="0" i="1" dirty="0">
                <a:latin typeface="Arial" panose="020B0604020202020204" pitchFamily="34" charset="0"/>
              </a:rPr>
              <a:t>B</a:t>
            </a:r>
            <a:r>
              <a:rPr sz="2800" b="0" dirty="0">
                <a:latin typeface="Arial" panose="020B0604020202020204" pitchFamily="34" charset="0"/>
              </a:rPr>
              <a:t>) suggests addition.  Add </a:t>
            </a:r>
            <a:r>
              <a:rPr sz="2800" b="0" i="1" dirty="0">
                <a:latin typeface="Arial" panose="020B0604020202020204" pitchFamily="34" charset="0"/>
              </a:rPr>
              <a:t>P</a:t>
            </a:r>
            <a:r>
              <a:rPr sz="2800" b="0" dirty="0">
                <a:latin typeface="Arial" panose="020B0604020202020204" pitchFamily="34" charset="0"/>
              </a:rPr>
              <a:t>(</a:t>
            </a:r>
            <a:r>
              <a:rPr sz="2800" b="0" i="1" dirty="0">
                <a:latin typeface="Arial" panose="020B0604020202020204" pitchFamily="34" charset="0"/>
              </a:rPr>
              <a:t>A</a:t>
            </a:r>
            <a:r>
              <a:rPr sz="2800" b="0" dirty="0">
                <a:latin typeface="Arial" panose="020B0604020202020204" pitchFamily="34" charset="0"/>
              </a:rPr>
              <a:t>) and </a:t>
            </a:r>
            <a:r>
              <a:rPr sz="2800" b="0" i="1" dirty="0">
                <a:latin typeface="Arial" panose="020B0604020202020204" pitchFamily="34" charset="0"/>
              </a:rPr>
              <a:t>P</a:t>
            </a:r>
            <a:r>
              <a:rPr sz="2800" b="0" dirty="0">
                <a:latin typeface="Arial" panose="020B0604020202020204" pitchFamily="34" charset="0"/>
              </a:rPr>
              <a:t>(</a:t>
            </a:r>
            <a:r>
              <a:rPr sz="2800" b="0" i="1" dirty="0">
                <a:latin typeface="Arial" panose="020B0604020202020204" pitchFamily="34" charset="0"/>
              </a:rPr>
              <a:t>B</a:t>
            </a:r>
            <a:r>
              <a:rPr sz="2800" b="0" dirty="0">
                <a:latin typeface="Arial" panose="020B0604020202020204" pitchFamily="34" charset="0"/>
              </a:rPr>
              <a:t>), being careful to add in such a way that every outcome is counted only once.</a:t>
            </a:r>
            <a:endParaRPr sz="2800" b="0" dirty="0">
              <a:latin typeface="Arial" panose="020B0604020202020204" pitchFamily="34" charset="0"/>
            </a:endParaRPr>
          </a:p>
        </p:txBody>
      </p:sp>
      <p:sp>
        <p:nvSpPr>
          <p:cNvPr id="106500" name="Text Box 4"/>
          <p:cNvSpPr txBox="1"/>
          <p:nvPr/>
        </p:nvSpPr>
        <p:spPr>
          <a:xfrm>
            <a:off x="1960563" y="3668713"/>
            <a:ext cx="8426450" cy="2242820"/>
          </a:xfrm>
          <a:prstGeom prst="rect">
            <a:avLst/>
          </a:prstGeom>
          <a:noFill/>
          <a:ln w="12700">
            <a:noFill/>
          </a:ln>
        </p:spPr>
        <p:txBody>
          <a:bodyPr lIns="90488" tIns="44450" rIns="90488" bIns="44450">
            <a:spAutoFit/>
          </a:bodyPr>
          <a:p>
            <a:pPr marL="457200" indent="-457200" defTabSz="349250">
              <a:lnSpc>
                <a:spcPct val="100000"/>
              </a:lnSpc>
              <a:spcBef>
                <a:spcPct val="50000"/>
              </a:spcBef>
              <a:buClr>
                <a:schemeClr val="accent2"/>
              </a:buClr>
              <a:buFont typeface="Wingdings" panose="05000000000000000000" pitchFamily="2" charset="2"/>
              <a:buChar char="v"/>
            </a:pPr>
            <a:r>
              <a:rPr sz="2800" b="0" dirty="0">
                <a:latin typeface="Arial" panose="020B0604020202020204" pitchFamily="34" charset="0"/>
              </a:rPr>
              <a:t>In the multiplication rule, the word “and” in </a:t>
            </a:r>
            <a:r>
              <a:rPr sz="2800" b="0" i="1" dirty="0">
                <a:latin typeface="Arial" panose="020B0604020202020204" pitchFamily="34" charset="0"/>
              </a:rPr>
              <a:t>P</a:t>
            </a:r>
            <a:r>
              <a:rPr sz="2800" b="0" dirty="0">
                <a:latin typeface="Arial" panose="020B0604020202020204" pitchFamily="34" charset="0"/>
              </a:rPr>
              <a:t>(</a:t>
            </a:r>
            <a:r>
              <a:rPr sz="2800" b="0" i="1" dirty="0">
                <a:latin typeface="Arial" panose="020B0604020202020204" pitchFamily="34" charset="0"/>
              </a:rPr>
              <a:t>A</a:t>
            </a:r>
            <a:r>
              <a:rPr sz="2800" b="0" dirty="0">
                <a:latin typeface="Arial" panose="020B0604020202020204" pitchFamily="34" charset="0"/>
              </a:rPr>
              <a:t> and </a:t>
            </a:r>
            <a:r>
              <a:rPr sz="2800" b="0" i="1" dirty="0">
                <a:latin typeface="Arial" panose="020B0604020202020204" pitchFamily="34" charset="0"/>
              </a:rPr>
              <a:t>B</a:t>
            </a:r>
            <a:r>
              <a:rPr sz="2800" b="0" dirty="0">
                <a:latin typeface="Arial" panose="020B0604020202020204" pitchFamily="34" charset="0"/>
              </a:rPr>
              <a:t>) suggests multiplication. Multiply </a:t>
            </a:r>
            <a:r>
              <a:rPr sz="2800" b="0" i="1" dirty="0">
                <a:latin typeface="Arial" panose="020B0604020202020204" pitchFamily="34" charset="0"/>
              </a:rPr>
              <a:t>P</a:t>
            </a:r>
            <a:r>
              <a:rPr sz="2800" b="0" dirty="0">
                <a:latin typeface="Arial" panose="020B0604020202020204" pitchFamily="34" charset="0"/>
              </a:rPr>
              <a:t>(</a:t>
            </a:r>
            <a:r>
              <a:rPr sz="2800" b="0" i="1" dirty="0">
                <a:latin typeface="Arial" panose="020B0604020202020204" pitchFamily="34" charset="0"/>
              </a:rPr>
              <a:t>A</a:t>
            </a:r>
            <a:r>
              <a:rPr sz="2800" b="0" dirty="0">
                <a:latin typeface="Arial" panose="020B0604020202020204" pitchFamily="34" charset="0"/>
              </a:rPr>
              <a:t>) and </a:t>
            </a:r>
            <a:r>
              <a:rPr sz="2800" b="0" i="1" dirty="0">
                <a:latin typeface="Arial" panose="020B0604020202020204" pitchFamily="34" charset="0"/>
              </a:rPr>
              <a:t>P</a:t>
            </a:r>
            <a:r>
              <a:rPr sz="2800" b="0" dirty="0">
                <a:latin typeface="Arial" panose="020B0604020202020204" pitchFamily="34" charset="0"/>
              </a:rPr>
              <a:t>(</a:t>
            </a:r>
            <a:r>
              <a:rPr sz="2800" b="0" i="1" dirty="0">
                <a:latin typeface="Arial" panose="020B0604020202020204" pitchFamily="34" charset="0"/>
              </a:rPr>
              <a:t>B</a:t>
            </a:r>
            <a:r>
              <a:rPr sz="2800" b="0" dirty="0">
                <a:latin typeface="Arial" panose="020B0604020202020204" pitchFamily="34" charset="0"/>
              </a:rPr>
              <a:t>), but be sure that the probability of event </a:t>
            </a:r>
            <a:r>
              <a:rPr sz="2800" b="0" i="1" dirty="0">
                <a:latin typeface="Arial" panose="020B0604020202020204" pitchFamily="34" charset="0"/>
              </a:rPr>
              <a:t>B</a:t>
            </a:r>
            <a:r>
              <a:rPr sz="2800" b="0" dirty="0">
                <a:latin typeface="Arial" panose="020B0604020202020204" pitchFamily="34" charset="0"/>
              </a:rPr>
              <a:t> takes into account the previous occurrence of event </a:t>
            </a:r>
            <a:r>
              <a:rPr sz="2800" b="0" i="1" dirty="0">
                <a:latin typeface="Arial" panose="020B0604020202020204" pitchFamily="34" charset="0"/>
              </a:rPr>
              <a:t>A</a:t>
            </a:r>
            <a:r>
              <a:rPr sz="2800" b="0" dirty="0">
                <a:latin typeface="Arial" panose="020B0604020202020204" pitchFamily="34" charset="0"/>
              </a:rPr>
              <a:t>.</a:t>
            </a:r>
            <a:endParaRPr sz="2800" b="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5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p:nvPr/>
        </p:nvSpPr>
        <p:spPr>
          <a:xfrm>
            <a:off x="2895600" y="266700"/>
            <a:ext cx="6451600" cy="1143000"/>
          </a:xfrm>
          <a:prstGeom prst="rect">
            <a:avLst/>
          </a:prstGeom>
          <a:noFill/>
          <a:ln w="12700">
            <a:noFill/>
          </a:ln>
        </p:spPr>
        <p:txBody>
          <a:bodyPr lIns="90488" tIns="44450" rIns="90488" bIns="44450" anchor="ctr" anchorCtr="0"/>
          <a:p>
            <a:pPr algn="ctr"/>
            <a:r>
              <a:rPr sz="4000" dirty="0">
                <a:solidFill>
                  <a:srgbClr val="008000"/>
                </a:solidFill>
                <a:latin typeface="Arial" panose="020B0604020202020204" pitchFamily="34" charset="0"/>
              </a:rPr>
              <a:t>Applying the </a:t>
            </a:r>
            <a:endParaRPr sz="4000" dirty="0">
              <a:solidFill>
                <a:srgbClr val="008000"/>
              </a:solidFill>
              <a:latin typeface="Arial" panose="020B0604020202020204" pitchFamily="34" charset="0"/>
            </a:endParaRPr>
          </a:p>
          <a:p>
            <a:pPr algn="ctr"/>
            <a:r>
              <a:rPr sz="4000" dirty="0">
                <a:solidFill>
                  <a:srgbClr val="008000"/>
                </a:solidFill>
                <a:latin typeface="Arial" panose="020B0604020202020204" pitchFamily="34" charset="0"/>
              </a:rPr>
              <a:t>Multiplication Rule</a:t>
            </a:r>
            <a:endParaRPr sz="4000" dirty="0">
              <a:solidFill>
                <a:srgbClr val="008000"/>
              </a:solidFill>
              <a:latin typeface="Arial" panose="020B0604020202020204" pitchFamily="34" charset="0"/>
            </a:endParaRPr>
          </a:p>
        </p:txBody>
      </p:sp>
      <p:grpSp>
        <p:nvGrpSpPr>
          <p:cNvPr id="21507" name="Group 6"/>
          <p:cNvGrpSpPr/>
          <p:nvPr/>
        </p:nvGrpSpPr>
        <p:grpSpPr>
          <a:xfrm>
            <a:off x="1841500" y="1616075"/>
            <a:ext cx="8710613" cy="4602163"/>
            <a:chOff x="200" y="1018"/>
            <a:chExt cx="5487" cy="2899"/>
          </a:xfrm>
        </p:grpSpPr>
        <p:pic>
          <p:nvPicPr>
            <p:cNvPr id="21508" name="Picture 4" descr="Picture 2"/>
            <p:cNvPicPr>
              <a:picLocks noChangeAspect="1"/>
            </p:cNvPicPr>
            <p:nvPr/>
          </p:nvPicPr>
          <p:blipFill>
            <a:blip r:embed="rId1"/>
            <a:stretch>
              <a:fillRect/>
            </a:stretch>
          </p:blipFill>
          <p:spPr>
            <a:xfrm>
              <a:off x="239" y="1018"/>
              <a:ext cx="5448" cy="2899"/>
            </a:xfrm>
            <a:prstGeom prst="rect">
              <a:avLst/>
            </a:prstGeom>
            <a:noFill/>
            <a:ln w="9525">
              <a:noFill/>
            </a:ln>
          </p:spPr>
        </p:pic>
        <p:sp>
          <p:nvSpPr>
            <p:cNvPr id="21509" name="Rectangle 5"/>
            <p:cNvSpPr/>
            <p:nvPr/>
          </p:nvSpPr>
          <p:spPr>
            <a:xfrm>
              <a:off x="200" y="1040"/>
              <a:ext cx="1040" cy="488"/>
            </a:xfrm>
            <a:prstGeom prst="rect">
              <a:avLst/>
            </a:prstGeom>
            <a:solidFill>
              <a:schemeClr val="bg1"/>
            </a:solidFill>
            <a:ln w="12700">
              <a:noFill/>
            </a:ln>
          </p:spPr>
          <p:txBody>
            <a:bodyPr wrap="none" anchor="ctr" anchorCtr="0"/>
            <a:p>
              <a:endParaRPr dirty="0">
                <a:latin typeface="Arial" panose="020B0604020202020204" pitchFamily="34" charset="0"/>
              </a:endParaRPr>
            </a:p>
          </p:txBody>
        </p:sp>
      </p:grpSp>
    </p:spTree>
  </p:cSld>
  <p:clrMapOvr>
    <a:masterClrMapping/>
  </p:clrMapOvr>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14817</Words>
  <Application>WPS Presentation</Application>
  <PresentationFormat>Widescreen</PresentationFormat>
  <Paragraphs>441</Paragraphs>
  <Slides>59</Slides>
  <Notes>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21</vt:i4>
      </vt:variant>
      <vt:variant>
        <vt:lpstr>幻灯片标题</vt:lpstr>
      </vt:variant>
      <vt:variant>
        <vt:i4>59</vt:i4>
      </vt:variant>
    </vt:vector>
  </HeadingPairs>
  <TitlesOfParts>
    <vt:vector size="94" baseType="lpstr">
      <vt:lpstr>Arial</vt:lpstr>
      <vt:lpstr>SimSun</vt:lpstr>
      <vt:lpstr>Wingdings</vt:lpstr>
      <vt:lpstr>Times New Roman</vt:lpstr>
      <vt:lpstr>Gotham-Book</vt:lpstr>
      <vt:lpstr>Courant</vt:lpstr>
      <vt:lpstr>Calibri Light</vt:lpstr>
      <vt:lpstr>Microsoft YaHei</vt:lpstr>
      <vt:lpstr>Arial Unicode MS</vt:lpstr>
      <vt:lpstr>Calibri</vt:lpstr>
      <vt:lpstr>AGaramond</vt:lpstr>
      <vt:lpstr>AGaramond-Italic</vt:lpstr>
      <vt:lpstr>Gotham-Bold</vt:lpstr>
      <vt:lpstr>Office Theme</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Chapter 3 Probability</vt:lpstr>
      <vt:lpstr>PowerPoint 演示文稿</vt:lpstr>
      <vt:lpstr>Definitions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Probability Limits</vt:lpstr>
      <vt:lpstr>Possible Values  for Probabilities</vt:lpstr>
      <vt:lpstr>PowerPoint 演示文稿</vt:lpstr>
      <vt:lpstr>PowerPoint 演示文稿</vt:lpstr>
      <vt:lpstr>Rounding Off Probabilities</vt:lpstr>
      <vt:lpstr>PowerPoint 演示文稿</vt:lpstr>
      <vt:lpstr>Definition</vt:lpstr>
      <vt:lpstr>Odds (T)</vt:lpstr>
      <vt:lpstr>Example</vt:lpstr>
      <vt:lpstr>Example - continued</vt:lpstr>
      <vt:lpstr>Example - continued</vt:lpstr>
      <vt:lpstr>PowerPoint 演示文稿</vt:lpstr>
      <vt:lpstr>PowerPoint 演示文稿</vt:lpstr>
      <vt:lpstr>PowerPoint 演示文稿</vt:lpstr>
      <vt:lpstr>PowerPoint 演示文稿</vt:lpstr>
      <vt:lpstr>PowerPoint 演示文稿</vt:lpstr>
      <vt:lpstr>Disjoint or Mutually Exclusive (xung khắc)</vt:lpstr>
      <vt:lpstr>Complementary Events</vt:lpstr>
      <vt:lpstr>Rule of  Complementary Events</vt:lpstr>
      <vt:lpstr>Venn Diagram for the Complement of Event A</vt:lpstr>
      <vt:lpstr>PowerPoint 演示文稿</vt:lpstr>
      <vt:lpstr>Complements:  The Probability  of “At Least One”</vt:lpstr>
      <vt:lpstr>PowerPoint 演示文稿</vt:lpstr>
      <vt:lpstr>PowerPoint 演示文稿</vt:lpstr>
      <vt:lpstr>PowerPoint 演示文稿</vt:lpstr>
      <vt:lpstr>PowerPoint 演示文稿</vt:lpstr>
      <vt:lpstr>Intuitive Approach to  Conditional Probability</vt:lpstr>
      <vt:lpstr>Example</vt:lpstr>
      <vt:lpstr>Example - continued</vt:lpstr>
      <vt:lpstr>Confusion of the Inverse</vt:lpstr>
      <vt:lpstr>PowerPoint 演示文稿</vt:lpstr>
      <vt:lpstr>Notation</vt:lpstr>
      <vt:lpstr>Formal Multiplication Rule</vt:lpstr>
      <vt:lpstr>Intuitive Multiplication Rule</vt:lpstr>
      <vt:lpstr>Caution</vt:lpstr>
      <vt:lpstr>Multiplication Rule for Several Events</vt:lpstr>
      <vt:lpstr>Dependent and Independent (Biến cố độc lập, không độc lập)</vt:lpstr>
      <vt:lpstr>Dependent Events</vt:lpstr>
      <vt:lpstr>Treating Dependent Events as Independent</vt:lpstr>
      <vt:lpstr>The 5% Guideline for Cumbersome Calculations (trở ngại)</vt:lpstr>
      <vt:lpstr>Example</vt:lpstr>
      <vt:lpstr>Example – continued </vt:lpstr>
      <vt:lpstr>Example</vt:lpstr>
      <vt:lpstr>Example – continued </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Probability</dc:title>
  <dc:creator>ASUS</dc:creator>
  <cp:lastModifiedBy>Tin Phan</cp:lastModifiedBy>
  <cp:revision>32</cp:revision>
  <dcterms:created xsi:type="dcterms:W3CDTF">2025-01-01T07:21:00Z</dcterms:created>
  <dcterms:modified xsi:type="dcterms:W3CDTF">2025-01-09T01:39:54Z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487AA42CA4BC48809EF0AA8BDA33FF91_11</vt:lpwstr>
  </property>
  <property fmtid="{D5CDD505-2E9C-101B-9397-08002B2CF9AE}" pid="3" name="KSOProductBuildVer">
    <vt:lpwstr>1033-12.2.0.19307</vt:lpwstr>
  </property>
</Properties>
</file>