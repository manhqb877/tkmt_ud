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99"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5" r:id="rId45"/>
    <p:sldId id="310" r:id="rId46"/>
    <p:sldId id="311" r:id="rId47"/>
    <p:sldId id="306" r:id="rId48"/>
    <p:sldId id="300" r:id="rId49"/>
    <p:sldId id="304" r:id="rId50"/>
    <p:sldId id="313" r:id="rId51"/>
    <p:sldId id="349" r:id="rId52"/>
    <p:sldId id="312" r:id="rId53"/>
    <p:sldId id="315" r:id="rId54"/>
    <p:sldId id="316" r:id="rId55"/>
    <p:sldId id="31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TextEdit="1"/>
          </p:cNvSpPr>
          <p:nvPr>
            <p:ph type="sldImg"/>
          </p:nvPr>
        </p:nvSpPr>
        <p:spPr>
          <a:xfrm>
            <a:off x="1150938" y="692150"/>
            <a:ext cx="4556125" cy="3416300"/>
          </a:xfrm>
        </p:spPr>
      </p:sp>
      <p:sp>
        <p:nvSpPr>
          <p:cNvPr id="8195"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TextEdit="1"/>
          </p:cNvSpPr>
          <p:nvPr>
            <p:ph type="sldImg"/>
          </p:nvPr>
        </p:nvSpPr>
        <p:spPr>
          <a:xfrm>
            <a:off x="1150938" y="692150"/>
            <a:ext cx="4556125" cy="3416300"/>
          </a:xfrm>
        </p:spPr>
      </p:sp>
      <p:sp>
        <p:nvSpPr>
          <p:cNvPr id="9219"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TextEdit="1"/>
          </p:cNvSpPr>
          <p:nvPr>
            <p:ph type="sldImg"/>
          </p:nvPr>
        </p:nvSpPr>
        <p:spPr>
          <a:xfrm>
            <a:off x="1150938" y="692150"/>
            <a:ext cx="4556125" cy="3416300"/>
          </a:xfrm>
        </p:spPr>
      </p:sp>
      <p:sp>
        <p:nvSpPr>
          <p:cNvPr id="10243"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TextEdit="1"/>
          </p:cNvSpPr>
          <p:nvPr>
            <p:ph type="sldImg"/>
          </p:nvPr>
        </p:nvSpPr>
        <p:spPr>
          <a:xfrm>
            <a:off x="1150938" y="692150"/>
            <a:ext cx="4556125" cy="3416300"/>
          </a:xfrm>
        </p:spPr>
      </p:sp>
      <p:sp>
        <p:nvSpPr>
          <p:cNvPr id="921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TextEdit="1"/>
          </p:cNvSpPr>
          <p:nvPr>
            <p:ph type="sldImg"/>
          </p:nvPr>
        </p:nvSpPr>
        <p:spPr>
          <a:xfrm>
            <a:off x="1150938" y="692150"/>
            <a:ext cx="4556125" cy="3416300"/>
          </a:xfrm>
        </p:spPr>
      </p:sp>
      <p:sp>
        <p:nvSpPr>
          <p:cNvPr id="1126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TextEdit="1"/>
          </p:cNvSpPr>
          <p:nvPr>
            <p:ph type="sldImg"/>
          </p:nvPr>
        </p:nvSpPr>
        <p:spPr>
          <a:xfrm>
            <a:off x="1150938" y="692150"/>
            <a:ext cx="4556125" cy="3416300"/>
          </a:xfrm>
        </p:spPr>
      </p:sp>
      <p:sp>
        <p:nvSpPr>
          <p:cNvPr id="1331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TextEdit="1"/>
          </p:cNvSpPr>
          <p:nvPr>
            <p:ph type="sldImg"/>
          </p:nvPr>
        </p:nvSpPr>
        <p:spPr>
          <a:xfrm>
            <a:off x="1150938" y="692150"/>
            <a:ext cx="4556125" cy="3416300"/>
          </a:xfrm>
        </p:spPr>
      </p:sp>
      <p:sp>
        <p:nvSpPr>
          <p:cNvPr id="1536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TextEdit="1"/>
          </p:cNvSpPr>
          <p:nvPr>
            <p:ph type="sldImg"/>
          </p:nvPr>
        </p:nvSpPr>
        <p:spPr>
          <a:xfrm>
            <a:off x="1150938" y="692150"/>
            <a:ext cx="4556125" cy="3416300"/>
          </a:xfrm>
        </p:spPr>
      </p:sp>
      <p:sp>
        <p:nvSpPr>
          <p:cNvPr id="1741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TextEdit="1"/>
          </p:cNvSpPr>
          <p:nvPr>
            <p:ph type="sldImg"/>
          </p:nvPr>
        </p:nvSpPr>
        <p:spPr>
          <a:xfrm>
            <a:off x="1150938" y="692150"/>
            <a:ext cx="4556125" cy="3416300"/>
          </a:xfrm>
        </p:spPr>
      </p:sp>
      <p:sp>
        <p:nvSpPr>
          <p:cNvPr id="1945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a:spLocks noTextEdit="1"/>
          </p:cNvSpPr>
          <p:nvPr>
            <p:ph type="sldImg"/>
          </p:nvPr>
        </p:nvSpPr>
        <p:spPr>
          <a:xfrm>
            <a:off x="1150938" y="692150"/>
            <a:ext cx="4556125" cy="3416300"/>
          </a:xfrm>
        </p:spPr>
      </p:sp>
      <p:sp>
        <p:nvSpPr>
          <p:cNvPr id="2150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TextEdit="1"/>
          </p:cNvSpPr>
          <p:nvPr>
            <p:ph type="sldImg"/>
          </p:nvPr>
        </p:nvSpPr>
        <p:spPr>
          <a:xfrm>
            <a:off x="1150938" y="692150"/>
            <a:ext cx="4556125" cy="3416300"/>
          </a:xfrm>
        </p:spPr>
      </p:sp>
      <p:sp>
        <p:nvSpPr>
          <p:cNvPr id="2355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TextEdit="1"/>
          </p:cNvSpPr>
          <p:nvPr>
            <p:ph type="sldImg"/>
          </p:nvPr>
        </p:nvSpPr>
        <p:spPr>
          <a:xfrm>
            <a:off x="1150938" y="692150"/>
            <a:ext cx="4556125" cy="3416300"/>
          </a:xfrm>
        </p:spPr>
      </p:sp>
      <p:sp>
        <p:nvSpPr>
          <p:cNvPr id="2560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TextEdit="1"/>
          </p:cNvSpPr>
          <p:nvPr>
            <p:ph type="sldImg"/>
          </p:nvPr>
        </p:nvSpPr>
        <p:spPr>
          <a:xfrm>
            <a:off x="1150938" y="692150"/>
            <a:ext cx="4556125" cy="3416300"/>
          </a:xfrm>
        </p:spPr>
      </p:sp>
      <p:sp>
        <p:nvSpPr>
          <p:cNvPr id="2765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TextEdit="1"/>
          </p:cNvSpPr>
          <p:nvPr>
            <p:ph type="sldImg"/>
          </p:nvPr>
        </p:nvSpPr>
        <p:spPr>
          <a:xfrm>
            <a:off x="1150938" y="692150"/>
            <a:ext cx="4556125" cy="3416300"/>
          </a:xfrm>
        </p:spPr>
      </p:sp>
      <p:sp>
        <p:nvSpPr>
          <p:cNvPr id="2969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a:spLocks noTextEdit="1"/>
          </p:cNvSpPr>
          <p:nvPr>
            <p:ph type="sldImg"/>
          </p:nvPr>
        </p:nvSpPr>
        <p:spPr>
          <a:xfrm>
            <a:off x="1150938" y="692150"/>
            <a:ext cx="4556125" cy="3416300"/>
          </a:xfrm>
        </p:spPr>
      </p:sp>
      <p:sp>
        <p:nvSpPr>
          <p:cNvPr id="3174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TextEdit="1"/>
          </p:cNvSpPr>
          <p:nvPr>
            <p:ph type="sldImg"/>
          </p:nvPr>
        </p:nvSpPr>
        <p:spPr>
          <a:xfrm>
            <a:off x="1150938" y="692150"/>
            <a:ext cx="4556125" cy="3416300"/>
          </a:xfrm>
        </p:spPr>
      </p:sp>
      <p:sp>
        <p:nvSpPr>
          <p:cNvPr id="3379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TextEdit="1"/>
          </p:cNvSpPr>
          <p:nvPr>
            <p:ph type="sldImg"/>
          </p:nvPr>
        </p:nvSpPr>
        <p:spPr>
          <a:xfrm>
            <a:off x="1150938" y="692150"/>
            <a:ext cx="4556125" cy="3416300"/>
          </a:xfrm>
        </p:spPr>
      </p:sp>
      <p:sp>
        <p:nvSpPr>
          <p:cNvPr id="3584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TextEdit="1"/>
          </p:cNvSpPr>
          <p:nvPr>
            <p:ph type="sldImg"/>
          </p:nvPr>
        </p:nvSpPr>
        <p:spPr>
          <a:xfrm>
            <a:off x="1150938" y="692150"/>
            <a:ext cx="4556125" cy="3416300"/>
          </a:xfrm>
        </p:spPr>
      </p:sp>
      <p:sp>
        <p:nvSpPr>
          <p:cNvPr id="3789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TextEdit="1"/>
          </p:cNvSpPr>
          <p:nvPr>
            <p:ph type="sldImg"/>
          </p:nvPr>
        </p:nvSpPr>
        <p:spPr>
          <a:xfrm>
            <a:off x="1150938" y="692150"/>
            <a:ext cx="4556125" cy="3416300"/>
          </a:xfrm>
        </p:spPr>
      </p:sp>
      <p:sp>
        <p:nvSpPr>
          <p:cNvPr id="3993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TextEdit="1"/>
          </p:cNvSpPr>
          <p:nvPr>
            <p:ph type="sldImg"/>
          </p:nvPr>
        </p:nvSpPr>
        <p:spPr>
          <a:xfrm>
            <a:off x="1150938" y="692150"/>
            <a:ext cx="4556125" cy="3416300"/>
          </a:xfrm>
        </p:spPr>
      </p:sp>
      <p:sp>
        <p:nvSpPr>
          <p:cNvPr id="4198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a:spLocks noTextEdit="1"/>
          </p:cNvSpPr>
          <p:nvPr>
            <p:ph type="sldImg"/>
          </p:nvPr>
        </p:nvSpPr>
        <p:spPr>
          <a:xfrm>
            <a:off x="1150938" y="692150"/>
            <a:ext cx="4556125" cy="3416300"/>
          </a:xfrm>
        </p:spPr>
      </p:sp>
      <p:sp>
        <p:nvSpPr>
          <p:cNvPr id="4403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a:spLocks noTextEdit="1"/>
          </p:cNvSpPr>
          <p:nvPr>
            <p:ph type="sldImg"/>
          </p:nvPr>
        </p:nvSpPr>
        <p:spPr>
          <a:xfrm>
            <a:off x="1150938" y="692150"/>
            <a:ext cx="4556125" cy="3416300"/>
          </a:xfrm>
        </p:spPr>
      </p:sp>
      <p:sp>
        <p:nvSpPr>
          <p:cNvPr id="4608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2"/>
          <p:cNvSpPr>
            <a:spLocks noTextEdit="1"/>
          </p:cNvSpPr>
          <p:nvPr>
            <p:ph type="sldImg"/>
          </p:nvPr>
        </p:nvSpPr>
        <p:spPr>
          <a:xfrm>
            <a:off x="1150938" y="692150"/>
            <a:ext cx="4556125" cy="3416300"/>
          </a:xfrm>
        </p:spPr>
      </p:sp>
      <p:sp>
        <p:nvSpPr>
          <p:cNvPr id="5017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TextEdit="1"/>
          </p:cNvSpPr>
          <p:nvPr>
            <p:ph type="sldImg"/>
          </p:nvPr>
        </p:nvSpPr>
        <p:spPr>
          <a:xfrm>
            <a:off x="1150938" y="692150"/>
            <a:ext cx="4556125" cy="3416300"/>
          </a:xfrm>
        </p:spPr>
      </p:sp>
      <p:sp>
        <p:nvSpPr>
          <p:cNvPr id="5222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Rectangle 2"/>
          <p:cNvSpPr>
            <a:spLocks noTextEdit="1"/>
          </p:cNvSpPr>
          <p:nvPr>
            <p:ph type="sldImg"/>
          </p:nvPr>
        </p:nvSpPr>
        <p:spPr>
          <a:xfrm>
            <a:off x="1150938" y="692150"/>
            <a:ext cx="4556125" cy="3416300"/>
          </a:xfrm>
        </p:spPr>
      </p:sp>
      <p:sp>
        <p:nvSpPr>
          <p:cNvPr id="5427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TextEdit="1"/>
          </p:cNvSpPr>
          <p:nvPr>
            <p:ph type="sldImg"/>
          </p:nvPr>
        </p:nvSpPr>
        <p:spPr>
          <a:xfrm>
            <a:off x="1150938" y="692150"/>
            <a:ext cx="4556125" cy="3416300"/>
          </a:xfrm>
        </p:spPr>
      </p:sp>
      <p:sp>
        <p:nvSpPr>
          <p:cNvPr id="5632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TextEdit="1"/>
          </p:cNvSpPr>
          <p:nvPr>
            <p:ph type="sldImg"/>
          </p:nvPr>
        </p:nvSpPr>
        <p:spPr>
          <a:xfrm>
            <a:off x="1150938" y="692150"/>
            <a:ext cx="4556125" cy="3416300"/>
          </a:xfrm>
        </p:spPr>
      </p:sp>
      <p:sp>
        <p:nvSpPr>
          <p:cNvPr id="5837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2"/>
          <p:cNvSpPr>
            <a:spLocks noTextEdit="1"/>
          </p:cNvSpPr>
          <p:nvPr>
            <p:ph type="sldImg"/>
          </p:nvPr>
        </p:nvSpPr>
        <p:spPr>
          <a:xfrm>
            <a:off x="1150938" y="692150"/>
            <a:ext cx="4556125" cy="3416300"/>
          </a:xfrm>
        </p:spPr>
      </p:sp>
      <p:sp>
        <p:nvSpPr>
          <p:cNvPr id="6041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2"/>
          <p:cNvSpPr>
            <a:spLocks noTextEdit="1"/>
          </p:cNvSpPr>
          <p:nvPr>
            <p:ph type="sldImg"/>
          </p:nvPr>
        </p:nvSpPr>
        <p:spPr>
          <a:xfrm>
            <a:off x="1150938" y="692150"/>
            <a:ext cx="4556125" cy="3416300"/>
          </a:xfrm>
        </p:spPr>
      </p:sp>
      <p:sp>
        <p:nvSpPr>
          <p:cNvPr id="6246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2"/>
          <p:cNvSpPr>
            <a:spLocks noTextEdit="1"/>
          </p:cNvSpPr>
          <p:nvPr>
            <p:ph type="sldImg"/>
          </p:nvPr>
        </p:nvSpPr>
        <p:spPr>
          <a:xfrm>
            <a:off x="1150938" y="692150"/>
            <a:ext cx="4556125" cy="3416300"/>
          </a:xfrm>
        </p:spPr>
      </p:sp>
      <p:sp>
        <p:nvSpPr>
          <p:cNvPr id="6451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2"/>
          <p:cNvSpPr>
            <a:spLocks noTextEdit="1"/>
          </p:cNvSpPr>
          <p:nvPr>
            <p:ph type="sldImg"/>
          </p:nvPr>
        </p:nvSpPr>
        <p:spPr>
          <a:xfrm>
            <a:off x="1150938" y="692150"/>
            <a:ext cx="4556125" cy="3416300"/>
          </a:xfrm>
        </p:spPr>
      </p:sp>
      <p:sp>
        <p:nvSpPr>
          <p:cNvPr id="6656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a:spLocks noTextEdit="1"/>
          </p:cNvSpPr>
          <p:nvPr>
            <p:ph type="sldImg"/>
          </p:nvPr>
        </p:nvSpPr>
        <p:spPr>
          <a:xfrm>
            <a:off x="1150938" y="692150"/>
            <a:ext cx="4556125" cy="3416300"/>
          </a:xfrm>
        </p:spPr>
      </p:sp>
      <p:sp>
        <p:nvSpPr>
          <p:cNvPr id="6861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a:spLocks noTextEdit="1"/>
          </p:cNvSpPr>
          <p:nvPr>
            <p:ph type="sldImg"/>
          </p:nvPr>
        </p:nvSpPr>
        <p:spPr>
          <a:xfrm>
            <a:off x="1150938" y="692150"/>
            <a:ext cx="4556125" cy="3416300"/>
          </a:xfrm>
        </p:spPr>
      </p:sp>
      <p:sp>
        <p:nvSpPr>
          <p:cNvPr id="7065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a:spLocks noTextEdit="1"/>
          </p:cNvSpPr>
          <p:nvPr>
            <p:ph type="sldImg"/>
          </p:nvPr>
        </p:nvSpPr>
        <p:spPr>
          <a:xfrm>
            <a:off x="1150938" y="692150"/>
            <a:ext cx="4556125" cy="3416300"/>
          </a:xfrm>
        </p:spPr>
      </p:sp>
      <p:sp>
        <p:nvSpPr>
          <p:cNvPr id="7270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a:spLocks noTextEdit="1"/>
          </p:cNvSpPr>
          <p:nvPr>
            <p:ph type="sldImg"/>
          </p:nvPr>
        </p:nvSpPr>
        <p:spPr>
          <a:xfrm>
            <a:off x="1150938" y="692150"/>
            <a:ext cx="4556125" cy="3416300"/>
          </a:xfrm>
        </p:spPr>
      </p:sp>
      <p:sp>
        <p:nvSpPr>
          <p:cNvPr id="7475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TextEdit="1"/>
          </p:cNvSpPr>
          <p:nvPr>
            <p:ph type="sldImg"/>
          </p:nvPr>
        </p:nvSpPr>
        <p:spPr>
          <a:xfrm>
            <a:off x="1150938" y="692150"/>
            <a:ext cx="4556125" cy="3416300"/>
          </a:xfrm>
        </p:spPr>
      </p:sp>
      <p:sp>
        <p:nvSpPr>
          <p:cNvPr id="76802"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a:spLocks noTextEdit="1"/>
          </p:cNvSpPr>
          <p:nvPr>
            <p:ph type="sldImg"/>
          </p:nvPr>
        </p:nvSpPr>
        <p:spPr>
          <a:xfrm>
            <a:off x="1150938" y="692150"/>
            <a:ext cx="4556125" cy="3416300"/>
          </a:xfrm>
        </p:spPr>
      </p:sp>
      <p:sp>
        <p:nvSpPr>
          <p:cNvPr id="78850"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TextEdit="1"/>
          </p:cNvSpPr>
          <p:nvPr>
            <p:ph type="sldImg"/>
          </p:nvPr>
        </p:nvSpPr>
        <p:spPr>
          <a:xfrm>
            <a:off x="1150938" y="692150"/>
            <a:ext cx="4556125" cy="3416300"/>
          </a:xfrm>
        </p:spPr>
      </p:sp>
      <p:sp>
        <p:nvSpPr>
          <p:cNvPr id="80898"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TextEdit="1"/>
          </p:cNvSpPr>
          <p:nvPr>
            <p:ph type="sldImg"/>
          </p:nvPr>
        </p:nvSpPr>
        <p:spPr>
          <a:xfrm>
            <a:off x="1150938" y="692150"/>
            <a:ext cx="4556125" cy="3416300"/>
          </a:xfrm>
        </p:spPr>
      </p:sp>
      <p:sp>
        <p:nvSpPr>
          <p:cNvPr id="82946"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a:spLocks noTextEdit="1"/>
          </p:cNvSpPr>
          <p:nvPr>
            <p:ph type="sldImg"/>
          </p:nvPr>
        </p:nvSpPr>
        <p:spPr>
          <a:xfrm>
            <a:off x="1150938" y="692150"/>
            <a:ext cx="4556125" cy="3416300"/>
          </a:xfrm>
        </p:spPr>
      </p:sp>
      <p:sp>
        <p:nvSpPr>
          <p:cNvPr id="84994" name="Rectangle 3"/>
          <p:cNvSpPr>
            <a:spLocks noGrp="1"/>
          </p:cNvSpPr>
          <p:nvPr>
            <p:ph type="body" idx="1"/>
          </p:nvPr>
        </p:nvSpPr>
        <p:spPr>
          <a:ln w="9525"/>
        </p:spPr>
        <p:txBody>
          <a:bodyPr wrap="square" lIns="90488" tIns="44450" rIns="90488" bIns="44450" anchor="t" anchorCtr="0"/>
          <a:p>
            <a:pPr lvl="0"/>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body" idx="1"/>
          </p:nvPr>
        </p:nvSpPr>
        <p:spPr>
          <a:ln w="9525"/>
        </p:spPr>
        <p:txBody>
          <a:bodyPr wrap="square" lIns="90488" tIns="44450" rIns="90488" bIns="44450" anchor="t" anchorCtr="0"/>
          <a:p>
            <a:pPr lvl="0"/>
            <a:endParaRPr dirty="0"/>
          </a:p>
        </p:txBody>
      </p:sp>
      <p:sp>
        <p:nvSpPr>
          <p:cNvPr id="38915" name="Rectangle 3"/>
          <p:cNvSpPr>
            <a:spLocks noTextEdit="1"/>
          </p:cNvSpPr>
          <p:nvPr>
            <p:ph type="sldImg"/>
          </p:nvPr>
        </p:nvSpPr>
        <p:spPr>
          <a:xfrm>
            <a:off x="1150938" y="692150"/>
            <a:ext cx="4556125" cy="3416300"/>
          </a:xfr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body" idx="1"/>
          </p:nvPr>
        </p:nvSpPr>
        <p:spPr>
          <a:ln w="9525"/>
        </p:spPr>
        <p:txBody>
          <a:bodyPr wrap="square" lIns="90488" tIns="44450" rIns="90488" bIns="44450" anchor="t" anchorCtr="0"/>
          <a:p>
            <a:pPr lvl="0"/>
            <a:r>
              <a:rPr dirty="0"/>
              <a:t>Smaller samples will have means that are likely to vary more.  The greater variation is accounted for by the t distribution. </a:t>
            </a:r>
            <a:endParaRPr dirty="0"/>
          </a:p>
          <a:p>
            <a:pPr lvl="0"/>
            <a:r>
              <a:rPr dirty="0"/>
              <a:t>Students usually like hearing about the history of how the Student t distribution got its name.</a:t>
            </a:r>
            <a:endParaRPr dirty="0"/>
          </a:p>
          <a:p>
            <a:pPr lvl="0"/>
            <a:r>
              <a:rPr dirty="0"/>
              <a:t>page 350 of text</a:t>
            </a:r>
            <a:endParaRPr dirty="0"/>
          </a:p>
          <a:p>
            <a:pPr lvl="0"/>
            <a:r>
              <a:rPr dirty="0"/>
              <a:t>See Note to Instructor in margin for other ideas. </a:t>
            </a:r>
            <a:endParaRPr dirty="0"/>
          </a:p>
        </p:txBody>
      </p:sp>
      <p:sp>
        <p:nvSpPr>
          <p:cNvPr id="57347" name="Rectangle 3"/>
          <p:cNvSpPr>
            <a:spLocks noTextEdit="1"/>
          </p:cNvSpPr>
          <p:nvPr>
            <p:ph type="sldImg"/>
          </p:nvPr>
        </p:nvSpPr>
        <p:spPr>
          <a:xfrm>
            <a:off x="1150938" y="692150"/>
            <a:ext cx="4556125" cy="3416300"/>
          </a:xfr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body" idx="1"/>
          </p:nvPr>
        </p:nvSpPr>
        <p:spPr>
          <a:ln w="9525"/>
        </p:spPr>
        <p:txBody>
          <a:bodyPr wrap="square" lIns="90488" tIns="44450" rIns="90488" bIns="44450" anchor="t" anchorCtr="0"/>
          <a:p>
            <a:pPr lvl="0"/>
            <a:r>
              <a:rPr dirty="0"/>
              <a:t>page 338 of Elementary Statistics, 10</a:t>
            </a:r>
            <a:r>
              <a:rPr baseline="30000" dirty="0"/>
              <a:t>th</a:t>
            </a:r>
            <a:r>
              <a:rPr dirty="0"/>
              <a:t> Edition</a:t>
            </a:r>
            <a:endParaRPr dirty="0"/>
          </a:p>
        </p:txBody>
      </p:sp>
      <p:sp>
        <p:nvSpPr>
          <p:cNvPr id="59395" name="Rectangle 3"/>
          <p:cNvSpPr>
            <a:spLocks noTextEdit="1"/>
          </p:cNvSpPr>
          <p:nvPr>
            <p:ph type="sldImg"/>
          </p:nvPr>
        </p:nvSpPr>
        <p:spPr>
          <a:xfrm>
            <a:off x="1150938" y="692150"/>
            <a:ext cx="4556125" cy="3416300"/>
          </a:xfr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body" idx="1"/>
          </p:nvPr>
        </p:nvSpPr>
        <p:spPr>
          <a:ln w="9525"/>
        </p:spPr>
        <p:txBody>
          <a:bodyPr wrap="square" lIns="90488" tIns="44450" rIns="90488" bIns="44450" anchor="t" anchorCtr="0"/>
          <a:p>
            <a:pPr lvl="0"/>
            <a:endParaRPr dirty="0"/>
          </a:p>
        </p:txBody>
      </p:sp>
      <p:sp>
        <p:nvSpPr>
          <p:cNvPr id="39939" name="Rectangle 3"/>
          <p:cNvSpPr>
            <a:spLocks noTextEdit="1"/>
          </p:cNvSpPr>
          <p:nvPr>
            <p:ph type="sldImg"/>
          </p:nvPr>
        </p:nvSpPr>
        <p:spPr>
          <a:xfrm>
            <a:off x="1150938" y="692150"/>
            <a:ext cx="4556125" cy="3416300"/>
          </a:xfr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body" idx="1"/>
          </p:nvPr>
        </p:nvSpPr>
        <p:spPr>
          <a:ln w="9525"/>
        </p:spPr>
        <p:txBody>
          <a:bodyPr wrap="square" lIns="90488" tIns="44450" rIns="90488" bIns="44450" anchor="t" anchorCtr="0"/>
          <a:p>
            <a:pPr lvl="0"/>
            <a:endParaRPr dirty="0"/>
          </a:p>
        </p:txBody>
      </p:sp>
      <p:sp>
        <p:nvSpPr>
          <p:cNvPr id="44035" name="Rectangle 3"/>
          <p:cNvSpPr>
            <a:spLocks noTextEdit="1"/>
          </p:cNvSpPr>
          <p:nvPr>
            <p:ph type="sldImg"/>
          </p:nvPr>
        </p:nvSpPr>
        <p:spPr>
          <a:xfrm>
            <a:off x="1150938" y="692150"/>
            <a:ext cx="4556125" cy="3416300"/>
          </a:xfr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body" idx="1"/>
          </p:nvPr>
        </p:nvSpPr>
        <p:spPr>
          <a:ln w="9525"/>
        </p:spPr>
        <p:txBody>
          <a:bodyPr wrap="square" lIns="90488" tIns="44450" rIns="90488" bIns="44450" anchor="t" anchorCtr="0"/>
          <a:p>
            <a:pPr lvl="0"/>
            <a:endParaRPr dirty="0"/>
          </a:p>
        </p:txBody>
      </p:sp>
      <p:sp>
        <p:nvSpPr>
          <p:cNvPr id="65539" name="Rectangle 3"/>
          <p:cNvSpPr>
            <a:spLocks noTextEdit="1"/>
          </p:cNvSpPr>
          <p:nvPr>
            <p:ph type="sldImg"/>
          </p:nvPr>
        </p:nvSpPr>
        <p:spPr>
          <a:xfrm>
            <a:off x="1150938" y="692150"/>
            <a:ext cx="4556125" cy="3416300"/>
          </a:xfr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7.xml"/><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3.wmf"/><Relationship Id="rId1" Type="http://schemas.openxmlformats.org/officeDocument/2006/relationships/image" Target="../media/image15.wmf"/></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8.emf"/><Relationship Id="rId1"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9.bin"/></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12.bin"/><Relationship Id="rId4" Type="http://schemas.openxmlformats.org/officeDocument/2006/relationships/image" Target="../media/image21.wmf"/><Relationship Id="rId3" Type="http://schemas.openxmlformats.org/officeDocument/2006/relationships/oleObject" Target="../embeddings/oleObject11.bin"/><Relationship Id="rId2" Type="http://schemas.openxmlformats.org/officeDocument/2006/relationships/image" Target="../media/image20.wmf"/><Relationship Id="rId1" Type="http://schemas.openxmlformats.org/officeDocument/2006/relationships/oleObject" Target="../embeddings/oleObject10.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7.xml"/><Relationship Id="rId2" Type="http://schemas.openxmlformats.org/officeDocument/2006/relationships/image" Target="../media/image24.wmf"/><Relationship Id="rId1" Type="http://schemas.openxmlformats.org/officeDocument/2006/relationships/image" Target="../media/image23.wmf"/></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7.xml"/><Relationship Id="rId3" Type="http://schemas.openxmlformats.org/officeDocument/2006/relationships/image" Target="../media/image15.wmf"/><Relationship Id="rId2" Type="http://schemas.openxmlformats.org/officeDocument/2006/relationships/image" Target="../media/image23.wmf"/><Relationship Id="rId1" Type="http://schemas.openxmlformats.org/officeDocument/2006/relationships/image" Target="../media/image25.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27.wmf"/><Relationship Id="rId3" Type="http://schemas.openxmlformats.org/officeDocument/2006/relationships/oleObject" Target="../embeddings/oleObject14.bin"/><Relationship Id="rId2" Type="http://schemas.openxmlformats.org/officeDocument/2006/relationships/image" Target="../media/image26.wmf"/><Relationship Id="rId1" Type="http://schemas.openxmlformats.org/officeDocument/2006/relationships/oleObject" Target="../embeddings/oleObject13.bin"/></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29.wmf"/><Relationship Id="rId3" Type="http://schemas.openxmlformats.org/officeDocument/2006/relationships/oleObject" Target="../embeddings/oleObject16.bin"/><Relationship Id="rId2" Type="http://schemas.openxmlformats.org/officeDocument/2006/relationships/image" Target="../media/image28.emf"/><Relationship Id="rId1" Type="http://schemas.openxmlformats.org/officeDocument/2006/relationships/oleObject" Target="../embeddings/oleObject15.bin"/></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image" Target="../media/image30.wmf"/></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31.wmf"/><Relationship Id="rId1" Type="http://schemas.openxmlformats.org/officeDocument/2006/relationships/oleObject" Target="../embeddings/oleObject17.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31.wmf"/><Relationship Id="rId1"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19.bin"/></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7.xml"/><Relationship Id="rId2" Type="http://schemas.openxmlformats.org/officeDocument/2006/relationships/image" Target="../media/image34.wmf"/><Relationship Id="rId1" Type="http://schemas.openxmlformats.org/officeDocument/2006/relationships/image" Target="../media/image33.wmf"/></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35.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noChangeArrowheads="1"/>
          </p:cNvSpPr>
          <p:nvPr>
            <p:ph type="title"/>
          </p:nvPr>
        </p:nvSpPr>
        <p:spPr bwMode="auto">
          <a:xfrm>
            <a:off x="1644650" y="292100"/>
            <a:ext cx="8901113" cy="1143000"/>
          </a:xfrm>
          <a:ln>
            <a:noFill/>
            <a:miter lim="800000"/>
          </a:ln>
        </p:spPr>
        <p:txBody>
          <a:bodyPr vert="horz" wrap="square" lIns="90488" tIns="44450" rIns="90488" bIns="44450" numCol="1" anchor="t" anchorCtr="0" compatLnSpc="1"/>
          <a:lstStyle/>
          <a:p>
            <a:pPr marL="0" marR="0" lvl="0" indent="0" algn="ctr" defTabSz="914400" rtl="0" eaLnBrk="0" fontAlgn="base" latinLnBrk="0" hangingPunct="0">
              <a:lnSpc>
                <a:spcPct val="90000"/>
              </a:lnSpc>
              <a:spcBef>
                <a:spcPct val="0"/>
              </a:spcBef>
              <a:spcAft>
                <a:spcPct val="0"/>
              </a:spcAft>
              <a:buClrTx/>
              <a:buSzTx/>
              <a:buFontTx/>
              <a:buNone/>
              <a:defRPr/>
            </a:pPr>
            <a:r>
              <a:rPr kumimoji="0" lang="en-US" sz="3600" b="1" i="0" u="none" strike="noStrike" kern="0" cap="none" spc="0" normalizeH="0" baseline="0" noProof="0" dirty="0" smtClean="0">
                <a:ln>
                  <a:noFill/>
                </a:ln>
                <a:solidFill>
                  <a:schemeClr val="accent6">
                    <a:lumMod val="75000"/>
                  </a:schemeClr>
                </a:solidFill>
                <a:effectLst/>
                <a:uLnTx/>
                <a:uFillTx/>
                <a:latin typeface="+mj-lt"/>
                <a:ea typeface="+mj-ea"/>
                <a:cs typeface="+mj-cs"/>
              </a:rPr>
              <a:t>Chapter 6</a:t>
            </a:r>
            <a:br>
              <a:rPr kumimoji="0" lang="en-US" sz="3600" b="1" i="0" u="none" strike="noStrike" kern="0" cap="none" spc="0" normalizeH="0" baseline="0" noProof="0" dirty="0" smtClean="0">
                <a:ln>
                  <a:noFill/>
                </a:ln>
                <a:solidFill>
                  <a:schemeClr val="accent6">
                    <a:lumMod val="75000"/>
                  </a:schemeClr>
                </a:solidFill>
                <a:effectLst/>
                <a:uLnTx/>
                <a:uFillTx/>
                <a:latin typeface="+mj-lt"/>
                <a:ea typeface="+mj-ea"/>
                <a:cs typeface="+mj-cs"/>
              </a:rPr>
            </a:br>
            <a:r>
              <a:rPr kumimoji="0" lang="en-US" sz="3600" b="1" i="0" u="none" strike="noStrike" kern="0" cap="none" spc="0" normalizeH="0" baseline="0" noProof="0" dirty="0" smtClean="0">
                <a:ln>
                  <a:noFill/>
                </a:ln>
                <a:solidFill>
                  <a:schemeClr val="accent6">
                    <a:lumMod val="75000"/>
                  </a:schemeClr>
                </a:solidFill>
                <a:effectLst/>
                <a:uLnTx/>
                <a:uFillTx/>
                <a:latin typeface="+mj-lt"/>
                <a:ea typeface="+mj-ea"/>
                <a:cs typeface="+mj-cs"/>
              </a:rPr>
              <a:t>Estimates</a:t>
            </a:r>
            <a:endParaRPr kumimoji="0" lang="en-US" sz="3600" b="1" i="0" u="none" strike="noStrike" kern="0" cap="none" spc="0" normalizeH="0" baseline="0" noProof="0" dirty="0" smtClean="0">
              <a:ln>
                <a:noFill/>
              </a:ln>
              <a:solidFill>
                <a:schemeClr val="accent6">
                  <a:lumMod val="75000"/>
                </a:schemeClr>
              </a:solidFill>
              <a:effectLst/>
              <a:uLnTx/>
              <a:uFillTx/>
              <a:latin typeface="+mj-lt"/>
              <a:ea typeface="+mj-ea"/>
              <a:cs typeface="+mj-cs"/>
            </a:endParaRPr>
          </a:p>
        </p:txBody>
      </p:sp>
      <p:sp>
        <p:nvSpPr>
          <p:cNvPr id="3075" name="Text Box 6"/>
          <p:cNvSpPr txBox="1">
            <a:spLocks noChangeArrowheads="1"/>
          </p:cNvSpPr>
          <p:nvPr/>
        </p:nvSpPr>
        <p:spPr bwMode="auto">
          <a:xfrm>
            <a:off x="2133600" y="2209800"/>
            <a:ext cx="8305800" cy="2091690"/>
          </a:xfrm>
          <a:prstGeom prst="rect">
            <a:avLst/>
          </a:prstGeom>
          <a:noFill/>
          <a:ln w="12700">
            <a:noFill/>
            <a:miter lim="800000"/>
            <a:headEnd type="none" w="sm" len="sm"/>
            <a:tailEnd type="none" w="sm" len="sm"/>
          </a:ln>
        </p:spPr>
        <p:txBody>
          <a:bodyPr>
            <a:spAutoFit/>
          </a:bodyPr>
          <a:lstStyle/>
          <a:p>
            <a:pPr marR="0" defTabSz="914400">
              <a:spcBef>
                <a:spcPct val="50000"/>
              </a:spcBef>
              <a:buClrTx/>
              <a:buSzTx/>
              <a:buFontTx/>
              <a:buNone/>
              <a:defRPr/>
            </a:pPr>
            <a:r>
              <a:rPr kumimoji="0" lang="en-US" sz="2600" b="0" kern="1200" cap="none" spc="0" normalizeH="0" baseline="0" noProof="0" dirty="0">
                <a:latin typeface="Arial" panose="020B0604020202020204" pitchFamily="34" charset="0"/>
                <a:ea typeface="+mn-ea"/>
                <a:cs typeface="+mn-cs"/>
              </a:rPr>
              <a:t>6.1.  Estimating a Population Proportion</a:t>
            </a:r>
            <a:endParaRPr kumimoji="0" lang="en-US" sz="2600" b="0" kern="1200" cap="none" spc="0" normalizeH="0" baseline="0" noProof="0" dirty="0">
              <a:latin typeface="Arial" panose="020B0604020202020204" pitchFamily="34" charset="0"/>
              <a:ea typeface="+mn-ea"/>
              <a:cs typeface="+mn-cs"/>
            </a:endParaRPr>
          </a:p>
          <a:p>
            <a:pPr marR="0" defTabSz="914400">
              <a:spcBef>
                <a:spcPct val="50000"/>
              </a:spcBef>
              <a:buClrTx/>
              <a:buSzTx/>
              <a:buFontTx/>
              <a:buNone/>
              <a:defRPr/>
            </a:pPr>
            <a:r>
              <a:rPr kumimoji="0" lang="en-US" sz="2600" b="0" kern="1200" cap="none" spc="0" normalizeH="0" baseline="0" noProof="0" dirty="0">
                <a:latin typeface="Arial" panose="020B0604020202020204" pitchFamily="34" charset="0"/>
                <a:ea typeface="+mn-ea"/>
                <a:cs typeface="+mn-cs"/>
              </a:rPr>
              <a:t>6.2.  Estimating a Population Mean</a:t>
            </a:r>
            <a:endParaRPr kumimoji="0" lang="en-US" sz="2600" b="0" kern="1200" cap="none" spc="0" normalizeH="0" baseline="0" noProof="0" dirty="0">
              <a:latin typeface="Arial" panose="020B0604020202020204" pitchFamily="34" charset="0"/>
              <a:ea typeface="+mn-ea"/>
              <a:cs typeface="Arial" panose="020B0604020202020204" pitchFamily="34" charset="0"/>
            </a:endParaRPr>
          </a:p>
          <a:p>
            <a:pPr marR="0" defTabSz="914400">
              <a:spcBef>
                <a:spcPct val="50000"/>
              </a:spcBef>
              <a:buClrTx/>
              <a:buSzTx/>
              <a:buFontTx/>
              <a:buNone/>
              <a:defRPr/>
            </a:pPr>
            <a:r>
              <a:rPr kumimoji="0" lang="en-US" sz="2600" b="0" kern="1200" cap="none" spc="0" normalizeH="0" baseline="0" noProof="0" dirty="0">
                <a:latin typeface="Arial" panose="020B0604020202020204" pitchFamily="34" charset="0"/>
                <a:ea typeface="+mn-ea"/>
                <a:cs typeface="Arial" panose="020B0604020202020204" pitchFamily="34" charset="0"/>
              </a:rPr>
              <a:t>6.3.  Estimating a Population Standard Deviation </a:t>
            </a:r>
            <a:r>
              <a:rPr kumimoji="0" lang="en-US" sz="2600" b="0" kern="1200" cap="none" spc="0" normalizeH="0" baseline="0" noProof="0">
                <a:latin typeface="Arial" panose="020B0604020202020204" pitchFamily="34" charset="0"/>
                <a:ea typeface="+mn-ea"/>
                <a:cs typeface="Arial" panose="020B0604020202020204" pitchFamily="34" charset="0"/>
              </a:rPr>
              <a:t>or     </a:t>
            </a:r>
            <a:br>
              <a:rPr kumimoji="0" lang="en-US" sz="2600" b="0" kern="1200" cap="none" spc="0" normalizeH="0" baseline="0" noProof="0" smtClean="0">
                <a:latin typeface="Arial" panose="020B0604020202020204" pitchFamily="34" charset="0"/>
                <a:ea typeface="+mn-ea"/>
                <a:cs typeface="Arial" panose="020B0604020202020204" pitchFamily="34" charset="0"/>
              </a:rPr>
            </a:br>
            <a:r>
              <a:rPr kumimoji="0" lang="en-US" sz="2600" b="0" kern="1200" cap="none" spc="0" normalizeH="0" baseline="0" noProof="0" smtClean="0">
                <a:latin typeface="Arial" panose="020B0604020202020204" pitchFamily="34" charset="0"/>
                <a:ea typeface="+mn-ea"/>
                <a:cs typeface="Arial" panose="020B0604020202020204" pitchFamily="34" charset="0"/>
              </a:rPr>
              <a:t>       Variance</a:t>
            </a:r>
            <a:endParaRPr kumimoji="0" lang="el-GR" sz="2600" b="0" kern="1200" cap="none" spc="0" normalizeH="0" baseline="0" noProof="0" dirty="0">
              <a:solidFill>
                <a:schemeClr val="hlink"/>
              </a:solidFill>
              <a:latin typeface="Arial" panose="020B0604020202020204" pitchFamily="34" charset="0"/>
              <a:ea typeface="+mn-ea"/>
              <a:cs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xfrm>
            <a:off x="1894205" y="139700"/>
            <a:ext cx="7226300" cy="846138"/>
          </a:xfrm>
          <a:noFill/>
          <a:ln>
            <a:noFill/>
          </a:ln>
        </p:spPr>
        <p:txBody>
          <a:bodyPr lIns="90488" tIns="44450" rIns="90488" bIns="44450"/>
          <a:p>
            <a:r>
              <a:rPr b="1" dirty="0">
                <a:latin typeface="+mj-lt"/>
                <a:ea typeface="+mj-ea"/>
                <a:cs typeface="+mj-cs"/>
              </a:rPr>
              <a:t>Review </a:t>
            </a:r>
            <a:endParaRPr b="1" dirty="0">
              <a:latin typeface="+mj-lt"/>
              <a:ea typeface="+mj-ea"/>
              <a:cs typeface="+mj-cs"/>
            </a:endParaRPr>
          </a:p>
        </p:txBody>
      </p:sp>
      <p:sp>
        <p:nvSpPr>
          <p:cNvPr id="4099" name="Rectangle 3"/>
          <p:cNvSpPr>
            <a:spLocks noGrp="1"/>
          </p:cNvSpPr>
          <p:nvPr>
            <p:ph idx="1"/>
          </p:nvPr>
        </p:nvSpPr>
        <p:spPr>
          <a:xfrm>
            <a:off x="1356995" y="950595"/>
            <a:ext cx="9006205" cy="5776595"/>
          </a:xfrm>
          <a:noFill/>
          <a:ln>
            <a:noFill/>
          </a:ln>
        </p:spPr>
        <p:txBody>
          <a:bodyPr lIns="90488" tIns="44450" rIns="90488" bIns="44450"/>
          <a:p>
            <a:pPr marL="457200" indent="-457200" algn="just">
              <a:lnSpc>
                <a:spcPct val="95000"/>
              </a:lnSpc>
              <a:spcBef>
                <a:spcPct val="0"/>
              </a:spcBef>
              <a:spcAft>
                <a:spcPct val="35000"/>
              </a:spcAft>
              <a:buSzPct val="100000"/>
            </a:pPr>
            <a:r>
              <a:rPr dirty="0">
                <a:latin typeface="+mn-lt"/>
                <a:ea typeface="+mn-ea"/>
                <a:cs typeface="+mn-cs"/>
              </a:rPr>
              <a:t>In Chapters 2, we used </a:t>
            </a:r>
            <a:r>
              <a:rPr i="1" dirty="0">
                <a:latin typeface="+mn-lt"/>
                <a:ea typeface="+mn-ea"/>
                <a:cs typeface="+mn-cs"/>
              </a:rPr>
              <a:t>descriptive</a:t>
            </a:r>
            <a:r>
              <a:rPr dirty="0">
                <a:latin typeface="+mn-lt"/>
                <a:ea typeface="+mn-ea"/>
                <a:cs typeface="+mn-cs"/>
              </a:rPr>
              <a:t> </a:t>
            </a:r>
            <a:r>
              <a:rPr i="1" dirty="0">
                <a:latin typeface="+mn-lt"/>
                <a:ea typeface="+mn-ea"/>
                <a:cs typeface="+mn-cs"/>
              </a:rPr>
              <a:t>statistics</a:t>
            </a:r>
            <a:r>
              <a:rPr dirty="0">
                <a:latin typeface="+mn-lt"/>
                <a:ea typeface="+mn-ea"/>
                <a:cs typeface="+mn-cs"/>
              </a:rPr>
              <a:t> when we summarized data using tools such as graphs and statistics such as the mean and standard deviation.</a:t>
            </a:r>
            <a:endParaRPr dirty="0">
              <a:latin typeface="+mn-lt"/>
              <a:ea typeface="+mn-ea"/>
              <a:cs typeface="+mn-cs"/>
            </a:endParaRPr>
          </a:p>
          <a:p>
            <a:pPr marL="457200" indent="-457200" algn="just">
              <a:lnSpc>
                <a:spcPct val="95000"/>
              </a:lnSpc>
              <a:spcBef>
                <a:spcPct val="0"/>
              </a:spcBef>
              <a:spcAft>
                <a:spcPct val="35000"/>
              </a:spcAft>
              <a:buSzPct val="100000"/>
            </a:pPr>
            <a:r>
              <a:rPr dirty="0">
                <a:latin typeface="+mn-lt"/>
                <a:ea typeface="+mn-ea"/>
                <a:cs typeface="+mn-cs"/>
              </a:rPr>
              <a:t>Chapter 6 we introduced critical values:</a:t>
            </a:r>
            <a:endParaRPr dirty="0">
              <a:latin typeface="+mn-lt"/>
              <a:ea typeface="+mn-ea"/>
              <a:cs typeface="+mn-cs"/>
            </a:endParaRPr>
          </a:p>
          <a:p>
            <a:pPr marL="457200" indent="-457200" algn="l">
              <a:lnSpc>
                <a:spcPct val="95000"/>
              </a:lnSpc>
              <a:spcBef>
                <a:spcPct val="0"/>
              </a:spcBef>
              <a:spcAft>
                <a:spcPct val="35000"/>
              </a:spcAft>
              <a:buSzPct val="100000"/>
              <a:buNone/>
            </a:pPr>
            <a:r>
              <a:rPr i="1" dirty="0">
                <a:latin typeface="+mn-lt"/>
                <a:ea typeface="+mn-ea"/>
                <a:cs typeface="+mn-cs"/>
              </a:rPr>
              <a:t>	z</a:t>
            </a:r>
            <a:r>
              <a:rPr lang="el-GR" altLang="x-none" i="1" baseline="-25000" dirty="0">
                <a:latin typeface="+mn-lt"/>
                <a:ea typeface="+mn-ea"/>
                <a:cs typeface="+mn-cs"/>
              </a:rPr>
              <a:t>α</a:t>
            </a:r>
            <a:r>
              <a:rPr i="1" dirty="0">
                <a:latin typeface="+mn-lt"/>
                <a:ea typeface="+mn-ea"/>
                <a:cs typeface="+mn-cs"/>
              </a:rPr>
              <a:t> </a:t>
            </a:r>
            <a:r>
              <a:rPr dirty="0">
                <a:latin typeface="+mn-lt"/>
                <a:ea typeface="+mn-ea"/>
                <a:cs typeface="+mn-cs"/>
              </a:rPr>
              <a:t>denotes the </a:t>
            </a:r>
            <a:r>
              <a:rPr i="1" dirty="0">
                <a:latin typeface="+mn-lt"/>
                <a:ea typeface="+mn-ea"/>
                <a:cs typeface="+mn-cs"/>
              </a:rPr>
              <a:t>z</a:t>
            </a:r>
            <a:r>
              <a:rPr dirty="0">
                <a:latin typeface="+mn-lt"/>
                <a:ea typeface="+mn-ea"/>
                <a:cs typeface="+mn-cs"/>
              </a:rPr>
              <a:t> score with an area of </a:t>
            </a:r>
            <a:r>
              <a:rPr lang="el-GR" altLang="x-none" i="1" dirty="0">
                <a:latin typeface="+mn-lt"/>
                <a:ea typeface="+mn-ea"/>
                <a:cs typeface="+mn-cs"/>
              </a:rPr>
              <a:t>α</a:t>
            </a:r>
            <a:r>
              <a:rPr i="1" dirty="0">
                <a:latin typeface="+mn-lt"/>
                <a:ea typeface="+mn-ea"/>
                <a:cs typeface="+mn-cs"/>
              </a:rPr>
              <a:t> </a:t>
            </a:r>
            <a:r>
              <a:rPr dirty="0">
                <a:latin typeface="+mn-lt"/>
                <a:ea typeface="+mn-ea"/>
                <a:cs typeface="+mn-cs"/>
              </a:rPr>
              <a:t>to its right.</a:t>
            </a:r>
            <a:br>
              <a:rPr dirty="0">
                <a:latin typeface="+mn-lt"/>
                <a:ea typeface="+mn-ea"/>
                <a:cs typeface="+mn-cs"/>
              </a:rPr>
            </a:br>
            <a:r>
              <a:rPr dirty="0">
                <a:latin typeface="+mn-lt"/>
                <a:ea typeface="+mn-ea"/>
                <a:cs typeface="+mn-cs"/>
              </a:rPr>
              <a:t>If </a:t>
            </a:r>
            <a:r>
              <a:rPr lang="el-GR" altLang="x-none" i="1" dirty="0">
                <a:latin typeface="+mn-lt"/>
                <a:ea typeface="+mn-ea"/>
                <a:cs typeface="+mn-cs"/>
              </a:rPr>
              <a:t>α</a:t>
            </a:r>
            <a:r>
              <a:rPr dirty="0">
                <a:latin typeface="+mn-lt"/>
                <a:ea typeface="+mn-ea"/>
                <a:cs typeface="+mn-cs"/>
              </a:rPr>
              <a:t> = 0.025, the critical value is </a:t>
            </a:r>
            <a:r>
              <a:rPr i="1" dirty="0">
                <a:latin typeface="+mn-lt"/>
                <a:ea typeface="+mn-ea"/>
                <a:cs typeface="+mn-cs"/>
              </a:rPr>
              <a:t>z</a:t>
            </a:r>
            <a:r>
              <a:rPr baseline="-25000" dirty="0">
                <a:latin typeface="+mn-lt"/>
                <a:ea typeface="+mn-ea"/>
                <a:cs typeface="+mn-cs"/>
              </a:rPr>
              <a:t>0.025</a:t>
            </a:r>
            <a:r>
              <a:rPr dirty="0">
                <a:latin typeface="+mn-lt"/>
                <a:ea typeface="+mn-ea"/>
                <a:cs typeface="+mn-cs"/>
              </a:rPr>
              <a:t> = 1.96.</a:t>
            </a:r>
            <a:endParaRPr dirty="0">
              <a:latin typeface="+mn-lt"/>
              <a:ea typeface="+mn-ea"/>
              <a:cs typeface="+mn-cs"/>
            </a:endParaRPr>
          </a:p>
          <a:p>
            <a:pPr marL="457200" indent="-457200">
              <a:lnSpc>
                <a:spcPct val="95000"/>
              </a:lnSpc>
              <a:spcBef>
                <a:spcPct val="0"/>
              </a:spcBef>
              <a:spcAft>
                <a:spcPct val="35000"/>
              </a:spcAft>
              <a:buSzPct val="100000"/>
              <a:buNone/>
            </a:pPr>
            <a:r>
              <a:rPr dirty="0">
                <a:latin typeface="+mn-lt"/>
                <a:ea typeface="+mn-ea"/>
                <a:cs typeface="+mn-cs"/>
              </a:rPr>
              <a:t>	That is, the critical value </a:t>
            </a:r>
            <a:r>
              <a:rPr i="1" dirty="0">
                <a:latin typeface="+mn-lt"/>
                <a:ea typeface="+mn-ea"/>
                <a:cs typeface="+mn-cs"/>
              </a:rPr>
              <a:t>z</a:t>
            </a:r>
            <a:r>
              <a:rPr baseline="-25000" dirty="0">
                <a:latin typeface="+mn-lt"/>
                <a:ea typeface="+mn-ea"/>
                <a:cs typeface="+mn-cs"/>
              </a:rPr>
              <a:t>0.025</a:t>
            </a:r>
            <a:r>
              <a:rPr dirty="0">
                <a:latin typeface="+mn-lt"/>
                <a:ea typeface="+mn-ea"/>
                <a:cs typeface="+mn-cs"/>
              </a:rPr>
              <a:t> = 1.96 has an area of 0.025 to its right.</a:t>
            </a:r>
            <a:endParaRPr dirty="0">
              <a:latin typeface="+mn-lt"/>
              <a:ea typeface="+mn-ea"/>
              <a:cs typeface="+mn-cs"/>
            </a:endParaRPr>
          </a:p>
        </p:txBody>
      </p:sp>
      <p:sp>
        <p:nvSpPr>
          <p:cNvPr id="4100" name="Rectangle 4"/>
          <p:cNvSpPr/>
          <p:nvPr/>
        </p:nvSpPr>
        <p:spPr>
          <a:xfrm>
            <a:off x="1785938" y="4335463"/>
            <a:ext cx="8686800" cy="1258887"/>
          </a:xfrm>
          <a:prstGeom prst="rect">
            <a:avLst/>
          </a:prstGeom>
          <a:noFill/>
          <a:ln w="9525">
            <a:noFill/>
          </a:ln>
        </p:spPr>
        <p:txBody>
          <a:bodyPr wrap="none" anchor="ctr" anchorCtr="0"/>
          <a:p>
            <a:endParaRPr dirty="0">
              <a:latin typeface="Arial" panose="020B0604020202020204"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dirty="0">
                <a:latin typeface="+mn-lt"/>
                <a:ea typeface="+mn-ea"/>
                <a:cs typeface="+mn-cs"/>
                <a:sym typeface="+mn-ea"/>
              </a:rPr>
              <a:t>C</a:t>
            </a:r>
            <a:r>
              <a:rPr dirty="0">
                <a:latin typeface="+mn-lt"/>
                <a:ea typeface="+mn-ea"/>
                <a:cs typeface="+mn-cs"/>
                <a:sym typeface="+mn-ea"/>
              </a:rPr>
              <a:t>ritical value</a:t>
            </a:r>
            <a:endParaRPr lang="en-US"/>
          </a:p>
        </p:txBody>
      </p:sp>
      <p:pic>
        <p:nvPicPr>
          <p:cNvPr id="28675" name="Picture 5" descr="6_02"/>
          <p:cNvPicPr>
            <a:picLocks noChangeAspect="1"/>
          </p:cNvPicPr>
          <p:nvPr>
            <p:ph idx="1"/>
          </p:nvPr>
        </p:nvPicPr>
        <p:blipFill>
          <a:blip r:embed="rId1"/>
          <a:stretch>
            <a:fillRect/>
          </a:stretch>
        </p:blipFill>
        <p:spPr>
          <a:xfrm>
            <a:off x="3794760" y="1216025"/>
            <a:ext cx="3581400" cy="356235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1337310" y="139700"/>
            <a:ext cx="7226300" cy="846138"/>
          </a:xfrm>
          <a:noFill/>
          <a:ln>
            <a:noFill/>
          </a:ln>
        </p:spPr>
        <p:txBody>
          <a:bodyPr lIns="90488" tIns="44450" rIns="90488" bIns="44450"/>
          <a:p>
            <a:r>
              <a:rPr b="1" dirty="0">
                <a:latin typeface="+mj-lt"/>
                <a:ea typeface="+mj-ea"/>
                <a:cs typeface="+mj-cs"/>
              </a:rPr>
              <a:t>Preview </a:t>
            </a:r>
            <a:endParaRPr b="1" dirty="0">
              <a:latin typeface="+mj-lt"/>
              <a:ea typeface="+mj-ea"/>
              <a:cs typeface="+mj-cs"/>
            </a:endParaRPr>
          </a:p>
        </p:txBody>
      </p:sp>
      <p:sp>
        <p:nvSpPr>
          <p:cNvPr id="521219" name="Rectangle 3"/>
          <p:cNvSpPr>
            <a:spLocks noGrp="1"/>
          </p:cNvSpPr>
          <p:nvPr>
            <p:ph idx="1"/>
          </p:nvPr>
        </p:nvSpPr>
        <p:spPr>
          <a:xfrm>
            <a:off x="712470" y="1828800"/>
            <a:ext cx="9650730" cy="4498975"/>
          </a:xfrm>
          <a:noFill/>
          <a:ln>
            <a:noFill/>
          </a:ln>
        </p:spPr>
        <p:txBody>
          <a:bodyPr lIns="90488" tIns="44450" rIns="90488" bIns="44450"/>
          <a:p>
            <a:pPr marL="457200" indent="-457200" algn="just">
              <a:lnSpc>
                <a:spcPct val="85000"/>
              </a:lnSpc>
              <a:spcBef>
                <a:spcPct val="0"/>
              </a:spcBef>
              <a:spcAft>
                <a:spcPct val="35000"/>
              </a:spcAft>
              <a:buSzPct val="100000"/>
            </a:pPr>
            <a:r>
              <a:rPr dirty="0">
                <a:latin typeface="+mn-lt"/>
                <a:ea typeface="+mn-ea"/>
                <a:cs typeface="+mn-cs"/>
              </a:rPr>
              <a:t>The two major activities of inferential statistics are (1) to use sample data to estimate values of a population parameters, and (2) to test hypotheses or claims made about  population parameters.</a:t>
            </a:r>
            <a:endParaRPr dirty="0">
              <a:latin typeface="+mn-lt"/>
              <a:ea typeface="+mn-ea"/>
              <a:cs typeface="+mn-cs"/>
            </a:endParaRPr>
          </a:p>
          <a:p>
            <a:pPr marL="457200" indent="-457200" algn="just">
              <a:lnSpc>
                <a:spcPct val="85000"/>
              </a:lnSpc>
              <a:spcBef>
                <a:spcPct val="0"/>
              </a:spcBef>
              <a:spcAft>
                <a:spcPct val="35000"/>
              </a:spcAft>
              <a:buSzPct val="100000"/>
            </a:pPr>
            <a:r>
              <a:rPr dirty="0">
                <a:latin typeface="+mn-lt"/>
                <a:ea typeface="+mn-ea"/>
                <a:cs typeface="+mn-cs"/>
              </a:rPr>
              <a:t>We introduce methods for estimating values of these important population parameters: proportions, means, and standard deviation / variances.</a:t>
            </a:r>
            <a:endParaRPr dirty="0">
              <a:latin typeface="+mn-lt"/>
              <a:ea typeface="+mn-ea"/>
              <a:cs typeface="+mn-cs"/>
            </a:endParaRPr>
          </a:p>
          <a:p>
            <a:pPr marL="457200" indent="-457200" algn="just">
              <a:lnSpc>
                <a:spcPct val="85000"/>
              </a:lnSpc>
              <a:spcBef>
                <a:spcPct val="0"/>
              </a:spcBef>
              <a:spcAft>
                <a:spcPct val="35000"/>
              </a:spcAft>
              <a:buSzPct val="100000"/>
            </a:pPr>
            <a:r>
              <a:rPr dirty="0">
                <a:latin typeface="+mn-lt"/>
                <a:ea typeface="+mn-ea"/>
                <a:cs typeface="+mn-cs"/>
              </a:rPr>
              <a:t>We also present methods for determining sample sizes necessary to estimate those parameters.</a:t>
            </a:r>
            <a:endParaRPr dirty="0">
              <a:latin typeface="+mn-lt"/>
              <a:ea typeface="+mn-ea"/>
              <a:cs typeface="+mn-cs"/>
            </a:endParaRPr>
          </a:p>
        </p:txBody>
      </p:sp>
      <p:sp>
        <p:nvSpPr>
          <p:cNvPr id="5124" name="Rectangle 4"/>
          <p:cNvSpPr/>
          <p:nvPr/>
        </p:nvSpPr>
        <p:spPr>
          <a:xfrm>
            <a:off x="1785938" y="4335463"/>
            <a:ext cx="8686800" cy="1258887"/>
          </a:xfrm>
          <a:prstGeom prst="rect">
            <a:avLst/>
          </a:prstGeom>
          <a:noFill/>
          <a:ln w="9525">
            <a:noFill/>
          </a:ln>
        </p:spPr>
        <p:txBody>
          <a:bodyPr wrap="none" anchor="ctr" anchorCtr="0"/>
          <a:p>
            <a:endParaRPr dirty="0">
              <a:latin typeface="Arial" panose="020B0604020202020204" pitchFamily="34" charset="0"/>
            </a:endParaRPr>
          </a:p>
        </p:txBody>
      </p:sp>
      <p:sp>
        <p:nvSpPr>
          <p:cNvPr id="5125" name="Rectangle 5"/>
          <p:cNvSpPr/>
          <p:nvPr/>
        </p:nvSpPr>
        <p:spPr>
          <a:xfrm>
            <a:off x="1217613" y="935038"/>
            <a:ext cx="8269287" cy="924560"/>
          </a:xfrm>
          <a:prstGeom prst="rect">
            <a:avLst/>
          </a:prstGeom>
          <a:noFill/>
          <a:ln w="9525">
            <a:noFill/>
          </a:ln>
        </p:spPr>
        <p:txBody>
          <a:bodyPr lIns="90488" tIns="44450" rIns="90488" bIns="44450">
            <a:spAutoFit/>
          </a:bodyPr>
          <a:p>
            <a:pPr>
              <a:lnSpc>
                <a:spcPct val="85000"/>
              </a:lnSpc>
              <a:spcBef>
                <a:spcPct val="30000"/>
              </a:spcBef>
              <a:spcAft>
                <a:spcPct val="45000"/>
              </a:spcAft>
            </a:pPr>
            <a:r>
              <a:rPr sz="3200" b="0" dirty="0">
                <a:latin typeface="Arial" panose="020B0604020202020204" pitchFamily="34" charset="0"/>
              </a:rPr>
              <a:t>This chapter presents the beginning of inferential statistics.</a:t>
            </a:r>
            <a:endParaRPr sz="3200" b="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1219">
                                            <p:txEl>
                                              <p:charRg st="197" end="33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1219">
                                            <p:txEl>
                                              <p:charRg st="338" end="43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Text Box 4"/>
          <p:cNvSpPr txBox="1"/>
          <p:nvPr/>
        </p:nvSpPr>
        <p:spPr>
          <a:xfrm>
            <a:off x="2819400" y="457200"/>
            <a:ext cx="7086600" cy="583565"/>
          </a:xfrm>
          <a:prstGeom prst="rect">
            <a:avLst/>
          </a:prstGeom>
          <a:noFill/>
          <a:ln w="12700">
            <a:noFill/>
          </a:ln>
        </p:spPr>
        <p:txBody>
          <a:bodyPr>
            <a:spAutoFit/>
          </a:bodyPr>
          <a:p>
            <a:pPr>
              <a:spcBef>
                <a:spcPct val="50000"/>
              </a:spcBef>
            </a:pPr>
            <a:endParaRPr sz="3200" b="0" dirty="0">
              <a:latin typeface="Times New Roman" panose="02020603050405020304" charset="0"/>
            </a:endParaRPr>
          </a:p>
        </p:txBody>
      </p:sp>
      <p:sp>
        <p:nvSpPr>
          <p:cNvPr id="8194" name="Text Box 5"/>
          <p:cNvSpPr txBox="1"/>
          <p:nvPr/>
        </p:nvSpPr>
        <p:spPr>
          <a:xfrm>
            <a:off x="642620" y="254000"/>
            <a:ext cx="8750300" cy="589280"/>
          </a:xfrm>
          <a:prstGeom prst="rect">
            <a:avLst/>
          </a:prstGeom>
          <a:noFill/>
          <a:ln w="12700">
            <a:noFill/>
          </a:ln>
        </p:spPr>
        <p:txBody>
          <a:bodyPr wrap="square">
            <a:noAutofit/>
          </a:bodyPr>
          <a:p>
            <a:pPr algn="ctr">
              <a:spcBef>
                <a:spcPct val="50000"/>
              </a:spcBef>
            </a:pPr>
            <a:r>
              <a:rPr lang="en-US" sz="3600" noProof="0" dirty="0">
                <a:latin typeface="Arial" panose="020B0604020202020204" pitchFamily="34" charset="0"/>
                <a:sym typeface="+mn-ea"/>
              </a:rPr>
              <a:t>6.1.  Estimating a Population Proportion</a:t>
            </a:r>
            <a:endParaRPr kumimoji="0" lang="en-US" sz="3600" b="0" kern="1200" cap="none" spc="0" normalizeH="0" baseline="0" noProof="0" dirty="0">
              <a:latin typeface="Arial" panose="020B0604020202020204" pitchFamily="34" charset="0"/>
              <a:ea typeface="+mn-ea"/>
              <a:cs typeface="+mn-cs"/>
            </a:endParaRPr>
          </a:p>
          <a:p>
            <a:pPr algn="ctr">
              <a:spcBef>
                <a:spcPct val="50000"/>
              </a:spcBef>
            </a:pPr>
            <a:endParaRPr sz="3600" dirty="0">
              <a:solidFill>
                <a:srgbClr val="008000"/>
              </a:solidFill>
              <a:latin typeface="Arial" panose="020B0604020202020204" pitchFamily="34" charset="0"/>
            </a:endParaRPr>
          </a:p>
        </p:txBody>
      </p:sp>
      <p:sp>
        <p:nvSpPr>
          <p:cNvPr id="8195" name="Text Box 6"/>
          <p:cNvSpPr txBox="1"/>
          <p:nvPr/>
        </p:nvSpPr>
        <p:spPr>
          <a:xfrm>
            <a:off x="1911350" y="880428"/>
            <a:ext cx="8299450" cy="1383665"/>
          </a:xfrm>
          <a:prstGeom prst="rect">
            <a:avLst/>
          </a:prstGeom>
          <a:noFill/>
          <a:ln w="12700">
            <a:noFill/>
          </a:ln>
        </p:spPr>
        <p:txBody>
          <a:bodyPr>
            <a:spAutoFit/>
          </a:bodyPr>
          <a:p>
            <a:pPr>
              <a:spcBef>
                <a:spcPct val="50000"/>
              </a:spcBef>
            </a:pPr>
            <a:r>
              <a:rPr sz="2800" b="0" dirty="0">
                <a:latin typeface="Arial" panose="020B0604020202020204" pitchFamily="34" charset="0"/>
              </a:rPr>
              <a:t>In this section we present methods for using a sample proportion</a:t>
            </a:r>
            <a:r>
              <a:rPr lang="en-US" sz="2800" b="0" dirty="0">
                <a:latin typeface="Arial" panose="020B0604020202020204" pitchFamily="34" charset="0"/>
              </a:rPr>
              <a:t> (tỷ lệ mẫu)</a:t>
            </a:r>
            <a:r>
              <a:rPr sz="2800" b="0" dirty="0">
                <a:latin typeface="Arial" panose="020B0604020202020204" pitchFamily="34" charset="0"/>
              </a:rPr>
              <a:t> to estimate the value of a population proportion</a:t>
            </a:r>
            <a:r>
              <a:rPr lang="en-US" sz="2800" b="0" dirty="0">
                <a:latin typeface="Arial" panose="020B0604020202020204" pitchFamily="34" charset="0"/>
              </a:rPr>
              <a:t> (tỷ lệ của quần thể)</a:t>
            </a:r>
            <a:r>
              <a:rPr sz="2800" b="0" dirty="0">
                <a:latin typeface="Arial" panose="020B0604020202020204" pitchFamily="34" charset="0"/>
              </a:rPr>
              <a:t>.</a:t>
            </a:r>
            <a:endParaRPr sz="2800" b="0" dirty="0">
              <a:latin typeface="Arial" panose="020B0604020202020204" pitchFamily="34" charset="0"/>
            </a:endParaRPr>
          </a:p>
        </p:txBody>
      </p:sp>
      <p:sp>
        <p:nvSpPr>
          <p:cNvPr id="8196" name="Text Box 8"/>
          <p:cNvSpPr txBox="1"/>
          <p:nvPr/>
        </p:nvSpPr>
        <p:spPr>
          <a:xfrm>
            <a:off x="1226185" y="2301875"/>
            <a:ext cx="8714740" cy="4399915"/>
          </a:xfrm>
          <a:prstGeom prst="rect">
            <a:avLst/>
          </a:prstGeom>
          <a:noFill/>
          <a:ln w="12700">
            <a:noFill/>
          </a:ln>
        </p:spPr>
        <p:txBody>
          <a:bodyPr wrap="square">
            <a:spAutoFit/>
          </a:bodyPr>
          <a:p>
            <a:pPr marL="344805" indent="-344805">
              <a:spcBef>
                <a:spcPct val="50000"/>
              </a:spcBef>
              <a:buClr>
                <a:schemeClr val="accent2"/>
              </a:buClr>
              <a:buChar char="•"/>
            </a:pPr>
            <a:r>
              <a:rPr sz="2800" b="0" dirty="0">
                <a:latin typeface="Arial" panose="020B0604020202020204" pitchFamily="34" charset="0"/>
              </a:rPr>
              <a:t>The sample proportion is the best </a:t>
            </a:r>
            <a:r>
              <a:rPr sz="2800" b="0" dirty="0">
                <a:solidFill>
                  <a:srgbClr val="FF0000"/>
                </a:solidFill>
                <a:latin typeface="Arial" panose="020B0604020202020204" pitchFamily="34" charset="0"/>
              </a:rPr>
              <a:t>point estimate </a:t>
            </a:r>
            <a:r>
              <a:rPr lang="en-US" sz="2800" b="0" dirty="0">
                <a:solidFill>
                  <a:srgbClr val="FF0000"/>
                </a:solidFill>
                <a:latin typeface="Arial" panose="020B0604020202020204" pitchFamily="34" charset="0"/>
              </a:rPr>
              <a:t> </a:t>
            </a:r>
            <a:r>
              <a:rPr lang="en-US" sz="2800" b="0" dirty="0">
                <a:solidFill>
                  <a:schemeClr val="tx1"/>
                </a:solidFill>
                <a:latin typeface="Arial" panose="020B0604020202020204" pitchFamily="34" charset="0"/>
              </a:rPr>
              <a:t>(ước lượng điểm)</a:t>
            </a:r>
            <a:r>
              <a:rPr lang="en-US" sz="2800" b="0" dirty="0">
                <a:solidFill>
                  <a:srgbClr val="FF0000"/>
                </a:solidFill>
                <a:latin typeface="Arial" panose="020B0604020202020204" pitchFamily="34" charset="0"/>
              </a:rPr>
              <a:t> </a:t>
            </a:r>
            <a:r>
              <a:rPr sz="2800" b="0" dirty="0">
                <a:latin typeface="Arial" panose="020B0604020202020204" pitchFamily="34" charset="0"/>
              </a:rPr>
              <a:t>of the population proportion.</a:t>
            </a:r>
            <a:endParaRPr sz="2800" b="0" dirty="0">
              <a:latin typeface="Arial" panose="020B0604020202020204" pitchFamily="34" charset="0"/>
            </a:endParaRPr>
          </a:p>
          <a:p>
            <a:pPr marL="344805" indent="-344805">
              <a:spcBef>
                <a:spcPct val="50000"/>
              </a:spcBef>
              <a:buClr>
                <a:schemeClr val="accent2"/>
              </a:buClr>
              <a:buChar char="•"/>
            </a:pPr>
            <a:r>
              <a:rPr sz="2800" b="0" dirty="0">
                <a:latin typeface="Arial" panose="020B0604020202020204" pitchFamily="34" charset="0"/>
              </a:rPr>
              <a:t>We can use a sample proportion to construct a </a:t>
            </a:r>
            <a:r>
              <a:rPr sz="2800" b="0" dirty="0">
                <a:solidFill>
                  <a:srgbClr val="FF0000"/>
                </a:solidFill>
                <a:latin typeface="Arial" panose="020B0604020202020204" pitchFamily="34" charset="0"/>
              </a:rPr>
              <a:t>confidence interval </a:t>
            </a:r>
            <a:r>
              <a:rPr lang="en-US" sz="2800" b="0" dirty="0">
                <a:solidFill>
                  <a:srgbClr val="FF0000"/>
                </a:solidFill>
                <a:latin typeface="Arial" panose="020B0604020202020204" pitchFamily="34" charset="0"/>
              </a:rPr>
              <a:t>(khoảng tin cậy) </a:t>
            </a:r>
            <a:r>
              <a:rPr sz="2800" b="0" dirty="0">
                <a:latin typeface="Arial" panose="020B0604020202020204" pitchFamily="34" charset="0"/>
              </a:rPr>
              <a:t>to estimate the true value of a population proportion, and we should know how to interpret such confidence intervals. </a:t>
            </a:r>
            <a:endParaRPr sz="2800" b="0" dirty="0">
              <a:latin typeface="Arial" panose="020B0604020202020204" pitchFamily="34" charset="0"/>
            </a:endParaRPr>
          </a:p>
          <a:p>
            <a:pPr marL="344805" indent="-344805">
              <a:spcBef>
                <a:spcPct val="50000"/>
              </a:spcBef>
              <a:buClr>
                <a:schemeClr val="accent2"/>
              </a:buClr>
              <a:buChar char="•"/>
            </a:pPr>
            <a:r>
              <a:rPr sz="2800" b="0" dirty="0">
                <a:latin typeface="Arial" panose="020B0604020202020204" pitchFamily="34" charset="0"/>
              </a:rPr>
              <a:t>We should know </a:t>
            </a:r>
            <a:r>
              <a:rPr sz="2800" b="0" dirty="0">
                <a:solidFill>
                  <a:schemeClr val="tx1"/>
                </a:solidFill>
                <a:latin typeface="Arial" panose="020B0604020202020204" pitchFamily="34" charset="0"/>
              </a:rPr>
              <a:t>how to find</a:t>
            </a:r>
            <a:r>
              <a:rPr sz="2800" b="0" dirty="0">
                <a:latin typeface="Arial" panose="020B0604020202020204" pitchFamily="34" charset="0"/>
              </a:rPr>
              <a:t> the </a:t>
            </a:r>
            <a:r>
              <a:rPr sz="2800" b="0" dirty="0">
                <a:solidFill>
                  <a:srgbClr val="FF0000"/>
                </a:solidFill>
                <a:latin typeface="Arial" panose="020B0604020202020204" pitchFamily="34" charset="0"/>
              </a:rPr>
              <a:t>sample size</a:t>
            </a:r>
            <a:r>
              <a:rPr lang="en-US" sz="2800" b="0" dirty="0">
                <a:latin typeface="Arial" panose="020B0604020202020204" pitchFamily="34" charset="0"/>
              </a:rPr>
              <a:t> (kích thước mẫu)</a:t>
            </a:r>
            <a:r>
              <a:rPr sz="2800" b="0" dirty="0">
                <a:latin typeface="Arial" panose="020B0604020202020204" pitchFamily="34" charset="0"/>
              </a:rPr>
              <a:t> necessary to estimate a population proportion. </a:t>
            </a:r>
            <a:endParaRPr sz="2800" b="0" dirty="0">
              <a:latin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title" idx="4294967295"/>
          </p:nvPr>
        </p:nvSpPr>
        <p:spPr>
          <a:xfrm>
            <a:off x="2209800" y="484505"/>
            <a:ext cx="7772400" cy="855663"/>
          </a:xfrm>
          <a:prstGeom prst="rect">
            <a:avLst/>
          </a:prstGeom>
          <a:noFill/>
          <a:ln w="9525">
            <a:noFill/>
          </a:ln>
        </p:spPr>
        <p:txBody>
          <a:bodyPr lIns="90488" tIns="44450" rIns="90488" bIns="44450"/>
          <a:p>
            <a:pPr>
              <a:lnSpc>
                <a:spcPct val="125000"/>
              </a:lnSpc>
              <a:spcBef>
                <a:spcPct val="4000"/>
              </a:spcBef>
            </a:pPr>
            <a:r>
              <a:rPr dirty="0"/>
              <a:t>Definition</a:t>
            </a:r>
            <a:endParaRPr dirty="0"/>
          </a:p>
        </p:txBody>
      </p:sp>
      <p:sp>
        <p:nvSpPr>
          <p:cNvPr id="10242" name="Rectangle 3"/>
          <p:cNvSpPr>
            <a:spLocks noGrp="1"/>
          </p:cNvSpPr>
          <p:nvPr>
            <p:ph type="body" idx="4294967295"/>
          </p:nvPr>
        </p:nvSpPr>
        <p:spPr>
          <a:xfrm>
            <a:off x="1649095" y="1629410"/>
            <a:ext cx="8762365" cy="2286000"/>
          </a:xfrm>
          <a:prstGeom prst="rect">
            <a:avLst/>
          </a:prstGeom>
          <a:noFill/>
          <a:ln w="9525">
            <a:noFill/>
          </a:ln>
        </p:spPr>
        <p:txBody>
          <a:bodyPr lIns="90488" tIns="44450" rIns="90488" bIns="44450"/>
          <a:p>
            <a:pPr marL="457200" indent="-457200">
              <a:buFont typeface="Wingdings" panose="05000000000000000000" pitchFamily="2" charset="2"/>
              <a:buNone/>
            </a:pPr>
            <a:r>
              <a:rPr sz="3200" b="0" dirty="0"/>
              <a:t>	A </a:t>
            </a:r>
            <a:r>
              <a:rPr sz="3200" b="0" dirty="0">
                <a:solidFill>
                  <a:schemeClr val="hlink"/>
                </a:solidFill>
              </a:rPr>
              <a:t>point estimate</a:t>
            </a:r>
            <a:r>
              <a:rPr sz="3200" b="0" dirty="0"/>
              <a:t> is a single value (or point) used to approximate a population parameter.</a:t>
            </a:r>
            <a:endParaRPr sz="3200" b="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3"/>
          <p:cNvSpPr>
            <a:spLocks noGrp="1"/>
          </p:cNvSpPr>
          <p:nvPr>
            <p:ph type="body" idx="4294967295"/>
          </p:nvPr>
        </p:nvSpPr>
        <p:spPr>
          <a:xfrm>
            <a:off x="1541463" y="1854518"/>
            <a:ext cx="8437562" cy="2476500"/>
          </a:xfrm>
          <a:prstGeom prst="rect">
            <a:avLst/>
          </a:prstGeom>
          <a:noFill/>
          <a:ln w="9525">
            <a:noFill/>
          </a:ln>
        </p:spPr>
        <p:txBody>
          <a:bodyPr lIns="90488" tIns="44450" rIns="90488" bIns="44450"/>
          <a:p>
            <a:pPr marL="457200" indent="-457200">
              <a:buFont typeface="Wingdings" panose="05000000000000000000" pitchFamily="2" charset="2"/>
              <a:buNone/>
            </a:pPr>
            <a:r>
              <a:rPr sz="3200" b="0" dirty="0"/>
              <a:t>	The sample proportion    </a:t>
            </a:r>
            <a:r>
              <a:rPr sz="3200" b="0" i="1" dirty="0">
                <a:solidFill>
                  <a:schemeClr val="hlink"/>
                </a:solidFill>
              </a:rPr>
              <a:t> </a:t>
            </a:r>
            <a:r>
              <a:rPr sz="3200" b="0" dirty="0"/>
              <a:t>is the best point estimate of the population proportion </a:t>
            </a:r>
            <a:r>
              <a:rPr sz="3200" b="0" i="1" dirty="0"/>
              <a:t>p</a:t>
            </a:r>
            <a:r>
              <a:rPr sz="3200" b="0" dirty="0"/>
              <a:t>.  </a:t>
            </a:r>
            <a:endParaRPr sz="3200" b="0" dirty="0"/>
          </a:p>
        </p:txBody>
      </p:sp>
      <p:sp>
        <p:nvSpPr>
          <p:cNvPr id="12290" name="Rectangle 5"/>
          <p:cNvSpPr/>
          <p:nvPr/>
        </p:nvSpPr>
        <p:spPr>
          <a:xfrm>
            <a:off x="2078355" y="740410"/>
            <a:ext cx="7772400" cy="723900"/>
          </a:xfrm>
          <a:prstGeom prst="rect">
            <a:avLst/>
          </a:prstGeom>
          <a:noFill/>
          <a:ln w="9525">
            <a:noFill/>
          </a:ln>
        </p:spPr>
        <p:txBody>
          <a:bodyPr lIns="90488" tIns="44450" rIns="90488" bIns="44450" anchor="ctr" anchorCtr="0"/>
          <a:p>
            <a:pPr algn="l">
              <a:lnSpc>
                <a:spcPct val="125000"/>
              </a:lnSpc>
              <a:spcBef>
                <a:spcPct val="4000"/>
              </a:spcBef>
            </a:pPr>
            <a:r>
              <a:rPr sz="4000" dirty="0">
                <a:solidFill>
                  <a:srgbClr val="008000"/>
                </a:solidFill>
                <a:latin typeface="Arial" panose="020B0604020202020204" pitchFamily="34" charset="0"/>
              </a:rPr>
              <a:t>Definition</a:t>
            </a:r>
            <a:endParaRPr sz="4000" dirty="0">
              <a:latin typeface="Arial" panose="020B0604020202020204" pitchFamily="34" charset="0"/>
            </a:endParaRPr>
          </a:p>
        </p:txBody>
      </p:sp>
      <p:graphicFrame>
        <p:nvGraphicFramePr>
          <p:cNvPr id="12291" name="Object 2"/>
          <p:cNvGraphicFramePr>
            <a:graphicFrameLocks noChangeAspect="1"/>
          </p:cNvGraphicFramePr>
          <p:nvPr/>
        </p:nvGraphicFramePr>
        <p:xfrm>
          <a:off x="6254115" y="1893888"/>
          <a:ext cx="327025" cy="506412"/>
        </p:xfrm>
        <a:graphic>
          <a:graphicData uri="http://schemas.openxmlformats.org/presentationml/2006/ole">
            <mc:AlternateContent xmlns:mc="http://schemas.openxmlformats.org/markup-compatibility/2006">
              <mc:Choice xmlns:v="urn:schemas-microsoft-com:vml" Requires="v">
                <p:oleObj spid="_x0000_s3076" name="" r:id="rId1" imgW="279400" imgH="431800" progId="Equation.DSMT4">
                  <p:embed/>
                </p:oleObj>
              </mc:Choice>
              <mc:Fallback>
                <p:oleObj name="" r:id="rId1" imgW="279400" imgH="431800" progId="Equation.DSMT4">
                  <p:embed/>
                  <p:pic>
                    <p:nvPicPr>
                      <p:cNvPr id="0" name="Picture 3075"/>
                      <p:cNvPicPr/>
                      <p:nvPr/>
                    </p:nvPicPr>
                    <p:blipFill>
                      <a:blip r:embed="rId2"/>
                      <a:stretch>
                        <a:fillRect/>
                      </a:stretch>
                    </p:blipFill>
                    <p:spPr>
                      <a:xfrm>
                        <a:off x="6254115" y="1893888"/>
                        <a:ext cx="327025" cy="506412"/>
                      </a:xfrm>
                      <a:prstGeom prst="rect">
                        <a:avLst/>
                      </a:prstGeom>
                      <a:noFill/>
                      <a:ln w="38100">
                        <a:noFill/>
                        <a:miter/>
                      </a:ln>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idx="4294967295"/>
          </p:nvPr>
        </p:nvSpPr>
        <p:spPr>
          <a:xfrm>
            <a:off x="2120900" y="173038"/>
            <a:ext cx="8077200" cy="565150"/>
          </a:xfrm>
          <a:prstGeom prst="rect">
            <a:avLst/>
          </a:prstGeom>
          <a:noFill/>
          <a:ln w="9525">
            <a:noFill/>
          </a:ln>
        </p:spPr>
        <p:txBody>
          <a:bodyPr lIns="90488" tIns="44450" rIns="90488" bIns="44450"/>
          <a:p>
            <a:r>
              <a:rPr sz="3200" dirty="0"/>
              <a:t>Example</a:t>
            </a:r>
            <a:endParaRPr sz="3200" dirty="0">
              <a:solidFill>
                <a:schemeClr val="tx1"/>
              </a:solidFill>
            </a:endParaRPr>
          </a:p>
        </p:txBody>
      </p:sp>
      <p:sp>
        <p:nvSpPr>
          <p:cNvPr id="14338" name="Rectangle 4"/>
          <p:cNvSpPr/>
          <p:nvPr/>
        </p:nvSpPr>
        <p:spPr>
          <a:xfrm>
            <a:off x="3362325" y="2403475"/>
            <a:ext cx="354013" cy="641350"/>
          </a:xfrm>
          <a:prstGeom prst="rect">
            <a:avLst/>
          </a:prstGeom>
          <a:noFill/>
          <a:ln w="9525">
            <a:noFill/>
          </a:ln>
        </p:spPr>
        <p:txBody>
          <a:bodyPr wrap="none" anchor="ctr" anchorCtr="0"/>
          <a:p>
            <a:endParaRPr b="0" dirty="0">
              <a:latin typeface="Arial" panose="020B0604020202020204" pitchFamily="34" charset="0"/>
            </a:endParaRPr>
          </a:p>
        </p:txBody>
      </p:sp>
      <p:sp>
        <p:nvSpPr>
          <p:cNvPr id="14339" name="Rectangle 5"/>
          <p:cNvSpPr/>
          <p:nvPr/>
        </p:nvSpPr>
        <p:spPr>
          <a:xfrm>
            <a:off x="3032125" y="3017838"/>
            <a:ext cx="420688" cy="476250"/>
          </a:xfrm>
          <a:prstGeom prst="rect">
            <a:avLst/>
          </a:prstGeom>
          <a:noFill/>
          <a:ln w="9525">
            <a:noFill/>
          </a:ln>
        </p:spPr>
        <p:txBody>
          <a:bodyPr wrap="none" anchor="ctr" anchorCtr="0"/>
          <a:p>
            <a:endParaRPr b="0" dirty="0">
              <a:latin typeface="Arial" panose="020B0604020202020204" pitchFamily="34" charset="0"/>
            </a:endParaRPr>
          </a:p>
        </p:txBody>
      </p:sp>
      <p:sp>
        <p:nvSpPr>
          <p:cNvPr id="14340" name="Rectangle 6"/>
          <p:cNvSpPr/>
          <p:nvPr/>
        </p:nvSpPr>
        <p:spPr>
          <a:xfrm>
            <a:off x="3260725" y="2989263"/>
            <a:ext cx="296863" cy="312737"/>
          </a:xfrm>
          <a:prstGeom prst="rect">
            <a:avLst/>
          </a:prstGeom>
          <a:noFill/>
          <a:ln w="9525">
            <a:noFill/>
          </a:ln>
        </p:spPr>
        <p:txBody>
          <a:bodyPr wrap="none" anchor="ctr" anchorCtr="0"/>
          <a:p>
            <a:endParaRPr b="0" dirty="0">
              <a:latin typeface="Arial" panose="020B0604020202020204" pitchFamily="34" charset="0"/>
            </a:endParaRPr>
          </a:p>
        </p:txBody>
      </p:sp>
      <p:sp>
        <p:nvSpPr>
          <p:cNvPr id="14341" name="Rectangle 7"/>
          <p:cNvSpPr/>
          <p:nvPr/>
        </p:nvSpPr>
        <p:spPr>
          <a:xfrm>
            <a:off x="2036763" y="3513138"/>
            <a:ext cx="264795" cy="937260"/>
          </a:xfrm>
          <a:prstGeom prst="rect">
            <a:avLst/>
          </a:prstGeom>
          <a:noFill/>
          <a:ln w="9525">
            <a:noFill/>
          </a:ln>
        </p:spPr>
        <p:txBody>
          <a:bodyPr wrap="none" lIns="90488" tIns="44450" rIns="90488" bIns="44450">
            <a:spAutoFit/>
          </a:bodyPr>
          <a:p>
            <a:pPr>
              <a:spcBef>
                <a:spcPct val="30000"/>
              </a:spcBef>
            </a:pPr>
            <a:r>
              <a:rPr sz="2400" b="0" dirty="0">
                <a:solidFill>
                  <a:schemeClr val="hlink"/>
                </a:solidFill>
                <a:latin typeface="Arial" panose="020B0604020202020204" pitchFamily="34" charset="0"/>
              </a:rPr>
              <a:t> </a:t>
            </a:r>
            <a:endParaRPr sz="2400" b="0" dirty="0">
              <a:solidFill>
                <a:schemeClr val="tx2"/>
              </a:solidFill>
              <a:latin typeface="Arial" panose="020B0604020202020204" pitchFamily="34" charset="0"/>
            </a:endParaRPr>
          </a:p>
          <a:p>
            <a:pPr>
              <a:spcBef>
                <a:spcPct val="30000"/>
              </a:spcBef>
            </a:pPr>
            <a:endParaRPr sz="2400" b="0" dirty="0">
              <a:solidFill>
                <a:schemeClr val="tx2"/>
              </a:solidFill>
              <a:latin typeface="Arial" panose="020B0604020202020204" pitchFamily="34" charset="0"/>
            </a:endParaRPr>
          </a:p>
        </p:txBody>
      </p:sp>
      <p:sp>
        <p:nvSpPr>
          <p:cNvPr id="14342" name="Rectangle 8"/>
          <p:cNvSpPr/>
          <p:nvPr/>
        </p:nvSpPr>
        <p:spPr>
          <a:xfrm>
            <a:off x="3413125" y="4127500"/>
            <a:ext cx="890588" cy="420688"/>
          </a:xfrm>
          <a:prstGeom prst="rect">
            <a:avLst/>
          </a:prstGeom>
          <a:noFill/>
          <a:ln w="9525">
            <a:noFill/>
          </a:ln>
        </p:spPr>
        <p:txBody>
          <a:bodyPr wrap="none" anchor="ctr" anchorCtr="0"/>
          <a:p>
            <a:endParaRPr b="0" dirty="0">
              <a:latin typeface="Arial" panose="020B0604020202020204" pitchFamily="34" charset="0"/>
            </a:endParaRPr>
          </a:p>
        </p:txBody>
      </p:sp>
      <p:sp>
        <p:nvSpPr>
          <p:cNvPr id="14343" name="Rectangle 9"/>
          <p:cNvSpPr/>
          <p:nvPr/>
        </p:nvSpPr>
        <p:spPr>
          <a:xfrm>
            <a:off x="2117725" y="4694238"/>
            <a:ext cx="5807075" cy="1733550"/>
          </a:xfrm>
          <a:prstGeom prst="rect">
            <a:avLst/>
          </a:prstGeom>
          <a:noFill/>
          <a:ln w="9525">
            <a:noFill/>
          </a:ln>
        </p:spPr>
        <p:txBody>
          <a:bodyPr wrap="none" anchor="ctr" anchorCtr="0"/>
          <a:p>
            <a:endParaRPr b="0" dirty="0">
              <a:latin typeface="Arial" panose="020B0604020202020204" pitchFamily="34" charset="0"/>
            </a:endParaRPr>
          </a:p>
        </p:txBody>
      </p:sp>
      <p:sp>
        <p:nvSpPr>
          <p:cNvPr id="14344" name="Rectangle 10"/>
          <p:cNvSpPr/>
          <p:nvPr/>
        </p:nvSpPr>
        <p:spPr>
          <a:xfrm>
            <a:off x="2090738" y="1219200"/>
            <a:ext cx="8153400" cy="4343400"/>
          </a:xfrm>
          <a:prstGeom prst="rect">
            <a:avLst/>
          </a:prstGeom>
          <a:noFill/>
          <a:ln w="9525">
            <a:noFill/>
          </a:ln>
        </p:spPr>
        <p:txBody>
          <a:bodyPr lIns="90488" tIns="44450" rIns="90488" bIns="44450"/>
          <a:p>
            <a:pPr>
              <a:lnSpc>
                <a:spcPct val="88000"/>
              </a:lnSpc>
              <a:spcBef>
                <a:spcPct val="30000"/>
              </a:spcBef>
              <a:buClr>
                <a:schemeClr val="accent2"/>
              </a:buClr>
              <a:buFont typeface="Wingdings" panose="05000000000000000000" pitchFamily="2" charset="2"/>
            </a:pPr>
            <a:r>
              <a:rPr sz="2400" b="0" dirty="0">
                <a:latin typeface="Arial" panose="020B0604020202020204" pitchFamily="34" charset="0"/>
              </a:rPr>
              <a:t>The Pew Research Center conducted a survey of 1007 adults and found that 85% of them know what Twitter is.</a:t>
            </a:r>
            <a:endParaRPr sz="2400" b="0" dirty="0">
              <a:latin typeface="Arial" panose="020B0604020202020204" pitchFamily="34" charset="0"/>
            </a:endParaRPr>
          </a:p>
          <a:p>
            <a:pPr>
              <a:lnSpc>
                <a:spcPct val="88000"/>
              </a:lnSpc>
              <a:spcBef>
                <a:spcPct val="30000"/>
              </a:spcBef>
              <a:buClr>
                <a:schemeClr val="accent2"/>
              </a:buClr>
              <a:buFont typeface="Wingdings" panose="05000000000000000000" pitchFamily="2" charset="2"/>
            </a:pPr>
            <a:endParaRPr sz="2400" b="0" dirty="0">
              <a:latin typeface="Arial" panose="020B0604020202020204" pitchFamily="34" charset="0"/>
            </a:endParaRPr>
          </a:p>
          <a:p>
            <a:pPr>
              <a:lnSpc>
                <a:spcPct val="88000"/>
              </a:lnSpc>
              <a:spcBef>
                <a:spcPct val="30000"/>
              </a:spcBef>
              <a:buClr>
                <a:schemeClr val="accent2"/>
              </a:buClr>
              <a:buFont typeface="Wingdings" panose="05000000000000000000" pitchFamily="2" charset="2"/>
            </a:pPr>
            <a:r>
              <a:rPr sz="2400" b="0" dirty="0">
                <a:latin typeface="Arial" panose="020B0604020202020204" pitchFamily="34" charset="0"/>
              </a:rPr>
              <a:t>The best point estimate of </a:t>
            </a:r>
            <a:r>
              <a:rPr sz="2400" b="0" i="1" dirty="0">
                <a:latin typeface="Arial" panose="020B0604020202020204" pitchFamily="34" charset="0"/>
              </a:rPr>
              <a:t>p</a:t>
            </a:r>
            <a:r>
              <a:rPr sz="2400" b="0" dirty="0">
                <a:latin typeface="Arial" panose="020B0604020202020204" pitchFamily="34" charset="0"/>
              </a:rPr>
              <a:t>, the population proportion, is the sample proportion:</a:t>
            </a:r>
            <a:endParaRPr sz="2400" b="0" dirty="0">
              <a:latin typeface="Arial" panose="020B0604020202020204" pitchFamily="34" charset="0"/>
            </a:endParaRPr>
          </a:p>
        </p:txBody>
      </p:sp>
      <p:graphicFrame>
        <p:nvGraphicFramePr>
          <p:cNvPr id="14345" name="Object 12"/>
          <p:cNvGraphicFramePr>
            <a:graphicFrameLocks noChangeAspect="1"/>
          </p:cNvGraphicFramePr>
          <p:nvPr/>
        </p:nvGraphicFramePr>
        <p:xfrm>
          <a:off x="4876800" y="3352800"/>
          <a:ext cx="1885950" cy="685800"/>
        </p:xfrm>
        <a:graphic>
          <a:graphicData uri="http://schemas.openxmlformats.org/presentationml/2006/ole">
            <mc:AlternateContent xmlns:mc="http://schemas.openxmlformats.org/markup-compatibility/2006">
              <mc:Choice xmlns:v="urn:schemas-microsoft-com:vml" Requires="v">
                <p:oleObj spid="_x0000_s3077" name="" r:id="rId1" imgW="558800" imgH="203200" progId="Equation.DSMT4">
                  <p:embed/>
                </p:oleObj>
              </mc:Choice>
              <mc:Fallback>
                <p:oleObj name="" r:id="rId1" imgW="558800" imgH="203200" progId="Equation.DSMT4">
                  <p:embed/>
                  <p:pic>
                    <p:nvPicPr>
                      <p:cNvPr id="0" name="Picture 3076"/>
                      <p:cNvPicPr/>
                      <p:nvPr/>
                    </p:nvPicPr>
                    <p:blipFill>
                      <a:blip r:embed="rId2"/>
                      <a:stretch>
                        <a:fillRect/>
                      </a:stretch>
                    </p:blipFill>
                    <p:spPr>
                      <a:xfrm>
                        <a:off x="4876800" y="3352800"/>
                        <a:ext cx="1885950" cy="685800"/>
                      </a:xfrm>
                      <a:prstGeom prst="rect">
                        <a:avLst/>
                      </a:prstGeom>
                      <a:noFill/>
                      <a:ln w="38100">
                        <a:noFill/>
                        <a:miter/>
                      </a:ln>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title" idx="4294967295"/>
          </p:nvPr>
        </p:nvSpPr>
        <p:spPr>
          <a:xfrm>
            <a:off x="2209800" y="76200"/>
            <a:ext cx="7772400" cy="893763"/>
          </a:xfrm>
          <a:prstGeom prst="rect">
            <a:avLst/>
          </a:prstGeom>
          <a:noFill/>
          <a:ln w="9525">
            <a:noFill/>
          </a:ln>
        </p:spPr>
        <p:txBody>
          <a:bodyPr lIns="90488" tIns="44450" rIns="90488" bIns="44450"/>
          <a:p>
            <a:pPr>
              <a:lnSpc>
                <a:spcPct val="125000"/>
              </a:lnSpc>
              <a:spcBef>
                <a:spcPct val="4000"/>
              </a:spcBef>
            </a:pPr>
            <a:r>
              <a:rPr dirty="0"/>
              <a:t>Definition</a:t>
            </a:r>
            <a:endParaRPr dirty="0">
              <a:solidFill>
                <a:schemeClr val="tx1"/>
              </a:solidFill>
            </a:endParaRPr>
          </a:p>
        </p:txBody>
      </p:sp>
      <p:sp>
        <p:nvSpPr>
          <p:cNvPr id="16386" name="Rectangle 3"/>
          <p:cNvSpPr>
            <a:spLocks noGrp="1"/>
          </p:cNvSpPr>
          <p:nvPr>
            <p:ph type="body" idx="4294967295"/>
          </p:nvPr>
        </p:nvSpPr>
        <p:spPr>
          <a:xfrm>
            <a:off x="1928813" y="1616075"/>
            <a:ext cx="8456612" cy="3540125"/>
          </a:xfrm>
          <a:prstGeom prst="rect">
            <a:avLst/>
          </a:prstGeom>
          <a:noFill/>
          <a:ln w="9525">
            <a:noFill/>
          </a:ln>
        </p:spPr>
        <p:txBody>
          <a:bodyPr lIns="90488" tIns="44450" rIns="90488" bIns="44450"/>
          <a:p>
            <a:pPr marL="457200" indent="-457200">
              <a:buFont typeface="Wingdings" panose="05000000000000000000" pitchFamily="2" charset="2"/>
              <a:buNone/>
            </a:pPr>
            <a:r>
              <a:rPr sz="3200" b="0" dirty="0"/>
              <a:t>	A </a:t>
            </a:r>
            <a:r>
              <a:rPr sz="3200" b="0" dirty="0">
                <a:solidFill>
                  <a:schemeClr val="hlink"/>
                </a:solidFill>
              </a:rPr>
              <a:t>confidence interval</a:t>
            </a:r>
            <a:r>
              <a:rPr sz="3200" b="0" dirty="0"/>
              <a:t> (or </a:t>
            </a:r>
            <a:r>
              <a:rPr sz="3200" b="0" dirty="0">
                <a:solidFill>
                  <a:schemeClr val="hlink"/>
                </a:solidFill>
              </a:rPr>
              <a:t>interval estimate</a:t>
            </a:r>
            <a:r>
              <a:rPr sz="3200" b="0" dirty="0"/>
              <a:t>) is a range (or an interval) of values used to estimate the true value of a population parameter.    </a:t>
            </a:r>
            <a:endParaRPr sz="3200" b="0" dirty="0"/>
          </a:p>
          <a:p>
            <a:pPr marL="457200" indent="-457200">
              <a:buFont typeface="Wingdings" panose="05000000000000000000" pitchFamily="2" charset="2"/>
              <a:buNone/>
            </a:pPr>
            <a:r>
              <a:rPr sz="3200" b="0" dirty="0"/>
              <a:t>	</a:t>
            </a:r>
            <a:endParaRPr sz="3200" b="0" dirty="0"/>
          </a:p>
          <a:p>
            <a:pPr marL="457200" indent="-457200">
              <a:buFont typeface="Wingdings" panose="05000000000000000000" pitchFamily="2" charset="2"/>
              <a:buNone/>
            </a:pPr>
            <a:r>
              <a:rPr sz="3200" b="0" dirty="0"/>
              <a:t>	A confidence interval is sometimes abbreviated as CI.</a:t>
            </a:r>
            <a:endParaRPr sz="3200" b="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3"/>
          <p:cNvSpPr>
            <a:spLocks noGrp="1"/>
          </p:cNvSpPr>
          <p:nvPr>
            <p:ph type="body" idx="4294967295"/>
          </p:nvPr>
        </p:nvSpPr>
        <p:spPr>
          <a:xfrm>
            <a:off x="2214563" y="1193800"/>
            <a:ext cx="8143875" cy="3048000"/>
          </a:xfrm>
          <a:prstGeom prst="rect">
            <a:avLst/>
          </a:prstGeom>
          <a:noFill/>
          <a:ln w="9525">
            <a:noFill/>
          </a:ln>
        </p:spPr>
        <p:txBody>
          <a:bodyPr lIns="90488" tIns="44450" rIns="90488" bIns="44450"/>
          <a:p>
            <a:pPr marL="0" indent="0">
              <a:buFont typeface="Wingdings" panose="05000000000000000000" pitchFamily="2" charset="2"/>
              <a:buNone/>
            </a:pPr>
            <a:r>
              <a:rPr sz="2600" b="0" dirty="0"/>
              <a:t>A </a:t>
            </a:r>
            <a:r>
              <a:rPr sz="2600" b="0" dirty="0">
                <a:solidFill>
                  <a:schemeClr val="hlink"/>
                </a:solidFill>
              </a:rPr>
              <a:t>confidence level </a:t>
            </a:r>
            <a:r>
              <a:rPr lang="en-US" sz="2600" b="0" dirty="0">
                <a:solidFill>
                  <a:schemeClr val="hlink"/>
                </a:solidFill>
              </a:rPr>
              <a:t>(độ tin cậy) </a:t>
            </a:r>
            <a:r>
              <a:rPr sz="2600" b="0" dirty="0"/>
              <a:t>is the probability 1 –  </a:t>
            </a:r>
            <a:r>
              <a:rPr lang="el-GR" altLang="x-none" sz="2600" b="0" i="1" dirty="0"/>
              <a:t>α</a:t>
            </a:r>
            <a:r>
              <a:rPr sz="2600" b="0" dirty="0"/>
              <a:t> </a:t>
            </a:r>
            <a:r>
              <a:rPr sz="2600" b="0" dirty="0">
                <a:sym typeface="Symbol" panose="05050102010706020507" charset="2"/>
              </a:rPr>
              <a:t>(often expressed as the equivalent percentage value) that the confidence interval actually does contain the population parameter, assuming that the estimation process is repeated a large number of times.  (The confidence level is also called </a:t>
            </a:r>
            <a:r>
              <a:rPr sz="2600" b="0" dirty="0">
                <a:solidFill>
                  <a:schemeClr val="hlink"/>
                </a:solidFill>
                <a:sym typeface="Symbol" panose="05050102010706020507" charset="2"/>
              </a:rPr>
              <a:t>degree of confidence</a:t>
            </a:r>
            <a:r>
              <a:rPr sz="2600" b="0" dirty="0">
                <a:sym typeface="Symbol" panose="05050102010706020507" charset="2"/>
              </a:rPr>
              <a:t>, or the </a:t>
            </a:r>
            <a:r>
              <a:rPr sz="2600" b="0" dirty="0">
                <a:solidFill>
                  <a:schemeClr val="hlink"/>
                </a:solidFill>
                <a:sym typeface="Symbol" panose="05050102010706020507" charset="2"/>
              </a:rPr>
              <a:t>confidence coefficient</a:t>
            </a:r>
            <a:r>
              <a:rPr sz="2600" b="0" dirty="0">
                <a:sym typeface="Symbol" panose="05050102010706020507" charset="2"/>
              </a:rPr>
              <a:t>.)</a:t>
            </a:r>
            <a:endParaRPr sz="2600" b="0" dirty="0"/>
          </a:p>
        </p:txBody>
      </p:sp>
      <p:sp>
        <p:nvSpPr>
          <p:cNvPr id="18434" name="Rectangle 4"/>
          <p:cNvSpPr/>
          <p:nvPr/>
        </p:nvSpPr>
        <p:spPr>
          <a:xfrm>
            <a:off x="2113280" y="4241800"/>
            <a:ext cx="7868920" cy="1008380"/>
          </a:xfrm>
          <a:prstGeom prst="rect">
            <a:avLst/>
          </a:prstGeom>
          <a:noFill/>
          <a:ln w="12700">
            <a:noFill/>
          </a:ln>
        </p:spPr>
        <p:txBody>
          <a:bodyPr wrap="none">
            <a:spAutoFit/>
          </a:bodyPr>
          <a:p>
            <a:pPr>
              <a:lnSpc>
                <a:spcPct val="70000"/>
              </a:lnSpc>
              <a:spcBef>
                <a:spcPct val="73000"/>
              </a:spcBef>
              <a:buFont typeface="Wingdings" panose="05000000000000000000" pitchFamily="2" charset="2"/>
            </a:pPr>
            <a:r>
              <a:rPr sz="2800" b="0" dirty="0">
                <a:solidFill>
                  <a:schemeClr val="hlink"/>
                </a:solidFill>
                <a:latin typeface="Arial" panose="020B0604020202020204" pitchFamily="34" charset="0"/>
              </a:rPr>
              <a:t>Most common choices are  90%, 95%,  or   99%.</a:t>
            </a:r>
            <a:endParaRPr sz="3200" b="0" dirty="0">
              <a:solidFill>
                <a:schemeClr val="hlink"/>
              </a:solidFill>
              <a:latin typeface="Arial" panose="020B0604020202020204" pitchFamily="34" charset="0"/>
            </a:endParaRPr>
          </a:p>
          <a:p>
            <a:pPr>
              <a:lnSpc>
                <a:spcPct val="70000"/>
              </a:lnSpc>
              <a:spcBef>
                <a:spcPct val="73000"/>
              </a:spcBef>
              <a:buFont typeface="Wingdings" panose="05000000000000000000" pitchFamily="2" charset="2"/>
            </a:pPr>
            <a:r>
              <a:rPr sz="2800" b="0" dirty="0">
                <a:latin typeface="Arial" panose="020B0604020202020204" pitchFamily="34" charset="0"/>
              </a:rPr>
              <a:t>	       (</a:t>
            </a:r>
            <a:r>
              <a:rPr lang="el-GR" altLang="x-none" sz="2800" b="0" i="1" dirty="0">
                <a:latin typeface="Arial" panose="020B0604020202020204" pitchFamily="34" charset="0"/>
              </a:rPr>
              <a:t>α</a:t>
            </a:r>
            <a:r>
              <a:rPr sz="2800" b="0" dirty="0">
                <a:latin typeface="Arial" panose="020B0604020202020204" pitchFamily="34" charset="0"/>
              </a:rPr>
              <a:t> = 0.10), (</a:t>
            </a:r>
            <a:r>
              <a:rPr lang="el-GR" altLang="x-none" sz="2800" b="0" i="1" dirty="0">
                <a:latin typeface="Arial" panose="020B0604020202020204" pitchFamily="34" charset="0"/>
              </a:rPr>
              <a:t>α</a:t>
            </a:r>
            <a:r>
              <a:rPr sz="2800" b="0" dirty="0">
                <a:latin typeface="Arial" panose="020B0604020202020204" pitchFamily="34" charset="0"/>
              </a:rPr>
              <a:t> = 0.05), (</a:t>
            </a:r>
            <a:r>
              <a:rPr lang="el-GR" altLang="x-none" sz="2800" b="0" i="1" dirty="0">
                <a:latin typeface="Arial" panose="020B0604020202020204" pitchFamily="34" charset="0"/>
              </a:rPr>
              <a:t>α</a:t>
            </a:r>
            <a:r>
              <a:rPr sz="2800" b="0" dirty="0">
                <a:latin typeface="Arial" panose="020B0604020202020204" pitchFamily="34" charset="0"/>
              </a:rPr>
              <a:t> = 0.01)</a:t>
            </a:r>
            <a:endParaRPr sz="2800" b="0" dirty="0">
              <a:latin typeface="Arial" panose="020B0604020202020204" pitchFamily="34" charset="0"/>
            </a:endParaRPr>
          </a:p>
        </p:txBody>
      </p:sp>
      <p:sp>
        <p:nvSpPr>
          <p:cNvPr id="18435" name="Rectangle 6"/>
          <p:cNvSpPr>
            <a:spLocks noGrp="1"/>
          </p:cNvSpPr>
          <p:nvPr>
            <p:ph type="title" idx="4294967295"/>
          </p:nvPr>
        </p:nvSpPr>
        <p:spPr>
          <a:xfrm>
            <a:off x="2209800" y="101600"/>
            <a:ext cx="7772400" cy="842963"/>
          </a:xfrm>
          <a:prstGeom prst="rect">
            <a:avLst/>
          </a:prstGeom>
          <a:noFill/>
          <a:ln w="9525">
            <a:noFill/>
          </a:ln>
        </p:spPr>
        <p:txBody>
          <a:bodyPr lIns="90488" tIns="44450" rIns="90488" bIns="44450"/>
          <a:p>
            <a:pPr>
              <a:lnSpc>
                <a:spcPct val="125000"/>
              </a:lnSpc>
              <a:spcBef>
                <a:spcPct val="4000"/>
              </a:spcBef>
            </a:pPr>
            <a:r>
              <a:rPr dirty="0"/>
              <a:t>Definition</a:t>
            </a:r>
            <a:endParaRPr dirty="0">
              <a:solidFill>
                <a:schemeClr val="tx1"/>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body" idx="4294967295"/>
          </p:nvPr>
        </p:nvSpPr>
        <p:spPr>
          <a:xfrm>
            <a:off x="2214563" y="1193800"/>
            <a:ext cx="8143875" cy="4521200"/>
          </a:xfrm>
          <a:prstGeom prst="rect">
            <a:avLst/>
          </a:prstGeom>
          <a:noFill/>
          <a:ln w="9525">
            <a:noFill/>
          </a:ln>
        </p:spPr>
        <p:txBody>
          <a:bodyPr lIns="90488" tIns="44450" rIns="90488" bIns="44450"/>
          <a:p>
            <a:pPr marL="0" indent="0">
              <a:buFont typeface="Wingdings" panose="05000000000000000000" pitchFamily="2" charset="2"/>
              <a:buNone/>
            </a:pPr>
            <a:r>
              <a:rPr sz="2000" b="0" dirty="0"/>
              <a:t>We must be careful to interpret confidence intervals correctly. There is a correct interpretation and many different and creative incorrect interpretations of the confidence interval 0.828 &lt; </a:t>
            </a:r>
            <a:r>
              <a:rPr sz="2000" b="0" i="1" dirty="0"/>
              <a:t>p</a:t>
            </a:r>
            <a:r>
              <a:rPr sz="2000" b="0" dirty="0"/>
              <a:t> &lt; 0.872.</a:t>
            </a:r>
            <a:endParaRPr sz="2000" b="0" dirty="0"/>
          </a:p>
          <a:p>
            <a:pPr marL="0" indent="0">
              <a:buFont typeface="Wingdings" panose="05000000000000000000" pitchFamily="2" charset="2"/>
              <a:buNone/>
            </a:pPr>
            <a:endParaRPr sz="2000" b="0" dirty="0">
              <a:ea typeface="ヒラギノ角ゴ ProN W3" charset="-128"/>
            </a:endParaRPr>
          </a:p>
          <a:p>
            <a:pPr marL="0" indent="0">
              <a:buFont typeface="Wingdings" panose="05000000000000000000" pitchFamily="2" charset="2"/>
              <a:buNone/>
            </a:pPr>
            <a:r>
              <a:rPr lang="ja-JP" altLang="en-US" sz="2000" b="0" dirty="0">
                <a:ea typeface="ヒラギノ角ゴ ProN W3" charset="-128"/>
              </a:rPr>
              <a:t>“</a:t>
            </a:r>
            <a:r>
              <a:rPr lang="en-US" altLang="ja-JP" sz="2000" b="0" dirty="0">
                <a:ea typeface="ヒラギノ角ゴ ProN W3" charset="-128"/>
              </a:rPr>
              <a:t>W</a:t>
            </a:r>
            <a:r>
              <a:rPr lang="en-US" altLang="ja-JP" sz="2000" b="0" dirty="0"/>
              <a:t>e are 95% confident that the interval from 0.828 to 0.872 actually does contain the true value of the population proportion </a:t>
            </a:r>
            <a:r>
              <a:rPr lang="en-US" altLang="ja-JP" sz="2000" b="0" i="1" dirty="0"/>
              <a:t>p</a:t>
            </a:r>
            <a:r>
              <a:rPr lang="en-US" altLang="ja-JP" sz="2000" b="0" dirty="0"/>
              <a:t>.</a:t>
            </a:r>
            <a:r>
              <a:rPr lang="ja-JP" altLang="en-US" sz="2000" b="0" dirty="0"/>
              <a:t>”</a:t>
            </a:r>
            <a:endParaRPr lang="en-US" altLang="ja-JP" sz="2000" b="0" dirty="0"/>
          </a:p>
          <a:p>
            <a:pPr marL="0" indent="0">
              <a:buFont typeface="Wingdings" panose="05000000000000000000" pitchFamily="2" charset="2"/>
              <a:buNone/>
            </a:pPr>
            <a:endParaRPr sz="2000" b="0" dirty="0"/>
          </a:p>
          <a:p>
            <a:pPr marL="0" indent="0">
              <a:buFont typeface="Wingdings" panose="05000000000000000000" pitchFamily="2" charset="2"/>
              <a:buNone/>
            </a:pPr>
            <a:r>
              <a:rPr sz="2000" b="0" dirty="0"/>
              <a:t>This means that if we were to select many different samples of size 1007 and construct the corresponding confidence intervals, 95% of them would actually contain the value of the population proportion </a:t>
            </a:r>
            <a:r>
              <a:rPr sz="2000" b="0" i="1" dirty="0"/>
              <a:t>p</a:t>
            </a:r>
            <a:r>
              <a:rPr sz="2000" b="0" dirty="0"/>
              <a:t>.</a:t>
            </a:r>
            <a:endParaRPr sz="2000" b="0" dirty="0"/>
          </a:p>
          <a:p>
            <a:pPr marL="0" indent="0">
              <a:buFont typeface="Wingdings" panose="05000000000000000000" pitchFamily="2" charset="2"/>
              <a:buNone/>
            </a:pPr>
            <a:endParaRPr sz="2000" b="0" dirty="0"/>
          </a:p>
          <a:p>
            <a:pPr marL="0" indent="0">
              <a:buFont typeface="Wingdings" panose="05000000000000000000" pitchFamily="2" charset="2"/>
              <a:buNone/>
            </a:pPr>
            <a:r>
              <a:rPr sz="2000" b="0" dirty="0"/>
              <a:t>(Note that in this correct interpretation, the level of 95% refers to the success rate of the process being used to estimate the proportion.)</a:t>
            </a:r>
            <a:endParaRPr sz="2000" b="0" dirty="0"/>
          </a:p>
        </p:txBody>
      </p:sp>
      <p:sp>
        <p:nvSpPr>
          <p:cNvPr id="20482" name="Rectangle 4"/>
          <p:cNvSpPr>
            <a:spLocks noGrp="1"/>
          </p:cNvSpPr>
          <p:nvPr>
            <p:ph type="title" idx="4294967295"/>
          </p:nvPr>
        </p:nvSpPr>
        <p:spPr>
          <a:xfrm>
            <a:off x="1993900" y="88900"/>
            <a:ext cx="8467725" cy="842963"/>
          </a:xfrm>
          <a:prstGeom prst="rect">
            <a:avLst/>
          </a:prstGeom>
          <a:noFill/>
          <a:ln w="9525">
            <a:noFill/>
          </a:ln>
        </p:spPr>
        <p:txBody>
          <a:bodyPr lIns="90488" tIns="44450" rIns="90488" bIns="44450"/>
          <a:p>
            <a:pPr>
              <a:lnSpc>
                <a:spcPct val="125000"/>
              </a:lnSpc>
              <a:spcBef>
                <a:spcPct val="4000"/>
              </a:spcBef>
            </a:pPr>
            <a:r>
              <a:rPr dirty="0"/>
              <a:t>Interpreting a Confidence Interval</a:t>
            </a:r>
            <a:endParaRPr dirty="0">
              <a:solidFill>
                <a:schemeClr val="tx1"/>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body" idx="4294967295"/>
          </p:nvPr>
        </p:nvSpPr>
        <p:spPr>
          <a:xfrm>
            <a:off x="2165350" y="2895600"/>
            <a:ext cx="8143875" cy="2974975"/>
          </a:xfrm>
          <a:prstGeom prst="rect">
            <a:avLst/>
          </a:prstGeom>
          <a:noFill/>
          <a:ln w="9525">
            <a:noFill/>
          </a:ln>
        </p:spPr>
        <p:txBody>
          <a:bodyPr lIns="90488" tIns="44450" rIns="90488" bIns="44450"/>
          <a:p>
            <a:pPr marL="0" indent="0">
              <a:buFont typeface="Wingdings" panose="05000000000000000000" pitchFamily="2" charset="2"/>
              <a:buNone/>
            </a:pPr>
            <a:r>
              <a:rPr sz="2800" b="0" dirty="0"/>
              <a:t>Confidence intervals can be used informally to compare different data sets, </a:t>
            </a:r>
            <a:r>
              <a:rPr sz="2800" b="0" i="1" dirty="0"/>
              <a:t>but the overlapping of confidence intervals should not be used for making formal and final conclusions about equality of proportions</a:t>
            </a:r>
            <a:r>
              <a:rPr sz="2800" b="0" dirty="0"/>
              <a:t>. </a:t>
            </a:r>
            <a:endParaRPr sz="2800" b="0" dirty="0"/>
          </a:p>
        </p:txBody>
      </p:sp>
      <p:sp>
        <p:nvSpPr>
          <p:cNvPr id="22530" name="Rectangle 3"/>
          <p:cNvSpPr>
            <a:spLocks noGrp="1"/>
          </p:cNvSpPr>
          <p:nvPr>
            <p:ph type="title" idx="4294967295"/>
          </p:nvPr>
        </p:nvSpPr>
        <p:spPr>
          <a:xfrm>
            <a:off x="1993900" y="88900"/>
            <a:ext cx="8467725" cy="842963"/>
          </a:xfrm>
          <a:prstGeom prst="rect">
            <a:avLst/>
          </a:prstGeom>
          <a:noFill/>
          <a:ln w="9525">
            <a:noFill/>
          </a:ln>
        </p:spPr>
        <p:txBody>
          <a:bodyPr lIns="90488" tIns="44450" rIns="90488" bIns="44450"/>
          <a:p>
            <a:pPr>
              <a:lnSpc>
                <a:spcPct val="125000"/>
              </a:lnSpc>
              <a:spcBef>
                <a:spcPct val="4000"/>
              </a:spcBef>
            </a:pPr>
            <a:r>
              <a:rPr sz="3200" dirty="0"/>
              <a:t>Caution</a:t>
            </a:r>
            <a:endParaRPr sz="3200" dirty="0">
              <a:solidFill>
                <a:schemeClr val="tx1"/>
              </a:solidFill>
            </a:endParaRPr>
          </a:p>
        </p:txBody>
      </p:sp>
      <p:sp>
        <p:nvSpPr>
          <p:cNvPr id="22531" name="Rectangle 4"/>
          <p:cNvSpPr/>
          <p:nvPr/>
        </p:nvSpPr>
        <p:spPr>
          <a:xfrm>
            <a:off x="5613400" y="1617663"/>
            <a:ext cx="309880" cy="583565"/>
          </a:xfrm>
          <a:prstGeom prst="rect">
            <a:avLst/>
          </a:prstGeom>
          <a:noFill/>
          <a:ln w="12700">
            <a:noFill/>
          </a:ln>
        </p:spPr>
        <p:txBody>
          <a:bodyPr wrap="none">
            <a:spAutoFit/>
          </a:bodyPr>
          <a:p>
            <a:endParaRPr sz="3200" b="0" dirty="0">
              <a:latin typeface="Arial" panose="020B0604020202020204" pitchFamily="34" charset="0"/>
            </a:endParaRPr>
          </a:p>
        </p:txBody>
      </p:sp>
      <p:sp>
        <p:nvSpPr>
          <p:cNvPr id="5" name="Rectangle 2"/>
          <p:cNvSpPr txBox="1">
            <a:spLocks noChangeArrowheads="1"/>
          </p:cNvSpPr>
          <p:nvPr/>
        </p:nvSpPr>
        <p:spPr bwMode="auto">
          <a:xfrm>
            <a:off x="2133600" y="1219200"/>
            <a:ext cx="8143875" cy="1408113"/>
          </a:xfrm>
          <a:prstGeom prst="rect">
            <a:avLst/>
          </a:prstGeom>
          <a:noFill/>
          <a:ln>
            <a:miter lim="800000"/>
          </a:ln>
        </p:spPr>
        <p:txBody>
          <a:bodyPr lIns="90488" tIns="44450" rIns="90488" bIns="44450"/>
          <a:lstStyle/>
          <a:p>
            <a:pPr marR="0" defTabSz="914400">
              <a:spcBef>
                <a:spcPct val="30000"/>
              </a:spcBef>
              <a:buClrTx/>
              <a:buSzPct val="100000"/>
              <a:buFont typeface="Wingdings" panose="05000000000000000000" pitchFamily="2" charset="2"/>
              <a:buNone/>
              <a:defRPr/>
            </a:pPr>
            <a:r>
              <a:rPr kumimoji="0" lang="en-US" sz="2800" b="0" kern="0" cap="none" spc="0" normalizeH="0" baseline="0" noProof="0" dirty="0">
                <a:latin typeface="+mn-lt"/>
                <a:ea typeface="+mn-ea"/>
                <a:cs typeface="+mn-cs"/>
              </a:rPr>
              <a:t>Know the correct interpretation of a confidence interval.</a:t>
            </a:r>
            <a:endParaRPr kumimoji="0" lang="en-US" sz="2800" b="0" kern="0" cap="none" spc="0" normalizeH="0" baseline="0" noProof="0" dirty="0">
              <a:latin typeface="+mn-lt"/>
              <a:ea typeface="+mn-ea"/>
              <a:cs typeface="+mn-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body" idx="4294967295"/>
          </p:nvPr>
        </p:nvSpPr>
        <p:spPr>
          <a:xfrm>
            <a:off x="2165350" y="1600200"/>
            <a:ext cx="8143875" cy="4270375"/>
          </a:xfrm>
          <a:prstGeom prst="rect">
            <a:avLst/>
          </a:prstGeom>
          <a:noFill/>
          <a:ln w="9525">
            <a:noFill/>
          </a:ln>
        </p:spPr>
        <p:txBody>
          <a:bodyPr lIns="90488" tIns="44450" rIns="90488" bIns="44450"/>
          <a:p>
            <a:pPr marL="0" indent="0">
              <a:buFont typeface="Wingdings" panose="05000000000000000000" pitchFamily="2" charset="2"/>
              <a:buNone/>
            </a:pPr>
            <a:r>
              <a:rPr b="0" dirty="0"/>
              <a:t>A confidence interval can be used to test some claim made about a population proportion </a:t>
            </a:r>
            <a:r>
              <a:rPr b="0" i="1" dirty="0"/>
              <a:t>p</a:t>
            </a:r>
            <a:r>
              <a:rPr b="0" dirty="0"/>
              <a:t>.</a:t>
            </a:r>
            <a:endParaRPr b="0" dirty="0"/>
          </a:p>
          <a:p>
            <a:pPr marL="0" indent="0">
              <a:buFont typeface="Wingdings" panose="05000000000000000000" pitchFamily="2" charset="2"/>
              <a:buNone/>
            </a:pPr>
            <a:endParaRPr b="0" dirty="0"/>
          </a:p>
          <a:p>
            <a:pPr marL="0" indent="0">
              <a:buFont typeface="Wingdings" panose="05000000000000000000" pitchFamily="2" charset="2"/>
              <a:buNone/>
            </a:pPr>
            <a:r>
              <a:rPr b="0" dirty="0"/>
              <a:t>For now, we do not yet use a formal method of hypothesis testing, so we simply generate a confidence interval and make an informal judgment based on the result.</a:t>
            </a:r>
            <a:endParaRPr b="0" dirty="0"/>
          </a:p>
        </p:txBody>
      </p:sp>
      <p:sp>
        <p:nvSpPr>
          <p:cNvPr id="24578" name="Rectangle 3"/>
          <p:cNvSpPr>
            <a:spLocks noGrp="1"/>
          </p:cNvSpPr>
          <p:nvPr>
            <p:ph type="title" idx="4294967295"/>
          </p:nvPr>
        </p:nvSpPr>
        <p:spPr>
          <a:xfrm>
            <a:off x="1993900" y="264160"/>
            <a:ext cx="8467725" cy="842963"/>
          </a:xfrm>
          <a:prstGeom prst="rect">
            <a:avLst/>
          </a:prstGeom>
          <a:noFill/>
          <a:ln w="9525">
            <a:noFill/>
          </a:ln>
        </p:spPr>
        <p:txBody>
          <a:bodyPr lIns="90488" tIns="44450" rIns="90488" bIns="44450"/>
          <a:p>
            <a:pPr>
              <a:lnSpc>
                <a:spcPct val="125000"/>
              </a:lnSpc>
              <a:spcBef>
                <a:spcPct val="4000"/>
              </a:spcBef>
            </a:pPr>
            <a:r>
              <a:rPr sz="3200" dirty="0"/>
              <a:t>Using Confidence Intervals </a:t>
            </a:r>
            <a:br>
              <a:rPr sz="3200" dirty="0"/>
            </a:br>
            <a:r>
              <a:rPr sz="3200" dirty="0"/>
              <a:t>for Hypothesis Tests</a:t>
            </a:r>
            <a:endParaRPr sz="3200" dirty="0">
              <a:solidFill>
                <a:schemeClr val="tx1"/>
              </a:solidFill>
            </a:endParaRPr>
          </a:p>
        </p:txBody>
      </p:sp>
      <p:sp>
        <p:nvSpPr>
          <p:cNvPr id="24579" name="Rectangle 4"/>
          <p:cNvSpPr/>
          <p:nvPr/>
        </p:nvSpPr>
        <p:spPr>
          <a:xfrm>
            <a:off x="5613400" y="1617663"/>
            <a:ext cx="309880" cy="583565"/>
          </a:xfrm>
          <a:prstGeom prst="rect">
            <a:avLst/>
          </a:prstGeom>
          <a:noFill/>
          <a:ln w="12700">
            <a:noFill/>
          </a:ln>
        </p:spPr>
        <p:txBody>
          <a:bodyPr wrap="none">
            <a:spAutoFit/>
          </a:bodyPr>
          <a:p>
            <a:endParaRPr sz="3200" b="0" dirty="0">
              <a:latin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a:spLocks noGrp="1"/>
          </p:cNvSpPr>
          <p:nvPr>
            <p:ph type="title" idx="4294967295"/>
          </p:nvPr>
        </p:nvSpPr>
        <p:spPr>
          <a:xfrm>
            <a:off x="1525905" y="187325"/>
            <a:ext cx="7772400" cy="685800"/>
          </a:xfrm>
          <a:prstGeom prst="rect">
            <a:avLst/>
          </a:prstGeom>
          <a:noFill/>
          <a:ln w="9525">
            <a:noFill/>
          </a:ln>
        </p:spPr>
        <p:txBody>
          <a:bodyPr lIns="90488" tIns="44450" rIns="90488" bIns="44450"/>
          <a:p>
            <a:pPr>
              <a:lnSpc>
                <a:spcPct val="125000"/>
              </a:lnSpc>
              <a:spcBef>
                <a:spcPct val="4000"/>
              </a:spcBef>
            </a:pPr>
            <a:r>
              <a:rPr dirty="0"/>
              <a:t>Critical Values</a:t>
            </a:r>
            <a:endParaRPr dirty="0"/>
          </a:p>
        </p:txBody>
      </p:sp>
      <p:sp>
        <p:nvSpPr>
          <p:cNvPr id="26626" name="Rectangle 3"/>
          <p:cNvSpPr>
            <a:spLocks noGrp="1"/>
          </p:cNvSpPr>
          <p:nvPr>
            <p:ph type="body" idx="4294967295"/>
          </p:nvPr>
        </p:nvSpPr>
        <p:spPr>
          <a:xfrm>
            <a:off x="1525905" y="873125"/>
            <a:ext cx="8924925" cy="2555875"/>
          </a:xfrm>
          <a:prstGeom prst="rect">
            <a:avLst/>
          </a:prstGeom>
          <a:noFill/>
          <a:ln w="9525">
            <a:noFill/>
          </a:ln>
        </p:spPr>
        <p:txBody>
          <a:bodyPr lIns="90488" tIns="44450" rIns="90488" bIns="44450"/>
          <a:p>
            <a:pPr marL="1905" indent="-1905">
              <a:buFont typeface="Wingdings" panose="05000000000000000000" pitchFamily="2" charset="2"/>
              <a:buNone/>
            </a:pPr>
            <a:r>
              <a:rPr b="0" dirty="0"/>
              <a:t>A standard </a:t>
            </a:r>
            <a:r>
              <a:rPr b="0" i="1" dirty="0"/>
              <a:t>z</a:t>
            </a:r>
            <a:r>
              <a:rPr b="0" dirty="0"/>
              <a:t> score can be used to distinguish between sample statistics that are likely to occur and those that are unlikely to occur. Such a </a:t>
            </a:r>
            <a:r>
              <a:rPr b="0" i="1" dirty="0"/>
              <a:t>z</a:t>
            </a:r>
            <a:r>
              <a:rPr b="0" dirty="0"/>
              <a:t> score is called a </a:t>
            </a:r>
            <a:r>
              <a:rPr b="0" dirty="0">
                <a:solidFill>
                  <a:srgbClr val="FF0000"/>
                </a:solidFill>
              </a:rPr>
              <a:t>critical value</a:t>
            </a:r>
            <a:r>
              <a:rPr b="0" dirty="0"/>
              <a:t>. Critical values are based on the following observations:</a:t>
            </a:r>
            <a:endParaRPr b="0" dirty="0"/>
          </a:p>
        </p:txBody>
      </p:sp>
      <p:sp>
        <p:nvSpPr>
          <p:cNvPr id="26627" name="Rectangle 4"/>
          <p:cNvSpPr/>
          <p:nvPr/>
        </p:nvSpPr>
        <p:spPr>
          <a:xfrm>
            <a:off x="1130300" y="3733800"/>
            <a:ext cx="9116060" cy="3124200"/>
          </a:xfrm>
          <a:prstGeom prst="rect">
            <a:avLst/>
          </a:prstGeom>
          <a:noFill/>
          <a:ln w="19050">
            <a:noFill/>
          </a:ln>
        </p:spPr>
        <p:txBody>
          <a:bodyPr lIns="90488" tIns="44450" rIns="90488" bIns="44450"/>
          <a:p>
            <a:pPr marL="457200" indent="-457200">
              <a:spcBef>
                <a:spcPct val="20000"/>
              </a:spcBef>
              <a:buClr>
                <a:schemeClr val="accent2"/>
              </a:buClr>
              <a:buFont typeface="Wingdings" panose="05000000000000000000" pitchFamily="2" charset="2"/>
              <a:buAutoNum type="arabicPeriod"/>
            </a:pPr>
            <a:r>
              <a:rPr sz="3200" b="0" dirty="0">
                <a:latin typeface="Arial" panose="020B0604020202020204" pitchFamily="34" charset="0"/>
              </a:rPr>
              <a:t>Under certain conditions, the sampling distribution of sample proportions can be approximated by a normal distribution.</a:t>
            </a:r>
            <a:endParaRPr sz="3200" b="0" dirty="0">
              <a:latin typeface="Arial" panose="020B0604020202020204" pitchFamily="34" charset="0"/>
            </a:endParaRPr>
          </a:p>
          <a:p>
            <a:pPr marL="457200" indent="-457200">
              <a:spcBef>
                <a:spcPct val="20000"/>
              </a:spcBef>
              <a:buClr>
                <a:schemeClr val="accent2"/>
              </a:buClr>
              <a:buFont typeface="Wingdings" panose="05000000000000000000" pitchFamily="2" charset="2"/>
              <a:buAutoNum type="arabicPeriod"/>
            </a:pPr>
            <a:r>
              <a:rPr sz="3200" b="0" dirty="0">
                <a:latin typeface="Arial" panose="020B0604020202020204" pitchFamily="34" charset="0"/>
              </a:rPr>
              <a:t>A </a:t>
            </a:r>
            <a:r>
              <a:rPr sz="3200" b="0" i="1" dirty="0">
                <a:latin typeface="Arial" panose="020B0604020202020204" pitchFamily="34" charset="0"/>
              </a:rPr>
              <a:t>z</a:t>
            </a:r>
            <a:r>
              <a:rPr sz="3200" b="0" dirty="0">
                <a:latin typeface="Arial" panose="020B0604020202020204" pitchFamily="34" charset="0"/>
              </a:rPr>
              <a:t> score associated with a sample proportion has a probability of </a:t>
            </a:r>
            <a:r>
              <a:rPr lang="el-GR" altLang="x-none" sz="3200" b="0" i="1" dirty="0">
                <a:latin typeface="Arial" panose="020B0604020202020204" pitchFamily="34" charset="0"/>
              </a:rPr>
              <a:t>α</a:t>
            </a:r>
            <a:r>
              <a:rPr sz="3200" b="0" dirty="0">
                <a:latin typeface="Arial" panose="020B0604020202020204" pitchFamily="34" charset="0"/>
              </a:rPr>
              <a:t>/2 of falling in the right tail.</a:t>
            </a:r>
            <a:endParaRPr sz="3200" b="0" dirty="0">
              <a:latin typeface="Arial" panose="020B0604020202020204" pitchFamily="34" charset="0"/>
            </a:endParaRPr>
          </a:p>
          <a:p>
            <a:pPr marL="457200" indent="-457200">
              <a:spcBef>
                <a:spcPct val="20000"/>
              </a:spcBef>
              <a:buClr>
                <a:schemeClr val="accent2"/>
              </a:buClr>
              <a:buFont typeface="Wingdings" panose="05000000000000000000" pitchFamily="2" charset="2"/>
              <a:buAutoNum type="arabicPeriod"/>
            </a:pPr>
            <a:endParaRPr sz="3200" b="0" dirty="0">
              <a:latin typeface="Arial" panose="020B0604020202020204"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idx="4294967295"/>
          </p:nvPr>
        </p:nvSpPr>
        <p:spPr>
          <a:xfrm>
            <a:off x="1139825" y="48260"/>
            <a:ext cx="7772400" cy="685800"/>
          </a:xfrm>
          <a:prstGeom prst="rect">
            <a:avLst/>
          </a:prstGeom>
          <a:noFill/>
          <a:ln w="9525">
            <a:noFill/>
          </a:ln>
        </p:spPr>
        <p:txBody>
          <a:bodyPr lIns="90488" tIns="44450" rIns="90488" bIns="44450"/>
          <a:p>
            <a:pPr>
              <a:lnSpc>
                <a:spcPct val="125000"/>
              </a:lnSpc>
              <a:spcBef>
                <a:spcPct val="4000"/>
              </a:spcBef>
            </a:pPr>
            <a:r>
              <a:rPr dirty="0"/>
              <a:t>Critical Values</a:t>
            </a:r>
            <a:endParaRPr dirty="0"/>
          </a:p>
        </p:txBody>
      </p:sp>
      <p:sp>
        <p:nvSpPr>
          <p:cNvPr id="28674" name="Rectangle 3"/>
          <p:cNvSpPr>
            <a:spLocks noGrp="1"/>
          </p:cNvSpPr>
          <p:nvPr>
            <p:ph type="body" idx="4294967295"/>
          </p:nvPr>
        </p:nvSpPr>
        <p:spPr>
          <a:xfrm>
            <a:off x="625475" y="734060"/>
            <a:ext cx="10302875" cy="2149475"/>
          </a:xfrm>
          <a:prstGeom prst="rect">
            <a:avLst/>
          </a:prstGeom>
          <a:noFill/>
          <a:ln w="9525">
            <a:noFill/>
          </a:ln>
        </p:spPr>
        <p:txBody>
          <a:bodyPr lIns="90488" tIns="44450" rIns="90488" bIns="44450"/>
          <a:p>
            <a:pPr marL="457200" indent="-457200">
              <a:lnSpc>
                <a:spcPct val="110000"/>
              </a:lnSpc>
              <a:buFont typeface="Wingdings" panose="05000000000000000000" pitchFamily="2" charset="2"/>
              <a:buNone/>
            </a:pPr>
            <a:r>
              <a:rPr b="0" dirty="0"/>
              <a:t>3.	The </a:t>
            </a:r>
            <a:r>
              <a:rPr b="0" i="1" dirty="0"/>
              <a:t>z</a:t>
            </a:r>
            <a:r>
              <a:rPr b="0" dirty="0"/>
              <a:t> score separating the right-tail region is commonly denoted by </a:t>
            </a:r>
            <a:r>
              <a:rPr b="0" i="1" dirty="0"/>
              <a:t>z</a:t>
            </a:r>
            <a:r>
              <a:rPr lang="el-GR" altLang="x-none" b="0" i="1" baseline="-25000" dirty="0"/>
              <a:t>α</a:t>
            </a:r>
            <a:r>
              <a:rPr b="0" baseline="-25000" dirty="0"/>
              <a:t>/2 </a:t>
            </a:r>
            <a:r>
              <a:rPr b="0" dirty="0"/>
              <a:t>and is referred to as a </a:t>
            </a:r>
            <a:r>
              <a:rPr b="0" dirty="0">
                <a:solidFill>
                  <a:schemeClr val="hlink"/>
                </a:solidFill>
              </a:rPr>
              <a:t>critical value</a:t>
            </a:r>
            <a:r>
              <a:rPr b="0" dirty="0"/>
              <a:t> because it is on the borderline separating </a:t>
            </a:r>
            <a:r>
              <a:rPr b="0" i="1" dirty="0"/>
              <a:t>z</a:t>
            </a:r>
            <a:r>
              <a:rPr b="0" dirty="0"/>
              <a:t> scores from sample proportions that are likely to occur from those that are unlikely to occur.</a:t>
            </a:r>
            <a:endParaRPr b="0" dirty="0"/>
          </a:p>
        </p:txBody>
      </p:sp>
      <p:pic>
        <p:nvPicPr>
          <p:cNvPr id="28675" name="Picture 5" descr="6_02"/>
          <p:cNvPicPr>
            <a:picLocks noChangeAspect="1"/>
          </p:cNvPicPr>
          <p:nvPr/>
        </p:nvPicPr>
        <p:blipFill>
          <a:blip r:embed="rId1"/>
          <a:stretch>
            <a:fillRect/>
          </a:stretch>
        </p:blipFill>
        <p:spPr>
          <a:xfrm>
            <a:off x="3887470" y="3456305"/>
            <a:ext cx="3276600" cy="3259138"/>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idx="4294967295"/>
          </p:nvPr>
        </p:nvSpPr>
        <p:spPr>
          <a:xfrm>
            <a:off x="2209800" y="165100"/>
            <a:ext cx="7772400" cy="685800"/>
          </a:xfrm>
          <a:prstGeom prst="rect">
            <a:avLst/>
          </a:prstGeom>
          <a:noFill/>
          <a:ln w="9525">
            <a:noFill/>
          </a:ln>
        </p:spPr>
        <p:txBody>
          <a:bodyPr lIns="90488" tIns="44450" rIns="90488" bIns="44450"/>
          <a:p>
            <a:pPr>
              <a:lnSpc>
                <a:spcPct val="125000"/>
              </a:lnSpc>
              <a:spcBef>
                <a:spcPct val="4000"/>
              </a:spcBef>
            </a:pPr>
            <a:r>
              <a:rPr dirty="0"/>
              <a:t>Definition</a:t>
            </a:r>
            <a:endParaRPr dirty="0">
              <a:solidFill>
                <a:schemeClr val="tx1"/>
              </a:solidFill>
            </a:endParaRPr>
          </a:p>
        </p:txBody>
      </p:sp>
      <p:sp>
        <p:nvSpPr>
          <p:cNvPr id="30722" name="Rectangle 3"/>
          <p:cNvSpPr>
            <a:spLocks noGrp="1"/>
          </p:cNvSpPr>
          <p:nvPr>
            <p:ph type="body" idx="4294967295"/>
          </p:nvPr>
        </p:nvSpPr>
        <p:spPr>
          <a:xfrm>
            <a:off x="2058988" y="1103630"/>
            <a:ext cx="7923212" cy="3810000"/>
          </a:xfrm>
          <a:prstGeom prst="rect">
            <a:avLst/>
          </a:prstGeom>
          <a:noFill/>
          <a:ln w="9525">
            <a:noFill/>
          </a:ln>
        </p:spPr>
        <p:txBody>
          <a:bodyPr lIns="90488" tIns="44450" rIns="90488" bIns="44450"/>
          <a:p>
            <a:pPr marL="0" indent="0">
              <a:buFont typeface="Wingdings" panose="05000000000000000000" pitchFamily="2" charset="2"/>
              <a:buNone/>
            </a:pPr>
            <a:r>
              <a:rPr b="0" dirty="0"/>
              <a:t>A </a:t>
            </a:r>
            <a:r>
              <a:rPr b="0" dirty="0">
                <a:solidFill>
                  <a:schemeClr val="hlink"/>
                </a:solidFill>
              </a:rPr>
              <a:t>critical value</a:t>
            </a:r>
            <a:r>
              <a:rPr b="0" dirty="0"/>
              <a:t> is the number on the borderline separating sample statistics that are likely to occur from those that are unlikely to occur.  </a:t>
            </a:r>
            <a:endParaRPr b="0" dirty="0"/>
          </a:p>
          <a:p>
            <a:pPr marL="0" indent="0">
              <a:buFont typeface="Wingdings" panose="05000000000000000000" pitchFamily="2" charset="2"/>
              <a:buNone/>
            </a:pPr>
            <a:endParaRPr b="0" dirty="0"/>
          </a:p>
          <a:p>
            <a:pPr marL="0" indent="0">
              <a:buFont typeface="Wingdings" panose="05000000000000000000" pitchFamily="2" charset="2"/>
              <a:buNone/>
            </a:pPr>
            <a:r>
              <a:rPr b="0" dirty="0"/>
              <a:t>The number </a:t>
            </a:r>
            <a:r>
              <a:rPr b="0" i="1" dirty="0"/>
              <a:t>z</a:t>
            </a:r>
            <a:r>
              <a:rPr lang="el-GR" altLang="x-none" b="0" i="1" baseline="-25000" dirty="0"/>
              <a:t>α</a:t>
            </a:r>
            <a:r>
              <a:rPr b="0" baseline="-25000" dirty="0"/>
              <a:t>/2</a:t>
            </a:r>
            <a:r>
              <a:rPr b="0" dirty="0"/>
              <a:t> </a:t>
            </a:r>
            <a:r>
              <a:rPr b="0" dirty="0">
                <a:sym typeface="Symbol" panose="05050102010706020507" charset="2"/>
              </a:rPr>
              <a:t>is a critical value that is a </a:t>
            </a:r>
            <a:r>
              <a:rPr b="0" i="1" dirty="0"/>
              <a:t>z </a:t>
            </a:r>
            <a:r>
              <a:rPr b="0" dirty="0"/>
              <a:t>score with the property that it separates an area of </a:t>
            </a:r>
            <a:r>
              <a:rPr lang="el-GR" altLang="x-none" b="0" i="1" dirty="0"/>
              <a:t>α</a:t>
            </a:r>
            <a:r>
              <a:rPr b="0" dirty="0"/>
              <a:t>/2 </a:t>
            </a:r>
            <a:r>
              <a:rPr b="0" dirty="0">
                <a:sym typeface="Symbol" panose="05050102010706020507" charset="2"/>
              </a:rPr>
              <a:t>in the right tail of the standard normal distribution.</a:t>
            </a:r>
            <a:endParaRPr sz="3600" b="0" baseline="-25000" dirty="0">
              <a:sym typeface="Symbol" panose="05050102010706020507" charset="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p:nvPr/>
        </p:nvSpPr>
        <p:spPr>
          <a:xfrm>
            <a:off x="2514600" y="381000"/>
            <a:ext cx="7162800" cy="1143000"/>
          </a:xfrm>
          <a:prstGeom prst="rect">
            <a:avLst/>
          </a:prstGeom>
          <a:noFill/>
          <a:ln w="12700">
            <a:noFill/>
          </a:ln>
        </p:spPr>
        <p:txBody>
          <a:bodyPr wrap="none" anchor="ctr" anchorCtr="0"/>
          <a:p>
            <a:endParaRPr dirty="0">
              <a:latin typeface="Arial" panose="020B0604020202020204" pitchFamily="34" charset="0"/>
            </a:endParaRPr>
          </a:p>
        </p:txBody>
      </p:sp>
      <p:sp>
        <p:nvSpPr>
          <p:cNvPr id="32770" name="Rectangle 8"/>
          <p:cNvSpPr/>
          <p:nvPr/>
        </p:nvSpPr>
        <p:spPr>
          <a:xfrm>
            <a:off x="6505575" y="2811463"/>
            <a:ext cx="690563" cy="420687"/>
          </a:xfrm>
          <a:prstGeom prst="rect">
            <a:avLst/>
          </a:prstGeom>
          <a:noFill/>
          <a:ln w="12700">
            <a:noFill/>
          </a:ln>
        </p:spPr>
        <p:txBody>
          <a:bodyPr wrap="none" anchor="ctr" anchorCtr="0"/>
          <a:p>
            <a:endParaRPr dirty="0">
              <a:latin typeface="Arial" panose="020B0604020202020204" pitchFamily="34" charset="0"/>
            </a:endParaRPr>
          </a:p>
        </p:txBody>
      </p:sp>
      <p:sp>
        <p:nvSpPr>
          <p:cNvPr id="32771" name="Rectangle 19"/>
          <p:cNvSpPr>
            <a:spLocks noGrp="1"/>
          </p:cNvSpPr>
          <p:nvPr>
            <p:ph type="title" idx="4294967295"/>
          </p:nvPr>
        </p:nvSpPr>
        <p:spPr>
          <a:xfrm>
            <a:off x="1981200" y="322263"/>
            <a:ext cx="8237538" cy="1066800"/>
          </a:xfrm>
          <a:prstGeom prst="rect">
            <a:avLst/>
          </a:prstGeom>
          <a:noFill/>
          <a:ln w="9525">
            <a:noFill/>
          </a:ln>
        </p:spPr>
        <p:txBody>
          <a:bodyPr lIns="90488" tIns="44450" rIns="90488" bIns="44450"/>
          <a:p>
            <a:r>
              <a:rPr dirty="0"/>
              <a:t>Finding </a:t>
            </a:r>
            <a:r>
              <a:rPr b="0" i="1" dirty="0"/>
              <a:t>z</a:t>
            </a:r>
            <a:r>
              <a:rPr lang="el-GR" altLang="x-none" b="0" i="1" baseline="-25000" dirty="0"/>
              <a:t>α</a:t>
            </a:r>
            <a:r>
              <a:rPr b="0" baseline="-25000" dirty="0"/>
              <a:t>/2</a:t>
            </a:r>
            <a:r>
              <a:rPr i="1" dirty="0"/>
              <a:t> </a:t>
            </a:r>
            <a:r>
              <a:rPr dirty="0"/>
              <a:t>for a 95% </a:t>
            </a:r>
            <a:br>
              <a:rPr dirty="0"/>
            </a:br>
            <a:r>
              <a:rPr dirty="0"/>
              <a:t>Confidence Level</a:t>
            </a:r>
            <a:endParaRPr dirty="0"/>
          </a:p>
        </p:txBody>
      </p:sp>
      <p:sp>
        <p:nvSpPr>
          <p:cNvPr id="32772" name="Line 24"/>
          <p:cNvSpPr/>
          <p:nvPr/>
        </p:nvSpPr>
        <p:spPr>
          <a:xfrm>
            <a:off x="3048000" y="5791200"/>
            <a:ext cx="0" cy="0"/>
          </a:xfrm>
          <a:prstGeom prst="line">
            <a:avLst/>
          </a:prstGeom>
          <a:ln w="9525" cap="flat" cmpd="sng">
            <a:solidFill>
              <a:schemeClr val="hlink"/>
            </a:solidFill>
            <a:prstDash val="solid"/>
            <a:headEnd type="none" w="med" len="med"/>
            <a:tailEnd type="none" w="med" len="med"/>
          </a:ln>
        </p:spPr>
      </p:sp>
      <p:pic>
        <p:nvPicPr>
          <p:cNvPr id="32773" name="Picture 27" descr="6_03_1"/>
          <p:cNvPicPr>
            <a:picLocks noChangeAspect="1"/>
          </p:cNvPicPr>
          <p:nvPr/>
        </p:nvPicPr>
        <p:blipFill>
          <a:blip r:embed="rId1"/>
          <a:stretch>
            <a:fillRect/>
          </a:stretch>
        </p:blipFill>
        <p:spPr>
          <a:xfrm>
            <a:off x="3048000" y="1447800"/>
            <a:ext cx="6151563" cy="2868613"/>
          </a:xfrm>
          <a:prstGeom prst="rect">
            <a:avLst/>
          </a:prstGeom>
          <a:noFill/>
          <a:ln w="9525">
            <a:noFill/>
          </a:ln>
        </p:spPr>
      </p:pic>
      <p:grpSp>
        <p:nvGrpSpPr>
          <p:cNvPr id="32774" name="Group 21"/>
          <p:cNvGrpSpPr/>
          <p:nvPr/>
        </p:nvGrpSpPr>
        <p:grpSpPr>
          <a:xfrm>
            <a:off x="4191000" y="4343400"/>
            <a:ext cx="3800475" cy="1728788"/>
            <a:chOff x="1085" y="2905"/>
            <a:chExt cx="2394" cy="1089"/>
          </a:xfrm>
        </p:grpSpPr>
        <p:grpSp>
          <p:nvGrpSpPr>
            <p:cNvPr id="32775" name="Group 34"/>
            <p:cNvGrpSpPr/>
            <p:nvPr/>
          </p:nvGrpSpPr>
          <p:grpSpPr>
            <a:xfrm>
              <a:off x="1131" y="2905"/>
              <a:ext cx="2181" cy="1089"/>
              <a:chOff x="1131" y="2801"/>
              <a:chExt cx="2181" cy="1089"/>
            </a:xfrm>
          </p:grpSpPr>
          <p:sp>
            <p:nvSpPr>
              <p:cNvPr id="32778" name="Rectangle 9"/>
              <p:cNvSpPr/>
              <p:nvPr/>
            </p:nvSpPr>
            <p:spPr>
              <a:xfrm>
                <a:off x="1131" y="2849"/>
                <a:ext cx="194" cy="223"/>
              </a:xfrm>
              <a:prstGeom prst="rect">
                <a:avLst/>
              </a:prstGeom>
              <a:noFill/>
              <a:ln w="12700">
                <a:noFill/>
              </a:ln>
            </p:spPr>
            <p:txBody>
              <a:bodyPr wrap="none" lIns="90488" tIns="44450" rIns="90488" bIns="44450">
                <a:spAutoFit/>
              </a:bodyPr>
              <a:p>
                <a:pPr>
                  <a:lnSpc>
                    <a:spcPct val="95000"/>
                  </a:lnSpc>
                </a:pPr>
                <a:endParaRPr sz="2800" baseline="-25000" dirty="0">
                  <a:latin typeface="Arial" panose="020B0604020202020204" pitchFamily="34" charset="0"/>
                </a:endParaRPr>
              </a:p>
            </p:txBody>
          </p:sp>
          <p:sp>
            <p:nvSpPr>
              <p:cNvPr id="32779" name="Rectangle 10"/>
              <p:cNvSpPr/>
              <p:nvPr/>
            </p:nvSpPr>
            <p:spPr>
              <a:xfrm>
                <a:off x="3099" y="2801"/>
                <a:ext cx="194" cy="223"/>
              </a:xfrm>
              <a:prstGeom prst="rect">
                <a:avLst/>
              </a:prstGeom>
              <a:noFill/>
              <a:ln w="12700">
                <a:noFill/>
              </a:ln>
            </p:spPr>
            <p:txBody>
              <a:bodyPr wrap="none" lIns="90488" tIns="44450" rIns="90488" bIns="44450">
                <a:spAutoFit/>
              </a:bodyPr>
              <a:p>
                <a:pPr>
                  <a:lnSpc>
                    <a:spcPct val="95000"/>
                  </a:lnSpc>
                </a:pPr>
                <a:endParaRPr sz="2800" baseline="-25000" dirty="0">
                  <a:latin typeface="Arial" panose="020B0604020202020204" pitchFamily="34" charset="0"/>
                </a:endParaRPr>
              </a:p>
            </p:txBody>
          </p:sp>
          <p:sp>
            <p:nvSpPr>
              <p:cNvPr id="32780" name="Rectangle 18"/>
              <p:cNvSpPr/>
              <p:nvPr/>
            </p:nvSpPr>
            <p:spPr>
              <a:xfrm>
                <a:off x="1620" y="3613"/>
                <a:ext cx="1327" cy="277"/>
              </a:xfrm>
              <a:prstGeom prst="rect">
                <a:avLst/>
              </a:prstGeom>
              <a:noFill/>
              <a:ln w="12700">
                <a:noFill/>
              </a:ln>
            </p:spPr>
            <p:txBody>
              <a:bodyPr wrap="none" lIns="90488" tIns="44450" rIns="90488" bIns="44450">
                <a:spAutoFit/>
              </a:bodyPr>
              <a:p>
                <a:pPr>
                  <a:lnSpc>
                    <a:spcPct val="95000"/>
                  </a:lnSpc>
                </a:pPr>
                <a:r>
                  <a:rPr sz="2400" dirty="0">
                    <a:solidFill>
                      <a:schemeClr val="hlink"/>
                    </a:solidFill>
                    <a:latin typeface="Arial" panose="020B0604020202020204" pitchFamily="34" charset="0"/>
                  </a:rPr>
                  <a:t>Critical Values</a:t>
                </a:r>
                <a:endParaRPr sz="2400" dirty="0">
                  <a:solidFill>
                    <a:schemeClr val="hlink"/>
                  </a:solidFill>
                  <a:latin typeface="Arial" panose="020B0604020202020204" pitchFamily="34" charset="0"/>
                </a:endParaRPr>
              </a:p>
            </p:txBody>
          </p:sp>
          <p:sp>
            <p:nvSpPr>
              <p:cNvPr id="32781" name="Line 22"/>
              <p:cNvSpPr/>
              <p:nvPr/>
            </p:nvSpPr>
            <p:spPr>
              <a:xfrm>
                <a:off x="1392" y="3277"/>
                <a:ext cx="0" cy="528"/>
              </a:xfrm>
              <a:prstGeom prst="line">
                <a:avLst/>
              </a:prstGeom>
              <a:ln w="57150" cap="flat" cmpd="sng">
                <a:solidFill>
                  <a:schemeClr val="hlink"/>
                </a:solidFill>
                <a:prstDash val="solid"/>
                <a:headEnd type="none" w="med" len="med"/>
                <a:tailEnd type="none" w="med" len="med"/>
              </a:ln>
            </p:spPr>
          </p:sp>
          <p:sp>
            <p:nvSpPr>
              <p:cNvPr id="32782" name="Line 23"/>
              <p:cNvSpPr/>
              <p:nvPr/>
            </p:nvSpPr>
            <p:spPr>
              <a:xfrm>
                <a:off x="3312" y="3277"/>
                <a:ext cx="0" cy="528"/>
              </a:xfrm>
              <a:prstGeom prst="line">
                <a:avLst/>
              </a:prstGeom>
              <a:ln w="57150" cap="flat" cmpd="sng">
                <a:solidFill>
                  <a:schemeClr val="hlink"/>
                </a:solidFill>
                <a:prstDash val="solid"/>
                <a:headEnd type="none" w="med" len="med"/>
                <a:tailEnd type="none" w="med" len="med"/>
              </a:ln>
            </p:spPr>
          </p:sp>
          <p:sp>
            <p:nvSpPr>
              <p:cNvPr id="32783" name="Line 25"/>
              <p:cNvSpPr/>
              <p:nvPr/>
            </p:nvSpPr>
            <p:spPr>
              <a:xfrm>
                <a:off x="1380" y="3805"/>
                <a:ext cx="288" cy="0"/>
              </a:xfrm>
              <a:prstGeom prst="line">
                <a:avLst/>
              </a:prstGeom>
              <a:ln w="57150" cap="flat" cmpd="sng">
                <a:solidFill>
                  <a:schemeClr val="hlink"/>
                </a:solidFill>
                <a:prstDash val="solid"/>
                <a:headEnd type="none" w="med" len="med"/>
                <a:tailEnd type="none" w="med" len="med"/>
              </a:ln>
            </p:spPr>
          </p:sp>
          <p:sp>
            <p:nvSpPr>
              <p:cNvPr id="32784" name="Line 26"/>
              <p:cNvSpPr/>
              <p:nvPr/>
            </p:nvSpPr>
            <p:spPr>
              <a:xfrm>
                <a:off x="3012" y="3805"/>
                <a:ext cx="288" cy="0"/>
              </a:xfrm>
              <a:prstGeom prst="line">
                <a:avLst/>
              </a:prstGeom>
              <a:ln w="57150" cap="flat" cmpd="sng">
                <a:solidFill>
                  <a:schemeClr val="hlink"/>
                </a:solidFill>
                <a:prstDash val="solid"/>
                <a:headEnd type="none" w="med" len="med"/>
                <a:tailEnd type="none" w="med" len="med"/>
              </a:ln>
            </p:spPr>
          </p:sp>
        </p:grpSp>
        <p:pic>
          <p:nvPicPr>
            <p:cNvPr id="32776" name="Picture 19" descr="notationfor"/>
            <p:cNvPicPr>
              <a:picLocks noChangeAspect="1"/>
            </p:cNvPicPr>
            <p:nvPr/>
          </p:nvPicPr>
          <p:blipFill>
            <a:blip r:embed="rId2"/>
            <a:stretch>
              <a:fillRect/>
            </a:stretch>
          </p:blipFill>
          <p:spPr>
            <a:xfrm>
              <a:off x="1085" y="3064"/>
              <a:ext cx="496" cy="280"/>
            </a:xfrm>
            <a:prstGeom prst="rect">
              <a:avLst/>
            </a:prstGeom>
            <a:noFill/>
            <a:ln w="9525">
              <a:noFill/>
            </a:ln>
          </p:spPr>
        </p:pic>
        <p:pic>
          <p:nvPicPr>
            <p:cNvPr id="32777" name="Picture 20" descr="criticalvalues2"/>
            <p:cNvPicPr>
              <a:picLocks noChangeAspect="1"/>
            </p:cNvPicPr>
            <p:nvPr/>
          </p:nvPicPr>
          <p:blipFill>
            <a:blip r:embed="rId3"/>
            <a:stretch>
              <a:fillRect/>
            </a:stretch>
          </p:blipFill>
          <p:spPr>
            <a:xfrm>
              <a:off x="3127" y="3071"/>
              <a:ext cx="352" cy="280"/>
            </a:xfrm>
            <a:prstGeom prst="rect">
              <a:avLst/>
            </a:prstGeom>
            <a:noFill/>
            <a:ln w="9525">
              <a:noFill/>
            </a:ln>
          </p:spPr>
        </p:pic>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idx="4294967295"/>
          </p:nvPr>
        </p:nvSpPr>
        <p:spPr>
          <a:xfrm>
            <a:off x="2209800" y="165100"/>
            <a:ext cx="7772400" cy="685800"/>
          </a:xfrm>
          <a:prstGeom prst="rect">
            <a:avLst/>
          </a:prstGeom>
          <a:noFill/>
          <a:ln w="9525">
            <a:noFill/>
          </a:ln>
        </p:spPr>
        <p:txBody>
          <a:bodyPr lIns="90488" tIns="44450" rIns="90488" bIns="44450"/>
          <a:p>
            <a:pPr>
              <a:lnSpc>
                <a:spcPct val="125000"/>
              </a:lnSpc>
              <a:spcBef>
                <a:spcPct val="4000"/>
              </a:spcBef>
            </a:pPr>
            <a:r>
              <a:rPr dirty="0"/>
              <a:t>Common Critical Values</a:t>
            </a:r>
            <a:endParaRPr dirty="0">
              <a:solidFill>
                <a:schemeClr val="tx1"/>
              </a:solidFill>
            </a:endParaRPr>
          </a:p>
        </p:txBody>
      </p:sp>
      <p:graphicFrame>
        <p:nvGraphicFramePr>
          <p:cNvPr id="34818" name="Table 34817"/>
          <p:cNvGraphicFramePr/>
          <p:nvPr/>
        </p:nvGraphicFramePr>
        <p:xfrm>
          <a:off x="2514600" y="1447800"/>
          <a:ext cx="7086600" cy="2514600"/>
        </p:xfrm>
        <a:graphic>
          <a:graphicData uri="http://schemas.openxmlformats.org/drawingml/2006/table">
            <a:tbl>
              <a:tblPr/>
              <a:tblGrid>
                <a:gridCol w="2362200"/>
                <a:gridCol w="2362200"/>
                <a:gridCol w="2362200"/>
              </a:tblGrid>
              <a:tr h="628650">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Confidence Level</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lang="el-GR" altLang="x-none" i="1" dirty="0">
                          <a:latin typeface="Arial" panose="020B0604020202020204" pitchFamily="34" charset="0"/>
                        </a:rPr>
                        <a:t>α</a:t>
                      </a:r>
                      <a:endParaRPr lang="en-US" i="1"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Critical Value, </a:t>
                      </a:r>
                      <a:r>
                        <a:rPr i="1" dirty="0">
                          <a:latin typeface="Arial" panose="020B0604020202020204" pitchFamily="34" charset="0"/>
                        </a:rPr>
                        <a:t>z</a:t>
                      </a:r>
                      <a:r>
                        <a:rPr lang="el-GR" altLang="x-none" i="1" baseline="-25000" dirty="0">
                          <a:latin typeface="Arial" panose="020B0604020202020204" pitchFamily="34" charset="0"/>
                        </a:rPr>
                        <a:t>α</a:t>
                      </a:r>
                      <a:r>
                        <a:rPr baseline="-25000" dirty="0">
                          <a:latin typeface="Arial" panose="020B0604020202020204" pitchFamily="34" charset="0"/>
                        </a:rPr>
                        <a:t>/2</a:t>
                      </a:r>
                      <a:r>
                        <a:rPr dirty="0">
                          <a:latin typeface="Arial" panose="020B0604020202020204" pitchFamily="34" charset="0"/>
                        </a:rPr>
                        <a:t> </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8650">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90%</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0.10</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1.645</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8650">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95%</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0.05</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1.96</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28650">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99%</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0.01</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defRPr>
                      </a:lvl1pPr>
                      <a:lvl2pPr marL="457200" lvl="1"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2pPr>
                      <a:lvl3pPr marL="914400" lvl="2"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3pPr>
                      <a:lvl4pPr marL="1371600" lvl="3"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4pPr>
                      <a:lvl5pPr marL="1828800" lvl="4" indent="0" algn="l" defTabSz="914400" rtl="0" eaLnBrk="0" fontAlgn="base" latinLnBrk="0" hangingPunct="0">
                        <a:lnSpc>
                          <a:spcPct val="90000"/>
                        </a:lnSpc>
                        <a:spcBef>
                          <a:spcPct val="0"/>
                        </a:spcBef>
                        <a:spcAft>
                          <a:spcPct val="0"/>
                        </a:spcAft>
                        <a:buNone/>
                        <a:defRPr sz="2000" b="1" i="0" u="none" kern="1200" baseline="0">
                          <a:solidFill>
                            <a:schemeClr val="tx1"/>
                          </a:solidFill>
                          <a:latin typeface="Arial" panose="020B0604020202020204" pitchFamily="34" charset="0"/>
                          <a:ea typeface="MS PGothic" panose="020B0600070205080204" charset="-128"/>
                          <a:cs typeface="+mn-cs"/>
                        </a:defRPr>
                      </a:lvl5pPr>
                    </a:lstStyle>
                    <a:p>
                      <a:pPr lvl="0" algn="ctr" eaLnBrk="1" hangingPunct="1">
                        <a:lnSpc>
                          <a:spcPct val="100000"/>
                        </a:lnSpc>
                        <a:buNone/>
                      </a:pPr>
                      <a:r>
                        <a:rPr dirty="0">
                          <a:latin typeface="Arial" panose="020B0604020202020204" pitchFamily="34" charset="0"/>
                        </a:rPr>
                        <a:t>2.575</a:t>
                      </a:r>
                      <a:endParaRPr 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idx="4294967295"/>
          </p:nvPr>
        </p:nvSpPr>
        <p:spPr>
          <a:xfrm>
            <a:off x="1872615" y="342900"/>
            <a:ext cx="7772400" cy="698500"/>
          </a:xfrm>
          <a:prstGeom prst="rect">
            <a:avLst/>
          </a:prstGeom>
          <a:noFill/>
          <a:ln w="9525">
            <a:noFill/>
          </a:ln>
        </p:spPr>
        <p:txBody>
          <a:bodyPr lIns="90488" tIns="44450" rIns="90488" bIns="44450"/>
          <a:p>
            <a:pPr>
              <a:lnSpc>
                <a:spcPct val="125000"/>
              </a:lnSpc>
              <a:spcBef>
                <a:spcPct val="4000"/>
              </a:spcBef>
            </a:pPr>
            <a:r>
              <a:rPr dirty="0"/>
              <a:t>Definition</a:t>
            </a:r>
            <a:endParaRPr dirty="0"/>
          </a:p>
        </p:txBody>
      </p:sp>
      <p:sp>
        <p:nvSpPr>
          <p:cNvPr id="36866" name="Rectangle 3"/>
          <p:cNvSpPr>
            <a:spLocks noGrp="1"/>
          </p:cNvSpPr>
          <p:nvPr>
            <p:ph type="body" idx="4294967295"/>
          </p:nvPr>
        </p:nvSpPr>
        <p:spPr>
          <a:xfrm>
            <a:off x="1543685" y="1343025"/>
            <a:ext cx="8698865" cy="4343400"/>
          </a:xfrm>
          <a:prstGeom prst="rect">
            <a:avLst/>
          </a:prstGeom>
          <a:noFill/>
          <a:ln w="9525">
            <a:noFill/>
          </a:ln>
        </p:spPr>
        <p:txBody>
          <a:bodyPr lIns="90488" tIns="44450" rIns="90488" bIns="44450"/>
          <a:p>
            <a:pPr>
              <a:lnSpc>
                <a:spcPct val="120000"/>
              </a:lnSpc>
              <a:buFont typeface="Wingdings" panose="05000000000000000000" pitchFamily="2" charset="2"/>
              <a:buNone/>
            </a:pPr>
            <a:r>
              <a:rPr sz="2600" b="0" dirty="0"/>
              <a:t>	</a:t>
            </a:r>
            <a:r>
              <a:rPr b="0" dirty="0"/>
              <a:t>When data from a simple random sample are used to estimate a population proportion </a:t>
            </a:r>
            <a:r>
              <a:rPr b="0" i="1" dirty="0"/>
              <a:t>p</a:t>
            </a:r>
            <a:r>
              <a:rPr b="0" dirty="0"/>
              <a:t>, the </a:t>
            </a:r>
            <a:r>
              <a:rPr b="0" dirty="0">
                <a:solidFill>
                  <a:schemeClr val="hlink"/>
                </a:solidFill>
              </a:rPr>
              <a:t>margin of error</a:t>
            </a:r>
            <a:r>
              <a:rPr b="0" dirty="0"/>
              <a:t>, denoted by </a:t>
            </a:r>
            <a:r>
              <a:rPr b="0" i="1" dirty="0">
                <a:solidFill>
                  <a:schemeClr val="hlink"/>
                </a:solidFill>
              </a:rPr>
              <a:t>E</a:t>
            </a:r>
            <a:r>
              <a:rPr b="0" dirty="0"/>
              <a:t>, is the maximum likely </a:t>
            </a:r>
            <a:r>
              <a:rPr b="0" dirty="0">
                <a:sym typeface="Symbol" panose="05050102010706020507" charset="2"/>
              </a:rPr>
              <a:t>difference </a:t>
            </a:r>
            <a:r>
              <a:rPr b="0" dirty="0"/>
              <a:t>(with probability 1 – </a:t>
            </a:r>
            <a:r>
              <a:rPr lang="el-GR" altLang="x-none" b="0" i="1" dirty="0"/>
              <a:t>α</a:t>
            </a:r>
            <a:r>
              <a:rPr b="0" dirty="0">
                <a:sym typeface="Symbol" panose="05050102010706020507" charset="2"/>
              </a:rPr>
              <a:t>, such as 0.95) between the observed proportion      and the true value of the population proportion </a:t>
            </a:r>
            <a:r>
              <a:rPr b="0" i="1" dirty="0">
                <a:solidFill>
                  <a:srgbClr val="FF0000"/>
                </a:solidFill>
                <a:sym typeface="Symbol" panose="05050102010706020507" charset="2"/>
              </a:rPr>
              <a:t>p</a:t>
            </a:r>
            <a:r>
              <a:rPr b="0" dirty="0"/>
              <a:t>.  </a:t>
            </a:r>
            <a:endParaRPr b="0" dirty="0"/>
          </a:p>
        </p:txBody>
      </p:sp>
      <p:graphicFrame>
        <p:nvGraphicFramePr>
          <p:cNvPr id="36867" name="Object 6"/>
          <p:cNvGraphicFramePr>
            <a:graphicFrameLocks noChangeAspect="1"/>
          </p:cNvGraphicFramePr>
          <p:nvPr/>
        </p:nvGraphicFramePr>
        <p:xfrm>
          <a:off x="3930015" y="4420235"/>
          <a:ext cx="278130" cy="450850"/>
        </p:xfrm>
        <a:graphic>
          <a:graphicData uri="http://schemas.openxmlformats.org/presentationml/2006/ole">
            <mc:AlternateContent xmlns:mc="http://schemas.openxmlformats.org/markup-compatibility/2006">
              <mc:Choice xmlns:v="urn:schemas-microsoft-com:vml" Requires="v">
                <p:oleObj spid="_x0000_s3076" name="" r:id="rId1" imgW="266700" imgH="431165" progId="Equation.DSMT4">
                  <p:embed/>
                </p:oleObj>
              </mc:Choice>
              <mc:Fallback>
                <p:oleObj name="" r:id="rId1" imgW="266700" imgH="431165" progId="Equation.DSMT4">
                  <p:embed/>
                  <p:pic>
                    <p:nvPicPr>
                      <p:cNvPr id="0" name="Picture 3075"/>
                      <p:cNvPicPr/>
                      <p:nvPr/>
                    </p:nvPicPr>
                    <p:blipFill>
                      <a:blip r:embed="rId2"/>
                      <a:stretch>
                        <a:fillRect/>
                      </a:stretch>
                    </p:blipFill>
                    <p:spPr>
                      <a:xfrm>
                        <a:off x="3930015" y="4420235"/>
                        <a:ext cx="278130" cy="450850"/>
                      </a:xfrm>
                      <a:prstGeom prst="rect">
                        <a:avLst/>
                      </a:prstGeom>
                      <a:noFill/>
                      <a:ln w="38100">
                        <a:noFill/>
                        <a:miter/>
                      </a:ln>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idx="4294967295"/>
          </p:nvPr>
        </p:nvSpPr>
        <p:spPr>
          <a:xfrm>
            <a:off x="2308225" y="198755"/>
            <a:ext cx="7534275" cy="1143000"/>
          </a:xfrm>
          <a:prstGeom prst="rect">
            <a:avLst/>
          </a:prstGeom>
          <a:noFill/>
          <a:ln w="9525">
            <a:noFill/>
          </a:ln>
        </p:spPr>
        <p:txBody>
          <a:bodyPr lIns="90488" tIns="44450" rIns="90488" bIns="44450"/>
          <a:p>
            <a:pPr>
              <a:spcBef>
                <a:spcPct val="4000"/>
              </a:spcBef>
            </a:pPr>
            <a:r>
              <a:rPr dirty="0"/>
              <a:t>Margin of Error for Proportions</a:t>
            </a:r>
            <a:endParaRPr dirty="0">
              <a:solidFill>
                <a:schemeClr val="hlink"/>
              </a:solidFill>
            </a:endParaRPr>
          </a:p>
        </p:txBody>
      </p:sp>
      <p:graphicFrame>
        <p:nvGraphicFramePr>
          <p:cNvPr id="38914" name="Object 19"/>
          <p:cNvGraphicFramePr>
            <a:graphicFrameLocks noChangeAspect="1"/>
          </p:cNvGraphicFramePr>
          <p:nvPr/>
        </p:nvGraphicFramePr>
        <p:xfrm>
          <a:off x="3408680" y="3886835"/>
          <a:ext cx="3533775" cy="1685925"/>
        </p:xfrm>
        <a:graphic>
          <a:graphicData uri="http://schemas.openxmlformats.org/presentationml/2006/ole">
            <mc:AlternateContent xmlns:mc="http://schemas.openxmlformats.org/markup-compatibility/2006">
              <mc:Choice xmlns:v="urn:schemas-microsoft-com:vml" Requires="v">
                <p:oleObj spid="_x0000_s3079" name="" r:id="rId1" imgW="2527300" imgH="1206500" progId="Equation.DSMT4">
                  <p:embed/>
                </p:oleObj>
              </mc:Choice>
              <mc:Fallback>
                <p:oleObj name="" r:id="rId1" imgW="2527300" imgH="1206500" progId="Equation.DSMT4">
                  <p:embed/>
                  <p:pic>
                    <p:nvPicPr>
                      <p:cNvPr id="0" name="Picture 3078"/>
                      <p:cNvPicPr/>
                      <p:nvPr/>
                    </p:nvPicPr>
                    <p:blipFill>
                      <a:blip r:embed="rId2"/>
                      <a:stretch>
                        <a:fillRect/>
                      </a:stretch>
                    </p:blipFill>
                    <p:spPr>
                      <a:xfrm>
                        <a:off x="3408680" y="3886835"/>
                        <a:ext cx="3533775" cy="1685925"/>
                      </a:xfrm>
                      <a:prstGeom prst="rect">
                        <a:avLst/>
                      </a:prstGeom>
                      <a:noFill/>
                      <a:ln w="38100">
                        <a:noFill/>
                        <a:miter/>
                      </a:ln>
                    </p:spPr>
                  </p:pic>
                </p:oleObj>
              </mc:Fallback>
            </mc:AlternateContent>
          </a:graphicData>
        </a:graphic>
      </p:graphicFrame>
      <p:sp>
        <p:nvSpPr>
          <p:cNvPr id="38915" name="Rectangle 3"/>
          <p:cNvSpPr/>
          <p:nvPr/>
        </p:nvSpPr>
        <p:spPr>
          <a:xfrm>
            <a:off x="1222375" y="1219200"/>
            <a:ext cx="8683625" cy="2453640"/>
          </a:xfrm>
          <a:prstGeom prst="rect">
            <a:avLst/>
          </a:prstGeom>
          <a:noFill/>
          <a:ln w="9525">
            <a:noFill/>
          </a:ln>
        </p:spPr>
        <p:txBody>
          <a:bodyPr wrap="square">
            <a:spAutoFit/>
          </a:bodyPr>
          <a:p>
            <a:pPr>
              <a:lnSpc>
                <a:spcPct val="120000"/>
              </a:lnSpc>
              <a:buFont typeface="Wingdings" panose="05000000000000000000" pitchFamily="2" charset="2"/>
            </a:pPr>
            <a:r>
              <a:rPr sz="3200" b="0" dirty="0">
                <a:latin typeface="Arial" panose="020B0604020202020204" pitchFamily="34" charset="0"/>
              </a:rPr>
              <a:t>The margin of error </a:t>
            </a:r>
            <a:r>
              <a:rPr sz="3200" b="0" i="1" dirty="0">
                <a:solidFill>
                  <a:schemeClr val="hlink"/>
                </a:solidFill>
                <a:latin typeface="Arial" panose="020B0604020202020204" pitchFamily="34" charset="0"/>
              </a:rPr>
              <a:t>E</a:t>
            </a:r>
            <a:r>
              <a:rPr sz="3200" b="0" dirty="0">
                <a:latin typeface="Arial" panose="020B0604020202020204" pitchFamily="34" charset="0"/>
              </a:rPr>
              <a:t> is also called the </a:t>
            </a:r>
            <a:r>
              <a:rPr sz="3200" b="0" dirty="0">
                <a:solidFill>
                  <a:schemeClr val="hlink"/>
                </a:solidFill>
                <a:latin typeface="Arial" panose="020B0604020202020204" pitchFamily="34" charset="0"/>
              </a:rPr>
              <a:t>maximum error of the estimate</a:t>
            </a:r>
            <a:r>
              <a:rPr sz="3200" b="0" dirty="0">
                <a:latin typeface="Arial" panose="020B0604020202020204" pitchFamily="34" charset="0"/>
              </a:rPr>
              <a:t> and can be found by multiplying the critical value and the standard deviation of the sample proportions:</a:t>
            </a:r>
            <a:endParaRPr sz="3200" b="0" dirty="0">
              <a:latin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13"/>
          <p:cNvSpPr/>
          <p:nvPr/>
        </p:nvSpPr>
        <p:spPr>
          <a:xfrm>
            <a:off x="2205038" y="1830388"/>
            <a:ext cx="8081962" cy="3227705"/>
          </a:xfrm>
          <a:prstGeom prst="rect">
            <a:avLst/>
          </a:prstGeom>
          <a:noFill/>
          <a:ln w="9525">
            <a:noFill/>
          </a:ln>
        </p:spPr>
        <p:txBody>
          <a:bodyPr lIns="90488" tIns="44450" rIns="90488" bIns="44450">
            <a:spAutoFit/>
          </a:bodyPr>
          <a:p>
            <a:r>
              <a:rPr sz="2400" b="0" i="1" dirty="0">
                <a:latin typeface="Arial" panose="020B0604020202020204" pitchFamily="34" charset="0"/>
              </a:rPr>
              <a:t>p</a:t>
            </a:r>
            <a:r>
              <a:rPr sz="2400" b="0" dirty="0">
                <a:latin typeface="Arial" panose="020B0604020202020204" pitchFamily="34" charset="0"/>
              </a:rPr>
              <a:t> 	= population proportion</a:t>
            </a:r>
            <a:endParaRPr sz="2400" b="0" dirty="0">
              <a:latin typeface="Arial" panose="020B0604020202020204" pitchFamily="34" charset="0"/>
            </a:endParaRPr>
          </a:p>
          <a:p>
            <a:pPr>
              <a:lnSpc>
                <a:spcPct val="150000"/>
              </a:lnSpc>
            </a:pPr>
            <a:r>
              <a:rPr sz="2400" b="0" dirty="0">
                <a:latin typeface="Arial" panose="020B0604020202020204" pitchFamily="34" charset="0"/>
              </a:rPr>
              <a:t>	= sample proportion</a:t>
            </a:r>
            <a:endParaRPr sz="2400" b="0" dirty="0">
              <a:latin typeface="Arial" panose="020B0604020202020204" pitchFamily="34" charset="0"/>
            </a:endParaRPr>
          </a:p>
          <a:p>
            <a:pPr>
              <a:lnSpc>
                <a:spcPct val="150000"/>
              </a:lnSpc>
            </a:pPr>
            <a:r>
              <a:rPr sz="2400" b="0" i="1" dirty="0">
                <a:latin typeface="Arial" panose="020B0604020202020204" pitchFamily="34" charset="0"/>
              </a:rPr>
              <a:t>n</a:t>
            </a:r>
            <a:r>
              <a:rPr sz="2400" b="0" dirty="0">
                <a:latin typeface="Arial" panose="020B0604020202020204" pitchFamily="34" charset="0"/>
              </a:rPr>
              <a:t>	= number of sample values</a:t>
            </a:r>
            <a:endParaRPr sz="2400" b="0" dirty="0">
              <a:latin typeface="Arial" panose="020B0604020202020204" pitchFamily="34" charset="0"/>
            </a:endParaRPr>
          </a:p>
          <a:p>
            <a:pPr>
              <a:lnSpc>
                <a:spcPct val="150000"/>
              </a:lnSpc>
            </a:pPr>
            <a:r>
              <a:rPr sz="2400" b="0" i="1" dirty="0">
                <a:latin typeface="Arial" panose="020B0604020202020204" pitchFamily="34" charset="0"/>
              </a:rPr>
              <a:t>E</a:t>
            </a:r>
            <a:r>
              <a:rPr sz="2400" b="0" dirty="0">
                <a:latin typeface="Arial" panose="020B0604020202020204" pitchFamily="34" charset="0"/>
              </a:rPr>
              <a:t>	= margin of error</a:t>
            </a:r>
            <a:endParaRPr sz="2400" b="0" dirty="0">
              <a:latin typeface="Arial" panose="020B0604020202020204" pitchFamily="34" charset="0"/>
            </a:endParaRPr>
          </a:p>
          <a:p>
            <a:pPr>
              <a:lnSpc>
                <a:spcPct val="150000"/>
              </a:lnSpc>
            </a:pPr>
            <a:r>
              <a:rPr sz="2400" b="0" i="1" dirty="0">
                <a:latin typeface="Arial" panose="020B0604020202020204" pitchFamily="34" charset="0"/>
              </a:rPr>
              <a:t>z</a:t>
            </a:r>
            <a:r>
              <a:rPr lang="el-GR" altLang="x-none" sz="2400" b="0" i="1" baseline="-25000" dirty="0">
                <a:latin typeface="Arial" panose="020B0604020202020204" pitchFamily="34" charset="0"/>
              </a:rPr>
              <a:t>α</a:t>
            </a:r>
            <a:r>
              <a:rPr sz="2400" b="0" baseline="-25000" dirty="0">
                <a:latin typeface="Arial" panose="020B0604020202020204" pitchFamily="34" charset="0"/>
              </a:rPr>
              <a:t>/2</a:t>
            </a:r>
            <a:r>
              <a:rPr sz="2400" b="0" dirty="0">
                <a:latin typeface="Arial" panose="020B0604020202020204" pitchFamily="34" charset="0"/>
              </a:rPr>
              <a:t> 	= </a:t>
            </a:r>
            <a:r>
              <a:rPr sz="2400" b="0" i="1" dirty="0">
                <a:latin typeface="Arial" panose="020B0604020202020204" pitchFamily="34" charset="0"/>
              </a:rPr>
              <a:t>z</a:t>
            </a:r>
            <a:r>
              <a:rPr sz="2400" b="0" dirty="0">
                <a:latin typeface="Arial" panose="020B0604020202020204" pitchFamily="34" charset="0"/>
              </a:rPr>
              <a:t> score separating an area of </a:t>
            </a:r>
            <a:r>
              <a:rPr lang="el-GR" altLang="x-none" sz="2400" b="0" i="1" dirty="0">
                <a:latin typeface="Arial" panose="020B0604020202020204" pitchFamily="34" charset="0"/>
              </a:rPr>
              <a:t>α</a:t>
            </a:r>
            <a:r>
              <a:rPr sz="2400" b="0" dirty="0">
                <a:latin typeface="Arial" panose="020B0604020202020204" pitchFamily="34" charset="0"/>
              </a:rPr>
              <a:t>/2  in the 	right tail of the standard normal distribution.</a:t>
            </a:r>
            <a:endParaRPr sz="2400" b="0" dirty="0">
              <a:latin typeface="Arial" panose="020B0604020202020204" pitchFamily="34" charset="0"/>
            </a:endParaRPr>
          </a:p>
        </p:txBody>
      </p:sp>
      <p:sp>
        <p:nvSpPr>
          <p:cNvPr id="40962" name="Rectangle 17"/>
          <p:cNvSpPr>
            <a:spLocks noGrp="1"/>
          </p:cNvSpPr>
          <p:nvPr>
            <p:ph type="title" idx="4294967295"/>
          </p:nvPr>
        </p:nvSpPr>
        <p:spPr>
          <a:xfrm>
            <a:off x="1930400" y="139700"/>
            <a:ext cx="8583613" cy="1104900"/>
          </a:xfrm>
          <a:prstGeom prst="rect">
            <a:avLst/>
          </a:prstGeom>
          <a:noFill/>
          <a:ln w="9525">
            <a:noFill/>
          </a:ln>
        </p:spPr>
        <p:txBody>
          <a:bodyPr lIns="90488" tIns="44450" rIns="90488" bIns="44450"/>
          <a:p>
            <a:r>
              <a:rPr dirty="0"/>
              <a:t>Confidence Interval for Estimating a Population Proportion </a:t>
            </a:r>
            <a:r>
              <a:rPr i="1" dirty="0"/>
              <a:t>p</a:t>
            </a:r>
            <a:endParaRPr dirty="0"/>
          </a:p>
        </p:txBody>
      </p:sp>
      <p:graphicFrame>
        <p:nvGraphicFramePr>
          <p:cNvPr id="40963" name="Object 14"/>
          <p:cNvGraphicFramePr>
            <a:graphicFrameLocks noChangeAspect="1"/>
          </p:cNvGraphicFramePr>
          <p:nvPr/>
        </p:nvGraphicFramePr>
        <p:xfrm>
          <a:off x="2228850" y="2362200"/>
          <a:ext cx="285750" cy="381000"/>
        </p:xfrm>
        <a:graphic>
          <a:graphicData uri="http://schemas.openxmlformats.org/presentationml/2006/ole">
            <mc:AlternateContent xmlns:mc="http://schemas.openxmlformats.org/markup-compatibility/2006">
              <mc:Choice xmlns:v="urn:schemas-microsoft-com:vml" Requires="v">
                <p:oleObj spid="_x0000_s3078" name="" r:id="rId1" imgW="152400" imgH="203200" progId="Equation.DSMT4">
                  <p:embed/>
                </p:oleObj>
              </mc:Choice>
              <mc:Fallback>
                <p:oleObj name="" r:id="rId1" imgW="152400" imgH="203200" progId="Equation.DSMT4">
                  <p:embed/>
                  <p:pic>
                    <p:nvPicPr>
                      <p:cNvPr id="0" name="Picture 3077"/>
                      <p:cNvPicPr/>
                      <p:nvPr/>
                    </p:nvPicPr>
                    <p:blipFill>
                      <a:blip r:embed="rId2"/>
                      <a:stretch>
                        <a:fillRect/>
                      </a:stretch>
                    </p:blipFill>
                    <p:spPr>
                      <a:xfrm>
                        <a:off x="2228850" y="2362200"/>
                        <a:ext cx="285750" cy="381000"/>
                      </a:xfrm>
                      <a:prstGeom prst="rect">
                        <a:avLst/>
                      </a:prstGeom>
                      <a:noFill/>
                      <a:ln w="38100">
                        <a:noFill/>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idx="4294967295"/>
          </p:nvPr>
        </p:nvSpPr>
        <p:spPr>
          <a:xfrm>
            <a:off x="1862138" y="260350"/>
            <a:ext cx="8636000" cy="1268413"/>
          </a:xfrm>
          <a:prstGeom prst="rect">
            <a:avLst/>
          </a:prstGeom>
          <a:noFill/>
          <a:ln w="9525">
            <a:noFill/>
          </a:ln>
        </p:spPr>
        <p:txBody>
          <a:bodyPr lIns="90488" tIns="44450" rIns="90488" bIns="44450"/>
          <a:p>
            <a:r>
              <a:rPr dirty="0"/>
              <a:t>Confidence Interval for Estimating a Population Proportion </a:t>
            </a:r>
            <a:r>
              <a:rPr i="1" dirty="0"/>
              <a:t>p</a:t>
            </a:r>
            <a:endParaRPr i="1" dirty="0"/>
          </a:p>
        </p:txBody>
      </p:sp>
      <p:sp>
        <p:nvSpPr>
          <p:cNvPr id="43010" name="Rectangle 3"/>
          <p:cNvSpPr>
            <a:spLocks noGrp="1"/>
          </p:cNvSpPr>
          <p:nvPr>
            <p:ph type="body" idx="4294967295"/>
          </p:nvPr>
        </p:nvSpPr>
        <p:spPr>
          <a:xfrm>
            <a:off x="1909763" y="1773238"/>
            <a:ext cx="8566150" cy="4710112"/>
          </a:xfrm>
          <a:prstGeom prst="rect">
            <a:avLst/>
          </a:prstGeom>
          <a:noFill/>
          <a:ln w="9525">
            <a:noFill/>
          </a:ln>
        </p:spPr>
        <p:txBody>
          <a:bodyPr lIns="90488" tIns="44450" rIns="90488" bIns="44450"/>
          <a:p>
            <a:pPr marL="454025" indent="-454025">
              <a:spcBef>
                <a:spcPct val="74000"/>
              </a:spcBef>
              <a:buNone/>
            </a:pPr>
            <a:r>
              <a:rPr b="0" dirty="0"/>
              <a:t>1. The sample is a simple random sample. </a:t>
            </a:r>
            <a:endParaRPr b="0" dirty="0"/>
          </a:p>
          <a:p>
            <a:pPr marL="454025" indent="-454025">
              <a:spcBef>
                <a:spcPct val="74000"/>
              </a:spcBef>
              <a:buNone/>
            </a:pPr>
            <a:r>
              <a:rPr b="0" dirty="0"/>
              <a:t>2. The conditions for the binomial distribution are satisfied: there is a fixed number of trials, the trials are independent, there are two categories of outcomes, and the probabilities remain constant for each trial.</a:t>
            </a:r>
            <a:r>
              <a:rPr b="0" dirty="0">
                <a:latin typeface="Helvetica" charset="0"/>
              </a:rPr>
              <a:t> </a:t>
            </a:r>
            <a:endParaRPr b="0" dirty="0"/>
          </a:p>
          <a:p>
            <a:pPr marL="454025" indent="-454025">
              <a:spcBef>
                <a:spcPct val="74000"/>
              </a:spcBef>
              <a:buNone/>
            </a:pPr>
            <a:r>
              <a:rPr b="0" dirty="0"/>
              <a:t>3. There are at least 5 successes and 5 failures.</a:t>
            </a:r>
            <a:endParaRPr b="0"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idx="4294967295"/>
          </p:nvPr>
        </p:nvSpPr>
        <p:spPr>
          <a:xfrm>
            <a:off x="1954213" y="287338"/>
            <a:ext cx="8516937" cy="1143000"/>
          </a:xfrm>
          <a:prstGeom prst="rect">
            <a:avLst/>
          </a:prstGeom>
          <a:noFill/>
          <a:ln w="9525">
            <a:noFill/>
          </a:ln>
        </p:spPr>
        <p:txBody>
          <a:bodyPr lIns="90488" tIns="44450" rIns="90488" bIns="44450"/>
          <a:p>
            <a:r>
              <a:rPr dirty="0"/>
              <a:t>Confidence Interval for Estimating a Population Proportion </a:t>
            </a:r>
            <a:r>
              <a:rPr i="1" dirty="0"/>
              <a:t>p</a:t>
            </a:r>
            <a:endParaRPr i="1" dirty="0"/>
          </a:p>
        </p:txBody>
      </p:sp>
      <p:sp>
        <p:nvSpPr>
          <p:cNvPr id="45058" name="Rectangle 36"/>
          <p:cNvSpPr/>
          <p:nvPr/>
        </p:nvSpPr>
        <p:spPr>
          <a:xfrm>
            <a:off x="5197475" y="3632200"/>
            <a:ext cx="1704340" cy="768350"/>
          </a:xfrm>
          <a:prstGeom prst="rect">
            <a:avLst/>
          </a:prstGeom>
          <a:noFill/>
          <a:ln w="12700">
            <a:noFill/>
          </a:ln>
        </p:spPr>
        <p:txBody>
          <a:bodyPr wrap="none">
            <a:spAutoFit/>
          </a:bodyPr>
          <a:p>
            <a:r>
              <a:rPr sz="4400" dirty="0">
                <a:solidFill>
                  <a:schemeClr val="tx2"/>
                </a:solidFill>
                <a:latin typeface="Arial" panose="020B0604020202020204" pitchFamily="34" charset="0"/>
              </a:rPr>
              <a:t>where</a:t>
            </a:r>
            <a:endParaRPr sz="4400" dirty="0">
              <a:solidFill>
                <a:schemeClr val="tx2"/>
              </a:solidFill>
              <a:latin typeface="Arial" panose="020B0604020202020204" pitchFamily="34" charset="0"/>
            </a:endParaRPr>
          </a:p>
        </p:txBody>
      </p:sp>
      <p:graphicFrame>
        <p:nvGraphicFramePr>
          <p:cNvPr id="45059" name="Object 40"/>
          <p:cNvGraphicFramePr>
            <a:graphicFrameLocks noChangeAspect="1"/>
          </p:cNvGraphicFramePr>
          <p:nvPr/>
        </p:nvGraphicFramePr>
        <p:xfrm>
          <a:off x="4319588" y="4608513"/>
          <a:ext cx="3533775" cy="1685925"/>
        </p:xfrm>
        <a:graphic>
          <a:graphicData uri="http://schemas.openxmlformats.org/presentationml/2006/ole">
            <mc:AlternateContent xmlns:mc="http://schemas.openxmlformats.org/markup-compatibility/2006">
              <mc:Choice xmlns:v="urn:schemas-microsoft-com:vml" Requires="v">
                <p:oleObj spid="_x0000_s3077" name="" r:id="rId1" imgW="2527300" imgH="1206500" progId="Equation.DSMT4">
                  <p:embed/>
                </p:oleObj>
              </mc:Choice>
              <mc:Fallback>
                <p:oleObj name="" r:id="rId1" imgW="2527300" imgH="1206500" progId="Equation.DSMT4">
                  <p:embed/>
                  <p:pic>
                    <p:nvPicPr>
                      <p:cNvPr id="0" name="Picture 3076"/>
                      <p:cNvPicPr/>
                      <p:nvPr/>
                    </p:nvPicPr>
                    <p:blipFill>
                      <a:blip r:embed="rId2"/>
                      <a:stretch>
                        <a:fillRect/>
                      </a:stretch>
                    </p:blipFill>
                    <p:spPr>
                      <a:xfrm>
                        <a:off x="4319588" y="4608513"/>
                        <a:ext cx="3533775" cy="1685925"/>
                      </a:xfrm>
                      <a:prstGeom prst="rect">
                        <a:avLst/>
                      </a:prstGeom>
                      <a:noFill/>
                      <a:ln w="38100">
                        <a:noFill/>
                        <a:miter/>
                      </a:ln>
                    </p:spPr>
                  </p:pic>
                </p:oleObj>
              </mc:Fallback>
            </mc:AlternateContent>
          </a:graphicData>
        </a:graphic>
      </p:graphicFrame>
      <p:pic>
        <p:nvPicPr>
          <p:cNvPr id="45060" name="Picture 11" descr="confidence"/>
          <p:cNvPicPr>
            <a:picLocks noChangeAspect="1"/>
          </p:cNvPicPr>
          <p:nvPr/>
        </p:nvPicPr>
        <p:blipFill>
          <a:blip r:embed="rId3"/>
          <a:stretch>
            <a:fillRect/>
          </a:stretch>
        </p:blipFill>
        <p:spPr>
          <a:xfrm>
            <a:off x="3327400" y="1987550"/>
            <a:ext cx="5889625" cy="927100"/>
          </a:xfrm>
          <a:prstGeom prst="rect">
            <a:avLst/>
          </a:prstGeom>
          <a:noFill/>
          <a:ln w="9525">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a:spLocks noGrp="1"/>
          </p:cNvSpPr>
          <p:nvPr>
            <p:ph type="title" idx="4294967295"/>
          </p:nvPr>
        </p:nvSpPr>
        <p:spPr>
          <a:xfrm>
            <a:off x="1820863" y="254000"/>
            <a:ext cx="8653462" cy="1219200"/>
          </a:xfrm>
          <a:prstGeom prst="rect">
            <a:avLst/>
          </a:prstGeom>
          <a:noFill/>
          <a:ln w="9525">
            <a:noFill/>
          </a:ln>
        </p:spPr>
        <p:txBody>
          <a:bodyPr lIns="90488" tIns="44450" rIns="90488" bIns="44450"/>
          <a:p>
            <a:r>
              <a:rPr dirty="0"/>
              <a:t>Round-Off Rule for </a:t>
            </a:r>
            <a:br>
              <a:rPr dirty="0"/>
            </a:br>
            <a:r>
              <a:rPr dirty="0"/>
              <a:t>Confidence Interval Estimates of </a:t>
            </a:r>
            <a:r>
              <a:rPr i="1" dirty="0"/>
              <a:t>p</a:t>
            </a:r>
            <a:endParaRPr i="1" dirty="0"/>
          </a:p>
        </p:txBody>
      </p:sp>
      <p:sp>
        <p:nvSpPr>
          <p:cNvPr id="49154" name="Rectangle 3"/>
          <p:cNvSpPr>
            <a:spLocks noGrp="1"/>
          </p:cNvSpPr>
          <p:nvPr>
            <p:ph type="body" idx="4294967295"/>
          </p:nvPr>
        </p:nvSpPr>
        <p:spPr>
          <a:xfrm>
            <a:off x="1555433" y="2049780"/>
            <a:ext cx="8551862" cy="3581400"/>
          </a:xfrm>
          <a:prstGeom prst="rect">
            <a:avLst/>
          </a:prstGeom>
          <a:noFill/>
          <a:ln w="9525">
            <a:noFill/>
          </a:ln>
        </p:spPr>
        <p:txBody>
          <a:bodyPr lIns="90488" tIns="44450" rIns="90488" bIns="44450"/>
          <a:p>
            <a:pPr algn="l">
              <a:spcBef>
                <a:spcPct val="0"/>
              </a:spcBef>
              <a:buFontTx/>
              <a:buChar char=" "/>
            </a:pPr>
            <a:r>
              <a:rPr sz="3600" b="0" dirty="0"/>
              <a:t>Round the confidence interval limits for </a:t>
            </a:r>
            <a:r>
              <a:rPr sz="3600" b="0" i="1" dirty="0"/>
              <a:t>p</a:t>
            </a:r>
            <a:r>
              <a:rPr sz="3600" b="0" dirty="0"/>
              <a:t> to </a:t>
            </a:r>
            <a:r>
              <a:rPr sz="3600" b="0" dirty="0">
                <a:solidFill>
                  <a:schemeClr val="tx2"/>
                </a:solidFill>
              </a:rPr>
              <a:t>three significant digits</a:t>
            </a:r>
            <a:r>
              <a:rPr sz="3600" b="0" dirty="0"/>
              <a:t>.</a:t>
            </a:r>
            <a:endParaRPr sz="3600" b="0"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3"/>
          <p:cNvSpPr>
            <a:spLocks noGrp="1"/>
          </p:cNvSpPr>
          <p:nvPr>
            <p:ph type="body" idx="4294967295"/>
          </p:nvPr>
        </p:nvSpPr>
        <p:spPr>
          <a:xfrm>
            <a:off x="880110" y="1478280"/>
            <a:ext cx="9707245" cy="5029200"/>
          </a:xfrm>
          <a:prstGeom prst="rect">
            <a:avLst/>
          </a:prstGeom>
          <a:noFill/>
          <a:ln w="9525">
            <a:noFill/>
          </a:ln>
        </p:spPr>
        <p:txBody>
          <a:bodyPr lIns="90488" tIns="44450" rIns="90488" bIns="44450"/>
          <a:p>
            <a:pPr marL="533400" indent="-533400">
              <a:buClr>
                <a:schemeClr val="tx1"/>
              </a:buClr>
              <a:buFont typeface="Wingdings" panose="05000000000000000000" pitchFamily="2" charset="2"/>
              <a:buNone/>
            </a:pPr>
            <a:r>
              <a:rPr b="0" dirty="0"/>
              <a:t>1.	Verify that the required assumptions are satisfied.  (The sample is a simple random sample, the conditions for the binomial distribution are satisfied, and the normal distribution can be used to approximate the distribution of sample proportions because </a:t>
            </a:r>
            <a:r>
              <a:rPr b="0" i="1" dirty="0"/>
              <a:t>np</a:t>
            </a:r>
            <a:r>
              <a:rPr b="0" dirty="0"/>
              <a:t> ≥ 5</a:t>
            </a:r>
            <a:r>
              <a:rPr b="0" dirty="0">
                <a:sym typeface="Symbol" panose="05050102010706020507" charset="2"/>
              </a:rPr>
              <a:t>, and </a:t>
            </a:r>
            <a:r>
              <a:rPr b="0" i="1" dirty="0">
                <a:sym typeface="Symbol" panose="05050102010706020507" charset="2"/>
              </a:rPr>
              <a:t>nq</a:t>
            </a:r>
            <a:r>
              <a:rPr b="0" dirty="0">
                <a:sym typeface="Symbol" panose="05050102010706020507" charset="2"/>
              </a:rPr>
              <a:t> ≥ 5 are both satisfied.)</a:t>
            </a:r>
            <a:endParaRPr b="0" dirty="0">
              <a:sym typeface="Symbol" panose="05050102010706020507" charset="2"/>
            </a:endParaRPr>
          </a:p>
          <a:p>
            <a:pPr marL="533400" indent="-533400">
              <a:buFont typeface="Wingdings" panose="05000000000000000000" pitchFamily="2" charset="2"/>
              <a:buNone/>
            </a:pPr>
            <a:endParaRPr b="0" dirty="0"/>
          </a:p>
          <a:p>
            <a:pPr marL="533400" indent="-533400">
              <a:buFont typeface="Wingdings" panose="05000000000000000000" pitchFamily="2" charset="2"/>
              <a:buNone/>
            </a:pPr>
            <a:r>
              <a:rPr b="0" dirty="0"/>
              <a:t>2.   Refer to Table A-2 and find the critical value</a:t>
            </a:r>
            <a:r>
              <a:rPr b="0" i="1" dirty="0"/>
              <a:t> z</a:t>
            </a:r>
            <a:r>
              <a:rPr lang="el-GR" altLang="x-none" b="0" i="1" baseline="-25000" dirty="0"/>
              <a:t>α</a:t>
            </a:r>
            <a:r>
              <a:rPr b="0" baseline="-25000" dirty="0"/>
              <a:t>/2</a:t>
            </a:r>
            <a:r>
              <a:rPr b="0" dirty="0"/>
              <a:t> that corresponds to the desired confidence level.</a:t>
            </a:r>
            <a:endParaRPr b="0" dirty="0"/>
          </a:p>
          <a:p>
            <a:pPr marL="533400" indent="-533400">
              <a:buFont typeface="Wingdings" panose="05000000000000000000" pitchFamily="2" charset="2"/>
              <a:buNone/>
            </a:pPr>
            <a:endParaRPr b="0" dirty="0">
              <a:sym typeface="Symbol" panose="05050102010706020507" charset="2"/>
            </a:endParaRPr>
          </a:p>
          <a:p>
            <a:pPr marL="533400" indent="-533400">
              <a:buFont typeface="Wingdings" panose="05000000000000000000" pitchFamily="2" charset="2"/>
              <a:buNone/>
            </a:pPr>
            <a:r>
              <a:rPr b="0" dirty="0">
                <a:sym typeface="Symbol" panose="05050102010706020507" charset="2"/>
              </a:rPr>
              <a:t>3.   Evaluate the margin of error</a:t>
            </a:r>
            <a:endParaRPr b="0" i="1" dirty="0"/>
          </a:p>
        </p:txBody>
      </p:sp>
      <p:sp>
        <p:nvSpPr>
          <p:cNvPr id="51202" name="Rectangle 2"/>
          <p:cNvSpPr>
            <a:spLocks noGrp="1"/>
          </p:cNvSpPr>
          <p:nvPr>
            <p:ph type="title" idx="4294967295"/>
          </p:nvPr>
        </p:nvSpPr>
        <p:spPr>
          <a:xfrm>
            <a:off x="1493520" y="304800"/>
            <a:ext cx="8153400" cy="1117600"/>
          </a:xfrm>
          <a:prstGeom prst="rect">
            <a:avLst/>
          </a:prstGeom>
          <a:noFill/>
          <a:ln w="9525">
            <a:noFill/>
          </a:ln>
        </p:spPr>
        <p:txBody>
          <a:bodyPr lIns="90488" tIns="44450" rIns="90488" bIns="44450"/>
          <a:p>
            <a:pPr>
              <a:spcBef>
                <a:spcPct val="4000"/>
              </a:spcBef>
            </a:pPr>
            <a:r>
              <a:rPr dirty="0"/>
              <a:t>Procedure for Constructing </a:t>
            </a:r>
            <a:br>
              <a:rPr dirty="0"/>
            </a:br>
            <a:r>
              <a:rPr dirty="0"/>
              <a:t>a Confidence Interval for </a:t>
            </a:r>
            <a:r>
              <a:rPr i="1" dirty="0"/>
              <a:t>p</a:t>
            </a:r>
            <a:endParaRPr dirty="0"/>
          </a:p>
        </p:txBody>
      </p:sp>
      <p:graphicFrame>
        <p:nvGraphicFramePr>
          <p:cNvPr id="51203" name="Object 20"/>
          <p:cNvGraphicFramePr>
            <a:graphicFrameLocks noChangeAspect="1"/>
          </p:cNvGraphicFramePr>
          <p:nvPr/>
        </p:nvGraphicFramePr>
        <p:xfrm>
          <a:off x="4438015" y="4888865"/>
          <a:ext cx="2590800" cy="647700"/>
        </p:xfrm>
        <a:graphic>
          <a:graphicData uri="http://schemas.openxmlformats.org/presentationml/2006/ole">
            <mc:AlternateContent xmlns:mc="http://schemas.openxmlformats.org/markup-compatibility/2006">
              <mc:Choice xmlns:v="urn:schemas-microsoft-com:vml" Requires="v">
                <p:oleObj spid="_x0000_s3080" name="" r:id="rId1" imgW="2590800" imgH="647700" progId="Equation.DSMT4">
                  <p:embed/>
                </p:oleObj>
              </mc:Choice>
              <mc:Fallback>
                <p:oleObj name="" r:id="rId1" imgW="2590800" imgH="647700" progId="Equation.DSMT4">
                  <p:embed/>
                  <p:pic>
                    <p:nvPicPr>
                      <p:cNvPr id="0" name="Picture 3079"/>
                      <p:cNvPicPr/>
                      <p:nvPr/>
                    </p:nvPicPr>
                    <p:blipFill>
                      <a:blip r:embed="rId2"/>
                      <a:stretch>
                        <a:fillRect/>
                      </a:stretch>
                    </p:blipFill>
                    <p:spPr>
                      <a:xfrm>
                        <a:off x="4438015" y="4888865"/>
                        <a:ext cx="2590800" cy="647700"/>
                      </a:xfrm>
                      <a:prstGeom prst="rect">
                        <a:avLst/>
                      </a:prstGeom>
                      <a:noFill/>
                      <a:ln w="38100">
                        <a:noFill/>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a:spLocks noGrp="1"/>
          </p:cNvSpPr>
          <p:nvPr>
            <p:ph type="body" idx="4294967295"/>
          </p:nvPr>
        </p:nvSpPr>
        <p:spPr>
          <a:xfrm>
            <a:off x="1221105" y="1955800"/>
            <a:ext cx="8989695" cy="2819400"/>
          </a:xfrm>
          <a:prstGeom prst="rect">
            <a:avLst/>
          </a:prstGeom>
          <a:noFill/>
          <a:ln w="9525">
            <a:noFill/>
          </a:ln>
        </p:spPr>
        <p:txBody>
          <a:bodyPr lIns="90488" tIns="44450" rIns="90488" bIns="44450"/>
          <a:p>
            <a:pPr marL="457200" indent="-457200">
              <a:buFont typeface="Wingdings" panose="05000000000000000000" pitchFamily="2" charset="2"/>
              <a:buNone/>
            </a:pPr>
            <a:r>
              <a:rPr b="0" dirty="0"/>
              <a:t>4.  Using the value of the calculated margin of error </a:t>
            </a:r>
            <a:r>
              <a:rPr b="0" i="1" dirty="0"/>
              <a:t>E</a:t>
            </a:r>
            <a:r>
              <a:rPr b="0" dirty="0"/>
              <a:t> and the value of the sample proportion,</a:t>
            </a:r>
            <a:r>
              <a:rPr lang="en-US" b="0" dirty="0"/>
              <a:t> </a:t>
            </a:r>
            <a:r>
              <a:rPr b="0" dirty="0"/>
              <a:t>    , find the values of </a:t>
            </a:r>
            <a:r>
              <a:rPr b="0" dirty="0">
                <a:solidFill>
                  <a:schemeClr val="hlink"/>
                </a:solidFill>
              </a:rPr>
              <a:t>            </a:t>
            </a:r>
            <a:r>
              <a:rPr b="0" dirty="0"/>
              <a:t>and           .  Substitute those values in the general format for the confidence interval: </a:t>
            </a:r>
            <a:endParaRPr b="0" dirty="0"/>
          </a:p>
        </p:txBody>
      </p:sp>
      <p:sp>
        <p:nvSpPr>
          <p:cNvPr id="53250" name="Rectangle 22"/>
          <p:cNvSpPr/>
          <p:nvPr/>
        </p:nvSpPr>
        <p:spPr>
          <a:xfrm>
            <a:off x="1221105" y="5198745"/>
            <a:ext cx="8913495" cy="1076325"/>
          </a:xfrm>
          <a:prstGeom prst="rect">
            <a:avLst/>
          </a:prstGeom>
          <a:noFill/>
          <a:ln w="12700">
            <a:noFill/>
          </a:ln>
        </p:spPr>
        <p:txBody>
          <a:bodyPr wrap="square">
            <a:spAutoFit/>
          </a:bodyPr>
          <a:p>
            <a:pPr marL="457200" indent="-457200">
              <a:buClr>
                <a:schemeClr val="accent2"/>
              </a:buClr>
              <a:buFont typeface="Wingdings" panose="05000000000000000000" pitchFamily="2" charset="2"/>
            </a:pPr>
            <a:r>
              <a:rPr sz="3200" b="0" dirty="0">
                <a:latin typeface="Arial" panose="020B0604020202020204" pitchFamily="34" charset="0"/>
              </a:rPr>
              <a:t>5.  Round the resulting confidence interval limits to three significant digits.</a:t>
            </a:r>
            <a:endParaRPr sz="3200" b="0" dirty="0">
              <a:latin typeface="Arial" panose="020B0604020202020204" pitchFamily="34" charset="0"/>
            </a:endParaRPr>
          </a:p>
        </p:txBody>
      </p:sp>
      <p:sp>
        <p:nvSpPr>
          <p:cNvPr id="53251" name="Rectangle 24"/>
          <p:cNvSpPr>
            <a:spLocks noGrp="1"/>
          </p:cNvSpPr>
          <p:nvPr>
            <p:ph type="title" idx="4294967295"/>
          </p:nvPr>
        </p:nvSpPr>
        <p:spPr>
          <a:xfrm>
            <a:off x="2019300" y="304800"/>
            <a:ext cx="8153400" cy="1117600"/>
          </a:xfrm>
          <a:prstGeom prst="rect">
            <a:avLst/>
          </a:prstGeom>
          <a:noFill/>
          <a:ln w="9525">
            <a:noFill/>
          </a:ln>
        </p:spPr>
        <p:txBody>
          <a:bodyPr lIns="90488" tIns="44450" rIns="90488" bIns="44450"/>
          <a:p>
            <a:r>
              <a:rPr dirty="0"/>
              <a:t>Procedure for Constructing </a:t>
            </a:r>
            <a:br>
              <a:rPr dirty="0"/>
            </a:br>
            <a:r>
              <a:rPr dirty="0"/>
              <a:t>a Confidence Interval for </a:t>
            </a:r>
            <a:r>
              <a:rPr i="1" dirty="0"/>
              <a:t>p - </a:t>
            </a:r>
            <a:r>
              <a:rPr dirty="0"/>
              <a:t>cont</a:t>
            </a:r>
            <a:endParaRPr dirty="0"/>
          </a:p>
        </p:txBody>
      </p:sp>
      <p:pic>
        <p:nvPicPr>
          <p:cNvPr id="53252" name="Picture 11" descr="definition1"/>
          <p:cNvPicPr>
            <a:picLocks noChangeAspect="1"/>
          </p:cNvPicPr>
          <p:nvPr/>
        </p:nvPicPr>
        <p:blipFill>
          <a:blip r:embed="rId1"/>
          <a:stretch>
            <a:fillRect/>
          </a:stretch>
        </p:blipFill>
        <p:spPr>
          <a:xfrm>
            <a:off x="3886200" y="2954020"/>
            <a:ext cx="351790" cy="543560"/>
          </a:xfrm>
          <a:prstGeom prst="rect">
            <a:avLst/>
          </a:prstGeom>
          <a:noFill/>
          <a:ln w="9525">
            <a:noFill/>
          </a:ln>
        </p:spPr>
      </p:pic>
      <p:pic>
        <p:nvPicPr>
          <p:cNvPr id="53253" name="Picture 13" descr="confidence"/>
          <p:cNvPicPr>
            <a:picLocks noChangeAspect="1"/>
          </p:cNvPicPr>
          <p:nvPr/>
        </p:nvPicPr>
        <p:blipFill>
          <a:blip r:embed="rId2"/>
          <a:stretch>
            <a:fillRect/>
          </a:stretch>
        </p:blipFill>
        <p:spPr>
          <a:xfrm>
            <a:off x="3532505" y="4537075"/>
            <a:ext cx="3462655" cy="544830"/>
          </a:xfrm>
          <a:prstGeom prst="rect">
            <a:avLst/>
          </a:prstGeom>
          <a:noFill/>
          <a:ln w="9525">
            <a:noFill/>
          </a:ln>
        </p:spPr>
      </p:pic>
      <p:pic>
        <p:nvPicPr>
          <p:cNvPr id="53254" name="Picture 14" descr="p+e"/>
          <p:cNvPicPr>
            <a:picLocks noChangeAspect="1"/>
          </p:cNvPicPr>
          <p:nvPr/>
        </p:nvPicPr>
        <p:blipFill>
          <a:blip r:embed="rId3"/>
          <a:stretch>
            <a:fillRect/>
          </a:stretch>
        </p:blipFill>
        <p:spPr>
          <a:xfrm>
            <a:off x="2681605" y="3509645"/>
            <a:ext cx="923925" cy="447675"/>
          </a:xfrm>
          <a:prstGeom prst="rect">
            <a:avLst/>
          </a:prstGeom>
          <a:noFill/>
          <a:ln w="9525">
            <a:noFill/>
          </a:ln>
        </p:spPr>
      </p:pic>
      <p:pic>
        <p:nvPicPr>
          <p:cNvPr id="53255" name="Picture 15" descr="p-e"/>
          <p:cNvPicPr>
            <a:picLocks noChangeAspect="1"/>
          </p:cNvPicPr>
          <p:nvPr/>
        </p:nvPicPr>
        <p:blipFill>
          <a:blip r:embed="rId4"/>
          <a:stretch>
            <a:fillRect/>
          </a:stretch>
        </p:blipFill>
        <p:spPr>
          <a:xfrm>
            <a:off x="7774305" y="2979420"/>
            <a:ext cx="1014095" cy="491490"/>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2"/>
          <p:cNvSpPr>
            <a:spLocks noGrp="1"/>
          </p:cNvSpPr>
          <p:nvPr>
            <p:ph type="title" idx="4294967295"/>
          </p:nvPr>
        </p:nvSpPr>
        <p:spPr>
          <a:xfrm>
            <a:off x="1219200" y="281305"/>
            <a:ext cx="8305800" cy="552450"/>
          </a:xfrm>
          <a:prstGeom prst="rect">
            <a:avLst/>
          </a:prstGeom>
          <a:noFill/>
          <a:ln w="9525">
            <a:noFill/>
          </a:ln>
        </p:spPr>
        <p:txBody>
          <a:bodyPr lIns="90488" tIns="44450" rIns="90488" bIns="44450"/>
          <a:p>
            <a:r>
              <a:rPr sz="3200" b="1" dirty="0"/>
              <a:t>Example</a:t>
            </a:r>
            <a:endParaRPr sz="3200" b="1" dirty="0">
              <a:solidFill>
                <a:schemeClr val="tx1"/>
              </a:solidFill>
            </a:endParaRPr>
          </a:p>
        </p:txBody>
      </p:sp>
      <p:sp>
        <p:nvSpPr>
          <p:cNvPr id="55298" name="Rectangle 3"/>
          <p:cNvSpPr>
            <a:spLocks noGrp="1"/>
          </p:cNvSpPr>
          <p:nvPr>
            <p:ph type="body" idx="4294967295"/>
          </p:nvPr>
        </p:nvSpPr>
        <p:spPr>
          <a:xfrm>
            <a:off x="711835" y="2494280"/>
            <a:ext cx="9504045" cy="2940050"/>
          </a:xfrm>
          <a:prstGeom prst="rect">
            <a:avLst/>
          </a:prstGeom>
          <a:noFill/>
          <a:ln w="9525">
            <a:noFill/>
          </a:ln>
        </p:spPr>
        <p:txBody>
          <a:bodyPr lIns="90488" tIns="44450" rIns="90488" bIns="44450"/>
          <a:p>
            <a:pPr marL="406400" indent="-406400">
              <a:buFont typeface="Wingdings" panose="05000000000000000000" pitchFamily="2" charset="2"/>
              <a:buNone/>
            </a:pPr>
            <a:r>
              <a:rPr sz="2800" b="0" dirty="0"/>
              <a:t>a.	Find the margin of error </a:t>
            </a:r>
            <a:r>
              <a:rPr sz="2800" b="0" i="1" dirty="0"/>
              <a:t>E</a:t>
            </a:r>
            <a:r>
              <a:rPr sz="2800" b="0" dirty="0"/>
              <a:t> that corresponds to a 95% confidence level.</a:t>
            </a:r>
            <a:endParaRPr sz="2800" b="0" dirty="0"/>
          </a:p>
          <a:p>
            <a:pPr marL="406400" indent="-406400">
              <a:buFont typeface="Wingdings" panose="05000000000000000000" pitchFamily="2" charset="2"/>
              <a:buNone/>
            </a:pPr>
            <a:r>
              <a:rPr sz="2800" b="0" dirty="0"/>
              <a:t>b.	Find the 95% confidence interval estimate of the population proportion </a:t>
            </a:r>
            <a:r>
              <a:rPr sz="2800" b="0" i="1" dirty="0"/>
              <a:t>p</a:t>
            </a:r>
            <a:r>
              <a:rPr sz="2800" b="0" dirty="0"/>
              <a:t>.</a:t>
            </a:r>
            <a:endParaRPr sz="2800" b="0" dirty="0"/>
          </a:p>
          <a:p>
            <a:pPr marL="406400" indent="-406400">
              <a:buFont typeface="Wingdings" panose="05000000000000000000" pitchFamily="2" charset="2"/>
              <a:buNone/>
            </a:pPr>
            <a:r>
              <a:rPr sz="2800" b="0" dirty="0"/>
              <a:t>c.	Based on the results, can we safely conclude that more than 75% of adults know what Twitter is?</a:t>
            </a:r>
            <a:endParaRPr sz="2800" b="0" dirty="0"/>
          </a:p>
          <a:p>
            <a:pPr marL="406400" indent="-406400">
              <a:buFont typeface="Wingdings" panose="05000000000000000000" pitchFamily="2" charset="2"/>
              <a:buNone/>
            </a:pPr>
            <a:r>
              <a:rPr sz="2800" b="0" dirty="0"/>
              <a:t>d.	Assuming that you are a newspaper reporter, write a brief statement that accurately describes the results and includes all of the relevant information.</a:t>
            </a:r>
            <a:endParaRPr sz="2800" b="0" dirty="0"/>
          </a:p>
        </p:txBody>
      </p:sp>
      <p:sp>
        <p:nvSpPr>
          <p:cNvPr id="55299" name="Rectangle 5"/>
          <p:cNvSpPr/>
          <p:nvPr/>
        </p:nvSpPr>
        <p:spPr>
          <a:xfrm>
            <a:off x="3032125" y="3017838"/>
            <a:ext cx="420688" cy="476250"/>
          </a:xfrm>
          <a:prstGeom prst="rect">
            <a:avLst/>
          </a:prstGeom>
          <a:noFill/>
          <a:ln w="9525">
            <a:noFill/>
          </a:ln>
        </p:spPr>
        <p:txBody>
          <a:bodyPr wrap="none" anchor="ctr" anchorCtr="0"/>
          <a:p>
            <a:endParaRPr sz="2400" b="0" dirty="0">
              <a:latin typeface="Arial" panose="020B0604020202020204" pitchFamily="34" charset="0"/>
            </a:endParaRPr>
          </a:p>
        </p:txBody>
      </p:sp>
      <p:sp>
        <p:nvSpPr>
          <p:cNvPr id="55300" name="Rectangle 6"/>
          <p:cNvSpPr/>
          <p:nvPr/>
        </p:nvSpPr>
        <p:spPr>
          <a:xfrm>
            <a:off x="3260725" y="2989263"/>
            <a:ext cx="296863" cy="312737"/>
          </a:xfrm>
          <a:prstGeom prst="rect">
            <a:avLst/>
          </a:prstGeom>
          <a:noFill/>
          <a:ln w="9525">
            <a:noFill/>
          </a:ln>
        </p:spPr>
        <p:txBody>
          <a:bodyPr wrap="none" anchor="ctr" anchorCtr="0"/>
          <a:p>
            <a:endParaRPr sz="2400" b="0" dirty="0">
              <a:latin typeface="Arial" panose="020B0604020202020204" pitchFamily="34" charset="0"/>
            </a:endParaRPr>
          </a:p>
        </p:txBody>
      </p:sp>
      <p:sp>
        <p:nvSpPr>
          <p:cNvPr id="55301" name="Rectangle 7"/>
          <p:cNvSpPr/>
          <p:nvPr/>
        </p:nvSpPr>
        <p:spPr>
          <a:xfrm>
            <a:off x="2036763" y="3513138"/>
            <a:ext cx="264795" cy="937260"/>
          </a:xfrm>
          <a:prstGeom prst="rect">
            <a:avLst/>
          </a:prstGeom>
          <a:noFill/>
          <a:ln w="9525">
            <a:noFill/>
          </a:ln>
        </p:spPr>
        <p:txBody>
          <a:bodyPr wrap="none" lIns="90488" tIns="44450" rIns="90488" bIns="44450">
            <a:spAutoFit/>
          </a:bodyPr>
          <a:p>
            <a:pPr>
              <a:spcBef>
                <a:spcPct val="30000"/>
              </a:spcBef>
            </a:pPr>
            <a:r>
              <a:rPr sz="2400" b="0" dirty="0">
                <a:solidFill>
                  <a:schemeClr val="hlink"/>
                </a:solidFill>
                <a:latin typeface="Arial" panose="020B0604020202020204" pitchFamily="34" charset="0"/>
              </a:rPr>
              <a:t> </a:t>
            </a:r>
            <a:endParaRPr sz="2400" b="0" dirty="0">
              <a:solidFill>
                <a:schemeClr val="tx2"/>
              </a:solidFill>
              <a:latin typeface="Arial" panose="020B0604020202020204" pitchFamily="34" charset="0"/>
            </a:endParaRPr>
          </a:p>
          <a:p>
            <a:pPr>
              <a:spcBef>
                <a:spcPct val="30000"/>
              </a:spcBef>
            </a:pPr>
            <a:endParaRPr sz="2400" b="0" dirty="0">
              <a:solidFill>
                <a:schemeClr val="tx2"/>
              </a:solidFill>
              <a:latin typeface="Arial" panose="020B0604020202020204" pitchFamily="34" charset="0"/>
            </a:endParaRPr>
          </a:p>
        </p:txBody>
      </p:sp>
      <p:sp>
        <p:nvSpPr>
          <p:cNvPr id="55302" name="Rectangle 10"/>
          <p:cNvSpPr/>
          <p:nvPr/>
        </p:nvSpPr>
        <p:spPr>
          <a:xfrm>
            <a:off x="1101725" y="833755"/>
            <a:ext cx="9284970" cy="2432050"/>
          </a:xfrm>
          <a:prstGeom prst="rect">
            <a:avLst/>
          </a:prstGeom>
          <a:noFill/>
          <a:ln w="9525">
            <a:noFill/>
          </a:ln>
        </p:spPr>
        <p:txBody>
          <a:bodyPr lIns="90488" tIns="44450" rIns="90488" bIns="44450"/>
          <a:p>
            <a:pPr marL="11430" indent="-11430"/>
            <a:r>
              <a:rPr sz="2800" b="0" dirty="0">
                <a:latin typeface="Arial" panose="020B0604020202020204" pitchFamily="34" charset="0"/>
              </a:rPr>
              <a:t>In the</a:t>
            </a:r>
            <a:r>
              <a:rPr sz="2800" b="0" dirty="0">
                <a:latin typeface="Helvetica" charset="0"/>
              </a:rPr>
              <a:t> </a:t>
            </a:r>
            <a:r>
              <a:rPr sz="2800" b="0" dirty="0">
                <a:latin typeface="Arial" panose="020B0604020202020204" pitchFamily="34" charset="0"/>
              </a:rPr>
              <a:t>Chapter Problem we noted that a Pew Research Center poll of 1007 randomly selected adults showed that 85% of </a:t>
            </a:r>
            <a:r>
              <a:rPr sz="2800" b="0" dirty="0">
                <a:latin typeface="Arial" panose="020B0604020202020204" pitchFamily="34" charset="0"/>
              </a:rPr>
              <a:t>respondents know what Twitter is.  The sample results are </a:t>
            </a:r>
            <a:r>
              <a:rPr sz="2800" b="0" i="1" dirty="0">
                <a:latin typeface="Arial" panose="020B0604020202020204" pitchFamily="34" charset="0"/>
              </a:rPr>
              <a:t>n</a:t>
            </a:r>
            <a:r>
              <a:rPr sz="2800" b="0" dirty="0">
                <a:latin typeface="Arial" panose="020B0604020202020204" pitchFamily="34" charset="0"/>
              </a:rPr>
              <a:t> = 1007 and </a:t>
            </a:r>
            <a:endParaRPr sz="2800" b="0" dirty="0">
              <a:latin typeface="Arial" panose="020B0604020202020204" pitchFamily="34" charset="0"/>
            </a:endParaRPr>
          </a:p>
        </p:txBody>
      </p:sp>
      <p:graphicFrame>
        <p:nvGraphicFramePr>
          <p:cNvPr id="55303" name="Object 11"/>
          <p:cNvGraphicFramePr>
            <a:graphicFrameLocks noChangeAspect="1"/>
          </p:cNvGraphicFramePr>
          <p:nvPr/>
        </p:nvGraphicFramePr>
        <p:xfrm>
          <a:off x="5175250" y="2156460"/>
          <a:ext cx="1360805" cy="433705"/>
        </p:xfrm>
        <a:graphic>
          <a:graphicData uri="http://schemas.openxmlformats.org/presentationml/2006/ole">
            <mc:AlternateContent xmlns:mc="http://schemas.openxmlformats.org/markup-compatibility/2006">
              <mc:Choice xmlns:v="urn:schemas-microsoft-com:vml" Requires="v">
                <p:oleObj spid="_x0000_s3081" name="" r:id="rId1" imgW="1151890" imgH="365760" progId="Equation.DSMT4">
                  <p:embed/>
                </p:oleObj>
              </mc:Choice>
              <mc:Fallback>
                <p:oleObj name="" r:id="rId1" imgW="1151890" imgH="365760" progId="Equation.DSMT4">
                  <p:embed/>
                  <p:pic>
                    <p:nvPicPr>
                      <p:cNvPr id="0" name="Picture 3080"/>
                      <p:cNvPicPr/>
                      <p:nvPr/>
                    </p:nvPicPr>
                    <p:blipFill>
                      <a:blip r:embed="rId2"/>
                      <a:stretch>
                        <a:fillRect/>
                      </a:stretch>
                    </p:blipFill>
                    <p:spPr>
                      <a:xfrm>
                        <a:off x="5175250" y="2156460"/>
                        <a:ext cx="1360805" cy="433705"/>
                      </a:xfrm>
                      <a:prstGeom prst="rect">
                        <a:avLst/>
                      </a:prstGeom>
                      <a:noFill/>
                      <a:ln w="38100">
                        <a:noFill/>
                        <a:miter/>
                      </a:ln>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3"/>
          <p:cNvSpPr>
            <a:spLocks noGrp="1"/>
          </p:cNvSpPr>
          <p:nvPr>
            <p:ph type="body" idx="4294967295"/>
          </p:nvPr>
        </p:nvSpPr>
        <p:spPr>
          <a:xfrm>
            <a:off x="2057400" y="881063"/>
            <a:ext cx="7772400" cy="2379662"/>
          </a:xfrm>
          <a:prstGeom prst="rect">
            <a:avLst/>
          </a:prstGeom>
          <a:noFill/>
          <a:ln w="9525">
            <a:noFill/>
          </a:ln>
        </p:spPr>
        <p:txBody>
          <a:bodyPr lIns="90488" tIns="44450" rIns="90488" bIns="44450"/>
          <a:p>
            <a:pPr marL="11430" indent="-11430">
              <a:lnSpc>
                <a:spcPct val="88000"/>
              </a:lnSpc>
              <a:buFont typeface="Wingdings" panose="05000000000000000000" pitchFamily="2" charset="2"/>
              <a:buNone/>
            </a:pPr>
            <a:r>
              <a:rPr dirty="0"/>
              <a:t>Requirement check</a:t>
            </a:r>
            <a:r>
              <a:rPr b="0" dirty="0"/>
              <a:t>: simple random sample; fixed number of trials, 1007; trials are independent; two outcomes per trial; probability remains constant. Note: number of successes and failures are both at least 5.</a:t>
            </a:r>
            <a:endParaRPr b="0" dirty="0"/>
          </a:p>
        </p:txBody>
      </p:sp>
      <p:sp>
        <p:nvSpPr>
          <p:cNvPr id="57346" name="Rectangle 4"/>
          <p:cNvSpPr/>
          <p:nvPr/>
        </p:nvSpPr>
        <p:spPr>
          <a:xfrm>
            <a:off x="3438525" y="2528888"/>
            <a:ext cx="354013" cy="641350"/>
          </a:xfrm>
          <a:prstGeom prst="rect">
            <a:avLst/>
          </a:prstGeom>
          <a:noFill/>
          <a:ln w="9525">
            <a:noFill/>
          </a:ln>
        </p:spPr>
        <p:txBody>
          <a:bodyPr wrap="none" anchor="ctr" anchorCtr="0"/>
          <a:p>
            <a:endParaRPr b="0" dirty="0">
              <a:latin typeface="Arial" panose="020B0604020202020204" pitchFamily="34" charset="0"/>
            </a:endParaRPr>
          </a:p>
        </p:txBody>
      </p:sp>
      <p:sp>
        <p:nvSpPr>
          <p:cNvPr id="57347" name="Rectangle 5"/>
          <p:cNvSpPr/>
          <p:nvPr/>
        </p:nvSpPr>
        <p:spPr>
          <a:xfrm>
            <a:off x="3108325" y="3281363"/>
            <a:ext cx="420688" cy="476250"/>
          </a:xfrm>
          <a:prstGeom prst="rect">
            <a:avLst/>
          </a:prstGeom>
          <a:noFill/>
          <a:ln w="9525">
            <a:noFill/>
          </a:ln>
        </p:spPr>
        <p:txBody>
          <a:bodyPr wrap="none" anchor="ctr" anchorCtr="0"/>
          <a:p>
            <a:endParaRPr b="0" dirty="0">
              <a:latin typeface="Arial" panose="020B0604020202020204" pitchFamily="34" charset="0"/>
            </a:endParaRPr>
          </a:p>
        </p:txBody>
      </p:sp>
      <p:sp>
        <p:nvSpPr>
          <p:cNvPr id="57348" name="Rectangle 6"/>
          <p:cNvSpPr/>
          <p:nvPr/>
        </p:nvSpPr>
        <p:spPr>
          <a:xfrm>
            <a:off x="3336925" y="3252788"/>
            <a:ext cx="296863" cy="312737"/>
          </a:xfrm>
          <a:prstGeom prst="rect">
            <a:avLst/>
          </a:prstGeom>
          <a:noFill/>
          <a:ln w="9525">
            <a:noFill/>
          </a:ln>
        </p:spPr>
        <p:txBody>
          <a:bodyPr wrap="none" anchor="ctr" anchorCtr="0"/>
          <a:p>
            <a:endParaRPr b="0" dirty="0">
              <a:latin typeface="Arial" panose="020B0604020202020204" pitchFamily="34" charset="0"/>
            </a:endParaRPr>
          </a:p>
        </p:txBody>
      </p:sp>
      <p:sp>
        <p:nvSpPr>
          <p:cNvPr id="57349" name="Rectangle 7"/>
          <p:cNvSpPr/>
          <p:nvPr/>
        </p:nvSpPr>
        <p:spPr>
          <a:xfrm>
            <a:off x="2112963" y="3776663"/>
            <a:ext cx="264795" cy="937260"/>
          </a:xfrm>
          <a:prstGeom prst="rect">
            <a:avLst/>
          </a:prstGeom>
          <a:noFill/>
          <a:ln w="9525">
            <a:noFill/>
          </a:ln>
        </p:spPr>
        <p:txBody>
          <a:bodyPr wrap="none" lIns="90488" tIns="44450" rIns="90488" bIns="44450">
            <a:spAutoFit/>
          </a:bodyPr>
          <a:p>
            <a:pPr>
              <a:spcBef>
                <a:spcPct val="30000"/>
              </a:spcBef>
            </a:pPr>
            <a:r>
              <a:rPr sz="2400" b="0" dirty="0">
                <a:solidFill>
                  <a:schemeClr val="hlink"/>
                </a:solidFill>
                <a:latin typeface="Arial" panose="020B0604020202020204" pitchFamily="34" charset="0"/>
              </a:rPr>
              <a:t> </a:t>
            </a:r>
            <a:endParaRPr sz="2400" b="0" dirty="0">
              <a:solidFill>
                <a:schemeClr val="tx2"/>
              </a:solidFill>
              <a:latin typeface="Arial" panose="020B0604020202020204" pitchFamily="34" charset="0"/>
            </a:endParaRPr>
          </a:p>
          <a:p>
            <a:pPr>
              <a:spcBef>
                <a:spcPct val="30000"/>
              </a:spcBef>
            </a:pPr>
            <a:endParaRPr sz="2400" b="0" dirty="0">
              <a:solidFill>
                <a:schemeClr val="tx2"/>
              </a:solidFill>
              <a:latin typeface="Arial" panose="020B0604020202020204" pitchFamily="34" charset="0"/>
            </a:endParaRPr>
          </a:p>
        </p:txBody>
      </p:sp>
      <p:sp>
        <p:nvSpPr>
          <p:cNvPr id="57350" name="Rectangle 8"/>
          <p:cNvSpPr/>
          <p:nvPr/>
        </p:nvSpPr>
        <p:spPr>
          <a:xfrm>
            <a:off x="3489325" y="4391025"/>
            <a:ext cx="890588" cy="420688"/>
          </a:xfrm>
          <a:prstGeom prst="rect">
            <a:avLst/>
          </a:prstGeom>
          <a:noFill/>
          <a:ln w="9525">
            <a:noFill/>
          </a:ln>
        </p:spPr>
        <p:txBody>
          <a:bodyPr wrap="none" anchor="ctr" anchorCtr="0"/>
          <a:p>
            <a:endParaRPr b="0" dirty="0">
              <a:latin typeface="Arial" panose="020B0604020202020204" pitchFamily="34" charset="0"/>
            </a:endParaRPr>
          </a:p>
        </p:txBody>
      </p:sp>
      <p:sp>
        <p:nvSpPr>
          <p:cNvPr id="57351" name="Rectangle 9"/>
          <p:cNvSpPr/>
          <p:nvPr/>
        </p:nvSpPr>
        <p:spPr>
          <a:xfrm>
            <a:off x="2193925" y="4819650"/>
            <a:ext cx="5807075" cy="1733550"/>
          </a:xfrm>
          <a:prstGeom prst="rect">
            <a:avLst/>
          </a:prstGeom>
          <a:noFill/>
          <a:ln w="9525">
            <a:noFill/>
          </a:ln>
        </p:spPr>
        <p:txBody>
          <a:bodyPr wrap="none" anchor="ctr" anchorCtr="0"/>
          <a:p>
            <a:endParaRPr b="0" dirty="0">
              <a:latin typeface="Arial" panose="020B0604020202020204" pitchFamily="34" charset="0"/>
            </a:endParaRPr>
          </a:p>
        </p:txBody>
      </p:sp>
      <p:sp>
        <p:nvSpPr>
          <p:cNvPr id="57352" name="Rectangle 26"/>
          <p:cNvSpPr/>
          <p:nvPr/>
        </p:nvSpPr>
        <p:spPr>
          <a:xfrm>
            <a:off x="1981200" y="155575"/>
            <a:ext cx="8305800" cy="490538"/>
          </a:xfrm>
          <a:prstGeom prst="rect">
            <a:avLst/>
          </a:prstGeom>
          <a:noFill/>
          <a:ln w="9525">
            <a:noFill/>
          </a:ln>
        </p:spPr>
        <p:txBody>
          <a:bodyPr lIns="90488" tIns="44450" rIns="90488" bIns="44450" anchor="ctr" anchorCtr="0"/>
          <a:p>
            <a:pPr algn="ctr"/>
            <a:r>
              <a:rPr sz="3200" dirty="0">
                <a:solidFill>
                  <a:srgbClr val="008000"/>
                </a:solidFill>
                <a:latin typeface="Arial" panose="020B0604020202020204" pitchFamily="34" charset="0"/>
              </a:rPr>
              <a:t>Example - Continued</a:t>
            </a:r>
            <a:endParaRPr sz="3200" dirty="0">
              <a:latin typeface="Arial" panose="020B0604020202020204" pitchFamily="34" charset="0"/>
            </a:endParaRPr>
          </a:p>
        </p:txBody>
      </p:sp>
      <p:sp>
        <p:nvSpPr>
          <p:cNvPr id="57353" name="Rectangle 28"/>
          <p:cNvSpPr/>
          <p:nvPr/>
        </p:nvSpPr>
        <p:spPr>
          <a:xfrm>
            <a:off x="1981200" y="3629025"/>
            <a:ext cx="8180388" cy="609600"/>
          </a:xfrm>
          <a:prstGeom prst="rect">
            <a:avLst/>
          </a:prstGeom>
          <a:noFill/>
          <a:ln w="9525">
            <a:noFill/>
          </a:ln>
        </p:spPr>
        <p:txBody>
          <a:bodyPr lIns="90488" tIns="44450" rIns="90488" bIns="44450"/>
          <a:p>
            <a:pPr marL="406400" indent="-406400">
              <a:lnSpc>
                <a:spcPct val="88000"/>
              </a:lnSpc>
              <a:spcBef>
                <a:spcPct val="30000"/>
              </a:spcBef>
              <a:buClr>
                <a:schemeClr val="accent2"/>
              </a:buClr>
              <a:buFont typeface="Wingdings" panose="05000000000000000000" pitchFamily="2" charset="2"/>
            </a:pPr>
            <a:r>
              <a:rPr sz="3200" b="0" dirty="0">
                <a:latin typeface="Arial" panose="020B0604020202020204" pitchFamily="34" charset="0"/>
              </a:rPr>
              <a:t>a) Use the formula to find the margin of error.</a:t>
            </a:r>
            <a:endParaRPr sz="3200" b="0" dirty="0">
              <a:latin typeface="Arial" panose="020B0604020202020204" pitchFamily="34" charset="0"/>
            </a:endParaRPr>
          </a:p>
        </p:txBody>
      </p:sp>
      <p:graphicFrame>
        <p:nvGraphicFramePr>
          <p:cNvPr id="57354" name="Object 29"/>
          <p:cNvGraphicFramePr>
            <a:graphicFrameLocks noChangeAspect="1"/>
          </p:cNvGraphicFramePr>
          <p:nvPr/>
        </p:nvGraphicFramePr>
        <p:xfrm>
          <a:off x="2520950" y="4391025"/>
          <a:ext cx="6554788" cy="1879600"/>
        </p:xfrm>
        <a:graphic>
          <a:graphicData uri="http://schemas.openxmlformats.org/presentationml/2006/ole">
            <mc:AlternateContent xmlns:mc="http://schemas.openxmlformats.org/markup-compatibility/2006">
              <mc:Choice xmlns:v="urn:schemas-microsoft-com:vml" Requires="v">
                <p:oleObj spid="_x0000_s3082" name="" r:id="rId1" imgW="6553200" imgH="1879600" progId="Equation.DSMT4">
                  <p:embed/>
                </p:oleObj>
              </mc:Choice>
              <mc:Fallback>
                <p:oleObj name="" r:id="rId1" imgW="6553200" imgH="1879600" progId="Equation.DSMT4">
                  <p:embed/>
                  <p:pic>
                    <p:nvPicPr>
                      <p:cNvPr id="0" name="Picture 3081"/>
                      <p:cNvPicPr/>
                      <p:nvPr/>
                    </p:nvPicPr>
                    <p:blipFill>
                      <a:blip r:embed="rId2"/>
                      <a:stretch>
                        <a:fillRect/>
                      </a:stretch>
                    </p:blipFill>
                    <p:spPr>
                      <a:xfrm>
                        <a:off x="2520950" y="4391025"/>
                        <a:ext cx="6554788" cy="1879600"/>
                      </a:xfrm>
                      <a:prstGeom prst="rect">
                        <a:avLst/>
                      </a:prstGeom>
                      <a:noFill/>
                      <a:ln w="38100">
                        <a:noFill/>
                        <a:miter/>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3"/>
          <p:cNvSpPr>
            <a:spLocks noGrp="1"/>
          </p:cNvSpPr>
          <p:nvPr>
            <p:ph type="body" idx="4294967295"/>
          </p:nvPr>
        </p:nvSpPr>
        <p:spPr>
          <a:xfrm>
            <a:off x="2057400" y="885825"/>
            <a:ext cx="7772400" cy="714375"/>
          </a:xfrm>
          <a:prstGeom prst="rect">
            <a:avLst/>
          </a:prstGeom>
          <a:noFill/>
          <a:ln w="9525">
            <a:noFill/>
          </a:ln>
        </p:spPr>
        <p:txBody>
          <a:bodyPr lIns="90488" tIns="44450" rIns="90488" bIns="44450"/>
          <a:p>
            <a:pPr marL="406400" indent="-406400">
              <a:lnSpc>
                <a:spcPct val="88000"/>
              </a:lnSpc>
              <a:buFont typeface="Wingdings" panose="05000000000000000000" pitchFamily="2" charset="2"/>
              <a:buNone/>
            </a:pPr>
            <a:r>
              <a:rPr b="0" dirty="0"/>
              <a:t>b) The 95% confidence interval:</a:t>
            </a:r>
            <a:endParaRPr b="0" dirty="0"/>
          </a:p>
        </p:txBody>
      </p:sp>
      <p:sp>
        <p:nvSpPr>
          <p:cNvPr id="59394" name="Rectangle 4"/>
          <p:cNvSpPr/>
          <p:nvPr/>
        </p:nvSpPr>
        <p:spPr>
          <a:xfrm>
            <a:off x="3667125" y="2884488"/>
            <a:ext cx="354013" cy="641350"/>
          </a:xfrm>
          <a:prstGeom prst="rect">
            <a:avLst/>
          </a:prstGeom>
          <a:noFill/>
          <a:ln w="9525">
            <a:noFill/>
          </a:ln>
        </p:spPr>
        <p:txBody>
          <a:bodyPr wrap="none" anchor="ctr" anchorCtr="0"/>
          <a:p>
            <a:endParaRPr b="0" dirty="0">
              <a:latin typeface="Arial" panose="020B0604020202020204" pitchFamily="34" charset="0"/>
            </a:endParaRPr>
          </a:p>
        </p:txBody>
      </p:sp>
      <p:sp>
        <p:nvSpPr>
          <p:cNvPr id="59395" name="Rectangle 5"/>
          <p:cNvSpPr/>
          <p:nvPr/>
        </p:nvSpPr>
        <p:spPr>
          <a:xfrm>
            <a:off x="3336925" y="3498850"/>
            <a:ext cx="420688" cy="476250"/>
          </a:xfrm>
          <a:prstGeom prst="rect">
            <a:avLst/>
          </a:prstGeom>
          <a:noFill/>
          <a:ln w="9525">
            <a:noFill/>
          </a:ln>
        </p:spPr>
        <p:txBody>
          <a:bodyPr wrap="none" anchor="ctr" anchorCtr="0"/>
          <a:p>
            <a:endParaRPr b="0" dirty="0">
              <a:latin typeface="Arial" panose="020B0604020202020204" pitchFamily="34" charset="0"/>
            </a:endParaRPr>
          </a:p>
        </p:txBody>
      </p:sp>
      <p:sp>
        <p:nvSpPr>
          <p:cNvPr id="59396" name="Rectangle 6"/>
          <p:cNvSpPr/>
          <p:nvPr/>
        </p:nvSpPr>
        <p:spPr>
          <a:xfrm>
            <a:off x="3565525" y="3470275"/>
            <a:ext cx="296863" cy="312738"/>
          </a:xfrm>
          <a:prstGeom prst="rect">
            <a:avLst/>
          </a:prstGeom>
          <a:noFill/>
          <a:ln w="9525">
            <a:noFill/>
          </a:ln>
        </p:spPr>
        <p:txBody>
          <a:bodyPr wrap="none" anchor="ctr" anchorCtr="0"/>
          <a:p>
            <a:endParaRPr b="0" dirty="0">
              <a:latin typeface="Arial" panose="020B0604020202020204" pitchFamily="34" charset="0"/>
            </a:endParaRPr>
          </a:p>
        </p:txBody>
      </p:sp>
      <p:sp>
        <p:nvSpPr>
          <p:cNvPr id="59397" name="Rectangle 7"/>
          <p:cNvSpPr/>
          <p:nvPr/>
        </p:nvSpPr>
        <p:spPr>
          <a:xfrm>
            <a:off x="2341563" y="3994150"/>
            <a:ext cx="264795" cy="937260"/>
          </a:xfrm>
          <a:prstGeom prst="rect">
            <a:avLst/>
          </a:prstGeom>
          <a:noFill/>
          <a:ln w="9525">
            <a:noFill/>
          </a:ln>
        </p:spPr>
        <p:txBody>
          <a:bodyPr wrap="none" lIns="90488" tIns="44450" rIns="90488" bIns="44450">
            <a:spAutoFit/>
          </a:bodyPr>
          <a:p>
            <a:pPr>
              <a:spcBef>
                <a:spcPct val="30000"/>
              </a:spcBef>
            </a:pPr>
            <a:r>
              <a:rPr sz="2400" b="0" dirty="0">
                <a:solidFill>
                  <a:schemeClr val="hlink"/>
                </a:solidFill>
                <a:latin typeface="Arial" panose="020B0604020202020204" pitchFamily="34" charset="0"/>
              </a:rPr>
              <a:t> </a:t>
            </a:r>
            <a:endParaRPr sz="2400" b="0" dirty="0">
              <a:solidFill>
                <a:schemeClr val="tx2"/>
              </a:solidFill>
              <a:latin typeface="Arial" panose="020B0604020202020204" pitchFamily="34" charset="0"/>
            </a:endParaRPr>
          </a:p>
          <a:p>
            <a:pPr>
              <a:spcBef>
                <a:spcPct val="30000"/>
              </a:spcBef>
            </a:pPr>
            <a:endParaRPr sz="2400" b="0" dirty="0">
              <a:solidFill>
                <a:schemeClr val="tx2"/>
              </a:solidFill>
              <a:latin typeface="Arial" panose="020B0604020202020204" pitchFamily="34" charset="0"/>
            </a:endParaRPr>
          </a:p>
        </p:txBody>
      </p:sp>
      <p:sp>
        <p:nvSpPr>
          <p:cNvPr id="59398" name="Rectangle 8"/>
          <p:cNvSpPr/>
          <p:nvPr/>
        </p:nvSpPr>
        <p:spPr>
          <a:xfrm>
            <a:off x="3717925" y="4608513"/>
            <a:ext cx="890588" cy="420687"/>
          </a:xfrm>
          <a:prstGeom prst="rect">
            <a:avLst/>
          </a:prstGeom>
          <a:noFill/>
          <a:ln w="9525">
            <a:noFill/>
          </a:ln>
        </p:spPr>
        <p:txBody>
          <a:bodyPr wrap="none" anchor="ctr" anchorCtr="0"/>
          <a:p>
            <a:endParaRPr b="0" dirty="0">
              <a:latin typeface="Arial" panose="020B0604020202020204" pitchFamily="34" charset="0"/>
            </a:endParaRPr>
          </a:p>
        </p:txBody>
      </p:sp>
      <p:sp>
        <p:nvSpPr>
          <p:cNvPr id="59399" name="Rectangle 9"/>
          <p:cNvSpPr/>
          <p:nvPr/>
        </p:nvSpPr>
        <p:spPr>
          <a:xfrm>
            <a:off x="2117725" y="4694238"/>
            <a:ext cx="5807075" cy="1733550"/>
          </a:xfrm>
          <a:prstGeom prst="rect">
            <a:avLst/>
          </a:prstGeom>
          <a:noFill/>
          <a:ln w="9525">
            <a:noFill/>
          </a:ln>
        </p:spPr>
        <p:txBody>
          <a:bodyPr wrap="none" anchor="ctr" anchorCtr="0"/>
          <a:p>
            <a:endParaRPr b="0" dirty="0">
              <a:latin typeface="Arial" panose="020B0604020202020204" pitchFamily="34" charset="0"/>
            </a:endParaRPr>
          </a:p>
        </p:txBody>
      </p:sp>
      <p:sp>
        <p:nvSpPr>
          <p:cNvPr id="59400" name="Rectangle 27"/>
          <p:cNvSpPr/>
          <p:nvPr/>
        </p:nvSpPr>
        <p:spPr>
          <a:xfrm>
            <a:off x="1981200" y="168275"/>
            <a:ext cx="8305800" cy="392113"/>
          </a:xfrm>
          <a:prstGeom prst="rect">
            <a:avLst/>
          </a:prstGeom>
          <a:noFill/>
          <a:ln w="9525">
            <a:noFill/>
          </a:ln>
        </p:spPr>
        <p:txBody>
          <a:bodyPr lIns="90488" tIns="44450" rIns="90488" bIns="44450" anchor="ctr" anchorCtr="0"/>
          <a:p>
            <a:pPr algn="ctr"/>
            <a:r>
              <a:rPr sz="3200" dirty="0">
                <a:solidFill>
                  <a:srgbClr val="008000"/>
                </a:solidFill>
                <a:latin typeface="Arial" panose="020B0604020202020204" pitchFamily="34" charset="0"/>
              </a:rPr>
              <a:t>Example - Continued</a:t>
            </a:r>
            <a:endParaRPr sz="3200" b="0" dirty="0">
              <a:latin typeface="Arial" panose="020B0604020202020204" pitchFamily="34" charset="0"/>
            </a:endParaRPr>
          </a:p>
        </p:txBody>
      </p:sp>
      <p:graphicFrame>
        <p:nvGraphicFramePr>
          <p:cNvPr id="59401" name="Object 29"/>
          <p:cNvGraphicFramePr>
            <a:graphicFrameLocks noChangeAspect="1"/>
          </p:cNvGraphicFramePr>
          <p:nvPr/>
        </p:nvGraphicFramePr>
        <p:xfrm>
          <a:off x="4384675" y="1800225"/>
          <a:ext cx="3352800" cy="533400"/>
        </p:xfrm>
        <a:graphic>
          <a:graphicData uri="http://schemas.openxmlformats.org/presentationml/2006/ole">
            <mc:AlternateContent xmlns:mc="http://schemas.openxmlformats.org/markup-compatibility/2006">
              <mc:Choice xmlns:v="urn:schemas-microsoft-com:vml" Requires="v">
                <p:oleObj spid="_x0000_s3083" name="" r:id="rId1" imgW="3352800" imgH="533400" progId="Equation.DSMT4">
                  <p:embed/>
                </p:oleObj>
              </mc:Choice>
              <mc:Fallback>
                <p:oleObj name="" r:id="rId1" imgW="3352800" imgH="533400" progId="Equation.DSMT4">
                  <p:embed/>
                  <p:pic>
                    <p:nvPicPr>
                      <p:cNvPr id="0" name="Picture 3082"/>
                      <p:cNvPicPr/>
                      <p:nvPr/>
                    </p:nvPicPr>
                    <p:blipFill>
                      <a:blip r:embed="rId2"/>
                      <a:stretch>
                        <a:fillRect/>
                      </a:stretch>
                    </p:blipFill>
                    <p:spPr>
                      <a:xfrm>
                        <a:off x="4384675" y="1800225"/>
                        <a:ext cx="3352800" cy="533400"/>
                      </a:xfrm>
                      <a:prstGeom prst="rect">
                        <a:avLst/>
                      </a:prstGeom>
                      <a:noFill/>
                      <a:ln w="38100">
                        <a:noFill/>
                        <a:miter/>
                      </a:ln>
                    </p:spPr>
                  </p:pic>
                </p:oleObj>
              </mc:Fallback>
            </mc:AlternateContent>
          </a:graphicData>
        </a:graphic>
      </p:graphicFrame>
      <p:graphicFrame>
        <p:nvGraphicFramePr>
          <p:cNvPr id="59402" name="Object 30"/>
          <p:cNvGraphicFramePr>
            <a:graphicFrameLocks noChangeAspect="1"/>
          </p:cNvGraphicFramePr>
          <p:nvPr/>
        </p:nvGraphicFramePr>
        <p:xfrm>
          <a:off x="2225675" y="2725738"/>
          <a:ext cx="7621588" cy="469900"/>
        </p:xfrm>
        <a:graphic>
          <a:graphicData uri="http://schemas.openxmlformats.org/presentationml/2006/ole">
            <mc:AlternateContent xmlns:mc="http://schemas.openxmlformats.org/markup-compatibility/2006">
              <mc:Choice xmlns:v="urn:schemas-microsoft-com:vml" Requires="v">
                <p:oleObj spid="_x0000_s3084" name="" r:id="rId3" imgW="7620000" imgH="469900" progId="Equation.DSMT4">
                  <p:embed/>
                </p:oleObj>
              </mc:Choice>
              <mc:Fallback>
                <p:oleObj name="" r:id="rId3" imgW="7620000" imgH="469900" progId="Equation.DSMT4">
                  <p:embed/>
                  <p:pic>
                    <p:nvPicPr>
                      <p:cNvPr id="0" name="Picture 3083"/>
                      <p:cNvPicPr/>
                      <p:nvPr/>
                    </p:nvPicPr>
                    <p:blipFill>
                      <a:blip r:embed="rId4"/>
                      <a:stretch>
                        <a:fillRect/>
                      </a:stretch>
                    </p:blipFill>
                    <p:spPr>
                      <a:xfrm>
                        <a:off x="2225675" y="2725738"/>
                        <a:ext cx="7621588" cy="469900"/>
                      </a:xfrm>
                      <a:prstGeom prst="rect">
                        <a:avLst/>
                      </a:prstGeom>
                      <a:noFill/>
                      <a:ln w="38100">
                        <a:noFill/>
                        <a:miter/>
                      </a:ln>
                    </p:spPr>
                  </p:pic>
                </p:oleObj>
              </mc:Fallback>
            </mc:AlternateContent>
          </a:graphicData>
        </a:graphic>
      </p:graphicFrame>
      <p:graphicFrame>
        <p:nvGraphicFramePr>
          <p:cNvPr id="59403" name="Object 31"/>
          <p:cNvGraphicFramePr>
            <a:graphicFrameLocks noChangeAspect="1"/>
          </p:cNvGraphicFramePr>
          <p:nvPr/>
        </p:nvGraphicFramePr>
        <p:xfrm>
          <a:off x="4357688" y="3590925"/>
          <a:ext cx="3327400" cy="469900"/>
        </p:xfrm>
        <a:graphic>
          <a:graphicData uri="http://schemas.openxmlformats.org/presentationml/2006/ole">
            <mc:AlternateContent xmlns:mc="http://schemas.openxmlformats.org/markup-compatibility/2006">
              <mc:Choice xmlns:v="urn:schemas-microsoft-com:vml" Requires="v">
                <p:oleObj spid="_x0000_s3085" name="" r:id="rId5" imgW="3327400" imgH="469900" progId="Equation.DSMT4">
                  <p:embed/>
                </p:oleObj>
              </mc:Choice>
              <mc:Fallback>
                <p:oleObj name="" r:id="rId5" imgW="3327400" imgH="469900" progId="Equation.DSMT4">
                  <p:embed/>
                  <p:pic>
                    <p:nvPicPr>
                      <p:cNvPr id="0" name="Picture 3084"/>
                      <p:cNvPicPr/>
                      <p:nvPr/>
                    </p:nvPicPr>
                    <p:blipFill>
                      <a:blip r:embed="rId6"/>
                      <a:stretch>
                        <a:fillRect/>
                      </a:stretch>
                    </p:blipFill>
                    <p:spPr>
                      <a:xfrm>
                        <a:off x="4357688" y="3590925"/>
                        <a:ext cx="3327400" cy="469900"/>
                      </a:xfrm>
                      <a:prstGeom prst="rect">
                        <a:avLst/>
                      </a:prstGeom>
                      <a:noFill/>
                      <a:ln w="38100">
                        <a:noFill/>
                        <a:miter/>
                      </a:ln>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3"/>
          <p:cNvSpPr>
            <a:spLocks noGrp="1"/>
          </p:cNvSpPr>
          <p:nvPr>
            <p:ph type="body" idx="4294967295"/>
          </p:nvPr>
        </p:nvSpPr>
        <p:spPr>
          <a:xfrm>
            <a:off x="1445260" y="862330"/>
            <a:ext cx="8460740" cy="5387975"/>
          </a:xfrm>
          <a:prstGeom prst="rect">
            <a:avLst/>
          </a:prstGeom>
          <a:noFill/>
          <a:ln w="9525">
            <a:noFill/>
          </a:ln>
        </p:spPr>
        <p:txBody>
          <a:bodyPr lIns="90488" tIns="44450" rIns="90488" bIns="44450"/>
          <a:p>
            <a:pPr marL="457200" indent="-457200">
              <a:lnSpc>
                <a:spcPct val="98000"/>
              </a:lnSpc>
              <a:buFont typeface="Wingdings" panose="05000000000000000000" pitchFamily="2" charset="2"/>
              <a:buAutoNum type="alphaLcParenR" startAt="3"/>
            </a:pPr>
            <a:r>
              <a:rPr b="0" dirty="0"/>
              <a:t>Based on the confidence interval obtained in part (b), it does appear that more than 75% of adults know what Twitter is. </a:t>
            </a:r>
            <a:endParaRPr b="0" dirty="0"/>
          </a:p>
          <a:p>
            <a:pPr marL="457200" indent="-457200">
              <a:lnSpc>
                <a:spcPct val="98000"/>
              </a:lnSpc>
              <a:buNone/>
            </a:pPr>
            <a:r>
              <a:rPr b="0" dirty="0"/>
              <a:t>	</a:t>
            </a:r>
            <a:endParaRPr b="0" dirty="0"/>
          </a:p>
          <a:p>
            <a:pPr marL="457200" indent="-457200">
              <a:lnSpc>
                <a:spcPct val="98000"/>
              </a:lnSpc>
              <a:buNone/>
            </a:pPr>
            <a:r>
              <a:rPr b="0" dirty="0"/>
              <a:t>	Because the limits of 0.828 and 0.872 are likely to contain the true population proportion, it appears that the population proportion is a value greater than 0.75.</a:t>
            </a:r>
            <a:endParaRPr b="0" dirty="0"/>
          </a:p>
          <a:p>
            <a:pPr marL="457200" indent="-457200">
              <a:lnSpc>
                <a:spcPct val="88000"/>
              </a:lnSpc>
              <a:buFont typeface="Wingdings" panose="05000000000000000000" pitchFamily="2" charset="2"/>
              <a:buNone/>
            </a:pPr>
            <a:endParaRPr b="0" dirty="0"/>
          </a:p>
        </p:txBody>
      </p:sp>
      <p:sp>
        <p:nvSpPr>
          <p:cNvPr id="61442" name="Rectangle 4"/>
          <p:cNvSpPr/>
          <p:nvPr/>
        </p:nvSpPr>
        <p:spPr>
          <a:xfrm>
            <a:off x="3362325" y="2528888"/>
            <a:ext cx="354013" cy="641350"/>
          </a:xfrm>
          <a:prstGeom prst="rect">
            <a:avLst/>
          </a:prstGeom>
          <a:noFill/>
          <a:ln w="9525">
            <a:noFill/>
          </a:ln>
        </p:spPr>
        <p:txBody>
          <a:bodyPr wrap="none" anchor="ctr" anchorCtr="0"/>
          <a:p>
            <a:endParaRPr dirty="0">
              <a:latin typeface="Arial" panose="020B0604020202020204" pitchFamily="34" charset="0"/>
            </a:endParaRPr>
          </a:p>
        </p:txBody>
      </p:sp>
      <p:sp>
        <p:nvSpPr>
          <p:cNvPr id="61443" name="Rectangle 5"/>
          <p:cNvSpPr/>
          <p:nvPr/>
        </p:nvSpPr>
        <p:spPr>
          <a:xfrm>
            <a:off x="3032125" y="3143250"/>
            <a:ext cx="420688" cy="476250"/>
          </a:xfrm>
          <a:prstGeom prst="rect">
            <a:avLst/>
          </a:prstGeom>
          <a:noFill/>
          <a:ln w="9525">
            <a:noFill/>
          </a:ln>
        </p:spPr>
        <p:txBody>
          <a:bodyPr wrap="none" anchor="ctr" anchorCtr="0"/>
          <a:p>
            <a:endParaRPr dirty="0">
              <a:latin typeface="Arial" panose="020B0604020202020204" pitchFamily="34" charset="0"/>
            </a:endParaRPr>
          </a:p>
        </p:txBody>
      </p:sp>
      <p:sp>
        <p:nvSpPr>
          <p:cNvPr id="61444" name="Rectangle 6"/>
          <p:cNvSpPr/>
          <p:nvPr/>
        </p:nvSpPr>
        <p:spPr>
          <a:xfrm>
            <a:off x="3260725" y="3114675"/>
            <a:ext cx="296863" cy="312738"/>
          </a:xfrm>
          <a:prstGeom prst="rect">
            <a:avLst/>
          </a:prstGeom>
          <a:noFill/>
          <a:ln w="9525">
            <a:noFill/>
          </a:ln>
        </p:spPr>
        <p:txBody>
          <a:bodyPr wrap="none" anchor="ctr" anchorCtr="0"/>
          <a:p>
            <a:endParaRPr dirty="0">
              <a:latin typeface="Arial" panose="020B0604020202020204" pitchFamily="34" charset="0"/>
            </a:endParaRPr>
          </a:p>
        </p:txBody>
      </p:sp>
      <p:sp>
        <p:nvSpPr>
          <p:cNvPr id="61445" name="Rectangle 7"/>
          <p:cNvSpPr/>
          <p:nvPr/>
        </p:nvSpPr>
        <p:spPr>
          <a:xfrm>
            <a:off x="2036763" y="3638550"/>
            <a:ext cx="264795" cy="937260"/>
          </a:xfrm>
          <a:prstGeom prst="rect">
            <a:avLst/>
          </a:prstGeom>
          <a:noFill/>
          <a:ln w="9525">
            <a:noFill/>
          </a:ln>
        </p:spPr>
        <p:txBody>
          <a:bodyPr wrap="none" lIns="90488" tIns="44450" rIns="90488" bIns="44450">
            <a:spAutoFit/>
          </a:bodyPr>
          <a:p>
            <a:pPr>
              <a:spcBef>
                <a:spcPct val="30000"/>
              </a:spcBef>
            </a:pPr>
            <a:r>
              <a:rPr sz="2400" dirty="0">
                <a:solidFill>
                  <a:schemeClr val="hlink"/>
                </a:solidFill>
                <a:latin typeface="Arial" panose="020B0604020202020204" pitchFamily="34" charset="0"/>
              </a:rPr>
              <a:t> </a:t>
            </a:r>
            <a:endParaRPr sz="2400" dirty="0">
              <a:solidFill>
                <a:schemeClr val="tx2"/>
              </a:solidFill>
              <a:latin typeface="Arial" panose="020B0604020202020204" pitchFamily="34" charset="0"/>
            </a:endParaRPr>
          </a:p>
          <a:p>
            <a:pPr>
              <a:spcBef>
                <a:spcPct val="30000"/>
              </a:spcBef>
            </a:pPr>
            <a:endParaRPr sz="2400" dirty="0">
              <a:solidFill>
                <a:schemeClr val="tx2"/>
              </a:solidFill>
              <a:latin typeface="Arial" panose="020B0604020202020204" pitchFamily="34" charset="0"/>
            </a:endParaRPr>
          </a:p>
        </p:txBody>
      </p:sp>
      <p:sp>
        <p:nvSpPr>
          <p:cNvPr id="61446" name="Rectangle 8"/>
          <p:cNvSpPr/>
          <p:nvPr/>
        </p:nvSpPr>
        <p:spPr>
          <a:xfrm>
            <a:off x="3413125" y="4252913"/>
            <a:ext cx="890588" cy="420687"/>
          </a:xfrm>
          <a:prstGeom prst="rect">
            <a:avLst/>
          </a:prstGeom>
          <a:noFill/>
          <a:ln w="9525">
            <a:noFill/>
          </a:ln>
        </p:spPr>
        <p:txBody>
          <a:bodyPr wrap="none" anchor="ctr" anchorCtr="0"/>
          <a:p>
            <a:endParaRPr dirty="0">
              <a:latin typeface="Arial" panose="020B0604020202020204" pitchFamily="34" charset="0"/>
            </a:endParaRPr>
          </a:p>
        </p:txBody>
      </p:sp>
      <p:sp>
        <p:nvSpPr>
          <p:cNvPr id="61447" name="Rectangle 9"/>
          <p:cNvSpPr/>
          <p:nvPr/>
        </p:nvSpPr>
        <p:spPr>
          <a:xfrm>
            <a:off x="2117725" y="4819650"/>
            <a:ext cx="5807075" cy="1733550"/>
          </a:xfrm>
          <a:prstGeom prst="rect">
            <a:avLst/>
          </a:prstGeom>
          <a:noFill/>
          <a:ln w="9525">
            <a:noFill/>
          </a:ln>
        </p:spPr>
        <p:txBody>
          <a:bodyPr wrap="none" anchor="ctr" anchorCtr="0"/>
          <a:p>
            <a:endParaRPr dirty="0">
              <a:latin typeface="Arial" panose="020B0604020202020204" pitchFamily="34" charset="0"/>
            </a:endParaRPr>
          </a:p>
        </p:txBody>
      </p:sp>
      <p:sp>
        <p:nvSpPr>
          <p:cNvPr id="61448" name="Rectangle 12"/>
          <p:cNvSpPr/>
          <p:nvPr/>
        </p:nvSpPr>
        <p:spPr>
          <a:xfrm>
            <a:off x="1600200" y="180975"/>
            <a:ext cx="8305800" cy="503238"/>
          </a:xfrm>
          <a:prstGeom prst="rect">
            <a:avLst/>
          </a:prstGeom>
          <a:noFill/>
          <a:ln w="9525">
            <a:noFill/>
          </a:ln>
        </p:spPr>
        <p:txBody>
          <a:bodyPr lIns="90488" tIns="44450" rIns="90488" bIns="44450" anchor="ctr" anchorCtr="0"/>
          <a:p>
            <a:pPr algn="ctr"/>
            <a:r>
              <a:rPr sz="3200" dirty="0">
                <a:solidFill>
                  <a:srgbClr val="008000"/>
                </a:solidFill>
                <a:latin typeface="Arial" panose="020B0604020202020204" pitchFamily="34" charset="0"/>
              </a:rPr>
              <a:t>Example - Continued</a:t>
            </a:r>
            <a:endParaRPr sz="3200" dirty="0">
              <a:latin typeface="Arial" panose="020B060402020202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Rectangle 2"/>
          <p:cNvSpPr>
            <a:spLocks noGrp="1"/>
          </p:cNvSpPr>
          <p:nvPr>
            <p:ph type="body" idx="4294967295"/>
          </p:nvPr>
        </p:nvSpPr>
        <p:spPr>
          <a:xfrm>
            <a:off x="917575" y="862330"/>
            <a:ext cx="8988425" cy="5547995"/>
          </a:xfrm>
          <a:prstGeom prst="rect">
            <a:avLst/>
          </a:prstGeom>
          <a:noFill/>
          <a:ln w="9525">
            <a:noFill/>
          </a:ln>
        </p:spPr>
        <p:txBody>
          <a:bodyPr lIns="90488" tIns="44450" rIns="90488" bIns="44450"/>
          <a:p>
            <a:pPr marL="457200" indent="-457200">
              <a:lnSpc>
                <a:spcPct val="98000"/>
              </a:lnSpc>
              <a:buFont typeface="Wingdings" panose="05000000000000000000" pitchFamily="2" charset="2"/>
              <a:buAutoNum type="alphaLcParenR" startAt="4"/>
            </a:pPr>
            <a:r>
              <a:rPr b="0" dirty="0"/>
              <a:t>Here is one statement that summarizes the results: </a:t>
            </a:r>
            <a:endParaRPr b="0" dirty="0"/>
          </a:p>
          <a:p>
            <a:pPr marL="457200" indent="-457200">
              <a:lnSpc>
                <a:spcPct val="98000"/>
              </a:lnSpc>
              <a:buNone/>
            </a:pPr>
            <a:r>
              <a:rPr b="0" dirty="0"/>
              <a:t>	85% of U.S. adults know what Twitter is.  That percentage is based on a Pew Research Center poll of 1007 randomly selected adults.</a:t>
            </a:r>
            <a:endParaRPr b="0" dirty="0"/>
          </a:p>
          <a:p>
            <a:pPr marL="457200" indent="-457200">
              <a:lnSpc>
                <a:spcPct val="98000"/>
              </a:lnSpc>
              <a:buNone/>
            </a:pPr>
            <a:endParaRPr b="0" dirty="0"/>
          </a:p>
          <a:p>
            <a:pPr marL="457200" indent="-457200">
              <a:lnSpc>
                <a:spcPct val="98000"/>
              </a:lnSpc>
              <a:buNone/>
            </a:pPr>
            <a:r>
              <a:rPr b="0" dirty="0"/>
              <a:t>	In theory, in 95% of such polls, the percentage should differ by no more than 2.2 percentage points in either direction from the percentage that would be found by interviewing all adults in the United States.</a:t>
            </a:r>
            <a:endParaRPr b="0" dirty="0"/>
          </a:p>
        </p:txBody>
      </p:sp>
      <p:sp>
        <p:nvSpPr>
          <p:cNvPr id="63490" name="Rectangle 3"/>
          <p:cNvSpPr/>
          <p:nvPr/>
        </p:nvSpPr>
        <p:spPr>
          <a:xfrm>
            <a:off x="3362325" y="2528888"/>
            <a:ext cx="354013" cy="641350"/>
          </a:xfrm>
          <a:prstGeom prst="rect">
            <a:avLst/>
          </a:prstGeom>
          <a:noFill/>
          <a:ln w="9525">
            <a:noFill/>
          </a:ln>
        </p:spPr>
        <p:txBody>
          <a:bodyPr wrap="none" anchor="ctr" anchorCtr="0"/>
          <a:p>
            <a:endParaRPr dirty="0">
              <a:latin typeface="Arial" panose="020B0604020202020204" pitchFamily="34" charset="0"/>
            </a:endParaRPr>
          </a:p>
        </p:txBody>
      </p:sp>
      <p:sp>
        <p:nvSpPr>
          <p:cNvPr id="63491" name="Rectangle 4"/>
          <p:cNvSpPr/>
          <p:nvPr/>
        </p:nvSpPr>
        <p:spPr>
          <a:xfrm>
            <a:off x="3032125" y="3143250"/>
            <a:ext cx="420688" cy="476250"/>
          </a:xfrm>
          <a:prstGeom prst="rect">
            <a:avLst/>
          </a:prstGeom>
          <a:noFill/>
          <a:ln w="9525">
            <a:noFill/>
          </a:ln>
        </p:spPr>
        <p:txBody>
          <a:bodyPr wrap="none" anchor="ctr" anchorCtr="0"/>
          <a:p>
            <a:endParaRPr dirty="0">
              <a:latin typeface="Arial" panose="020B0604020202020204" pitchFamily="34" charset="0"/>
            </a:endParaRPr>
          </a:p>
        </p:txBody>
      </p:sp>
      <p:sp>
        <p:nvSpPr>
          <p:cNvPr id="63492" name="Rectangle 5"/>
          <p:cNvSpPr/>
          <p:nvPr/>
        </p:nvSpPr>
        <p:spPr>
          <a:xfrm>
            <a:off x="3260725" y="3114675"/>
            <a:ext cx="296863" cy="312738"/>
          </a:xfrm>
          <a:prstGeom prst="rect">
            <a:avLst/>
          </a:prstGeom>
          <a:noFill/>
          <a:ln w="9525">
            <a:noFill/>
          </a:ln>
        </p:spPr>
        <p:txBody>
          <a:bodyPr wrap="none" anchor="ctr" anchorCtr="0"/>
          <a:p>
            <a:endParaRPr dirty="0">
              <a:latin typeface="Arial" panose="020B0604020202020204" pitchFamily="34" charset="0"/>
            </a:endParaRPr>
          </a:p>
        </p:txBody>
      </p:sp>
      <p:sp>
        <p:nvSpPr>
          <p:cNvPr id="63493" name="Rectangle 6"/>
          <p:cNvSpPr/>
          <p:nvPr/>
        </p:nvSpPr>
        <p:spPr>
          <a:xfrm>
            <a:off x="2036763" y="3638550"/>
            <a:ext cx="264795" cy="937260"/>
          </a:xfrm>
          <a:prstGeom prst="rect">
            <a:avLst/>
          </a:prstGeom>
          <a:noFill/>
          <a:ln w="9525">
            <a:noFill/>
          </a:ln>
        </p:spPr>
        <p:txBody>
          <a:bodyPr wrap="none" lIns="90488" tIns="44450" rIns="90488" bIns="44450">
            <a:spAutoFit/>
          </a:bodyPr>
          <a:p>
            <a:pPr>
              <a:spcBef>
                <a:spcPct val="30000"/>
              </a:spcBef>
            </a:pPr>
            <a:r>
              <a:rPr sz="2400" dirty="0">
                <a:solidFill>
                  <a:schemeClr val="hlink"/>
                </a:solidFill>
                <a:latin typeface="Arial" panose="020B0604020202020204" pitchFamily="34" charset="0"/>
              </a:rPr>
              <a:t> </a:t>
            </a:r>
            <a:endParaRPr sz="2400" dirty="0">
              <a:solidFill>
                <a:schemeClr val="tx2"/>
              </a:solidFill>
              <a:latin typeface="Arial" panose="020B0604020202020204" pitchFamily="34" charset="0"/>
            </a:endParaRPr>
          </a:p>
          <a:p>
            <a:pPr>
              <a:spcBef>
                <a:spcPct val="30000"/>
              </a:spcBef>
            </a:pPr>
            <a:endParaRPr sz="2400" dirty="0">
              <a:solidFill>
                <a:schemeClr val="tx2"/>
              </a:solidFill>
              <a:latin typeface="Arial" panose="020B0604020202020204" pitchFamily="34" charset="0"/>
            </a:endParaRPr>
          </a:p>
        </p:txBody>
      </p:sp>
      <p:sp>
        <p:nvSpPr>
          <p:cNvPr id="63494" name="Rectangle 7"/>
          <p:cNvSpPr/>
          <p:nvPr/>
        </p:nvSpPr>
        <p:spPr>
          <a:xfrm>
            <a:off x="3413125" y="4252913"/>
            <a:ext cx="890588" cy="420687"/>
          </a:xfrm>
          <a:prstGeom prst="rect">
            <a:avLst/>
          </a:prstGeom>
          <a:noFill/>
          <a:ln w="9525">
            <a:noFill/>
          </a:ln>
        </p:spPr>
        <p:txBody>
          <a:bodyPr wrap="none" anchor="ctr" anchorCtr="0"/>
          <a:p>
            <a:endParaRPr dirty="0">
              <a:latin typeface="Arial" panose="020B0604020202020204" pitchFamily="34" charset="0"/>
            </a:endParaRPr>
          </a:p>
        </p:txBody>
      </p:sp>
      <p:sp>
        <p:nvSpPr>
          <p:cNvPr id="63495" name="Rectangle 8"/>
          <p:cNvSpPr/>
          <p:nvPr/>
        </p:nvSpPr>
        <p:spPr>
          <a:xfrm>
            <a:off x="2117725" y="4819650"/>
            <a:ext cx="5807075" cy="1733550"/>
          </a:xfrm>
          <a:prstGeom prst="rect">
            <a:avLst/>
          </a:prstGeom>
          <a:noFill/>
          <a:ln w="9525">
            <a:noFill/>
          </a:ln>
        </p:spPr>
        <p:txBody>
          <a:bodyPr wrap="none" anchor="ctr" anchorCtr="0"/>
          <a:p>
            <a:endParaRPr dirty="0">
              <a:latin typeface="Arial" panose="020B0604020202020204" pitchFamily="34" charset="0"/>
            </a:endParaRPr>
          </a:p>
        </p:txBody>
      </p:sp>
      <p:sp>
        <p:nvSpPr>
          <p:cNvPr id="63496" name="Rectangle 9"/>
          <p:cNvSpPr/>
          <p:nvPr/>
        </p:nvSpPr>
        <p:spPr>
          <a:xfrm>
            <a:off x="1259205" y="180975"/>
            <a:ext cx="8305800" cy="503238"/>
          </a:xfrm>
          <a:prstGeom prst="rect">
            <a:avLst/>
          </a:prstGeom>
          <a:noFill/>
          <a:ln w="9525">
            <a:noFill/>
          </a:ln>
        </p:spPr>
        <p:txBody>
          <a:bodyPr lIns="90488" tIns="44450" rIns="90488" bIns="44450" anchor="ctr" anchorCtr="0"/>
          <a:p>
            <a:pPr algn="ctr"/>
            <a:r>
              <a:rPr sz="3200" dirty="0">
                <a:solidFill>
                  <a:srgbClr val="008000"/>
                </a:solidFill>
                <a:latin typeface="Arial" panose="020B0604020202020204" pitchFamily="34" charset="0"/>
              </a:rPr>
              <a:t>Example - Continued</a:t>
            </a:r>
            <a:endParaRPr sz="3200" dirty="0">
              <a:latin typeface="Arial" panose="020B0604020202020204" pitchFamily="3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idx="4294967295"/>
          </p:nvPr>
        </p:nvSpPr>
        <p:spPr>
          <a:xfrm>
            <a:off x="2185988" y="114300"/>
            <a:ext cx="7848600" cy="885825"/>
          </a:xfrm>
          <a:prstGeom prst="rect">
            <a:avLst/>
          </a:prstGeom>
          <a:noFill/>
          <a:ln w="9525">
            <a:noFill/>
          </a:ln>
        </p:spPr>
        <p:txBody>
          <a:bodyPr/>
          <a:p>
            <a:r>
              <a:rPr dirty="0"/>
              <a:t>Analyzing Polls</a:t>
            </a:r>
            <a:endParaRPr dirty="0"/>
          </a:p>
        </p:txBody>
      </p:sp>
      <p:sp>
        <p:nvSpPr>
          <p:cNvPr id="65538" name="Text Box 4"/>
          <p:cNvSpPr txBox="1"/>
          <p:nvPr/>
        </p:nvSpPr>
        <p:spPr>
          <a:xfrm>
            <a:off x="2184400" y="1027113"/>
            <a:ext cx="7853363" cy="521970"/>
          </a:xfrm>
          <a:prstGeom prst="rect">
            <a:avLst/>
          </a:prstGeom>
          <a:noFill/>
          <a:ln w="12700">
            <a:noFill/>
          </a:ln>
        </p:spPr>
        <p:txBody>
          <a:bodyPr>
            <a:spAutoFit/>
          </a:bodyPr>
          <a:p>
            <a:pPr>
              <a:spcBef>
                <a:spcPct val="50000"/>
              </a:spcBef>
            </a:pPr>
            <a:r>
              <a:rPr sz="2800" b="0" dirty="0">
                <a:latin typeface="Arial" panose="020B0604020202020204" pitchFamily="34" charset="0"/>
              </a:rPr>
              <a:t>When analyzing polls consider:</a:t>
            </a:r>
            <a:endParaRPr sz="2800" b="0" dirty="0">
              <a:latin typeface="Arial" panose="020B0604020202020204" pitchFamily="34" charset="0"/>
            </a:endParaRPr>
          </a:p>
        </p:txBody>
      </p:sp>
      <p:sp>
        <p:nvSpPr>
          <p:cNvPr id="65539" name="Text Box 5"/>
          <p:cNvSpPr txBox="1"/>
          <p:nvPr/>
        </p:nvSpPr>
        <p:spPr>
          <a:xfrm>
            <a:off x="2185988" y="1635125"/>
            <a:ext cx="7853362" cy="4707890"/>
          </a:xfrm>
          <a:prstGeom prst="rect">
            <a:avLst/>
          </a:prstGeom>
          <a:noFill/>
          <a:ln w="12700">
            <a:noFill/>
          </a:ln>
        </p:spPr>
        <p:txBody>
          <a:bodyPr>
            <a:spAutoFit/>
          </a:bodyPr>
          <a:p>
            <a:pPr marL="455930" indent="-455930">
              <a:spcBef>
                <a:spcPct val="50000"/>
              </a:spcBef>
            </a:pPr>
            <a:r>
              <a:rPr sz="2400" b="0" dirty="0">
                <a:latin typeface="Arial" panose="020B0604020202020204" pitchFamily="34" charset="0"/>
              </a:rPr>
              <a:t>1.	The sample should be a simple random sample, not an inappropriate sample (such as a voluntary response sample).</a:t>
            </a:r>
            <a:endParaRPr sz="2400" b="0" dirty="0">
              <a:latin typeface="Arial" panose="020B0604020202020204" pitchFamily="34" charset="0"/>
            </a:endParaRPr>
          </a:p>
          <a:p>
            <a:pPr marL="455930" indent="-455930">
              <a:spcBef>
                <a:spcPct val="50000"/>
              </a:spcBef>
            </a:pPr>
            <a:r>
              <a:rPr sz="2400" b="0" dirty="0">
                <a:latin typeface="Arial" panose="020B0604020202020204" pitchFamily="34" charset="0"/>
              </a:rPr>
              <a:t>2.	The confidence level should be provided. (It is often 95%, but media reports often neglect to identify it.)</a:t>
            </a:r>
            <a:endParaRPr sz="2400" b="0" dirty="0">
              <a:latin typeface="Arial" panose="020B0604020202020204" pitchFamily="34" charset="0"/>
            </a:endParaRPr>
          </a:p>
          <a:p>
            <a:pPr marL="455930" indent="-455930">
              <a:spcBef>
                <a:spcPct val="50000"/>
              </a:spcBef>
            </a:pPr>
            <a:r>
              <a:rPr sz="2400" b="0" dirty="0">
                <a:latin typeface="Arial" panose="020B0604020202020204" pitchFamily="34" charset="0"/>
              </a:rPr>
              <a:t>3.	The sample size should be provided. (It is usually provided by the media, but not always.)</a:t>
            </a:r>
            <a:endParaRPr sz="2400" b="0" dirty="0">
              <a:latin typeface="Arial" panose="020B0604020202020204" pitchFamily="34" charset="0"/>
            </a:endParaRPr>
          </a:p>
          <a:p>
            <a:pPr marL="455930" indent="-455930">
              <a:spcBef>
                <a:spcPct val="50000"/>
              </a:spcBef>
            </a:pPr>
            <a:r>
              <a:rPr sz="2400" b="0" dirty="0">
                <a:latin typeface="Arial" panose="020B0604020202020204" pitchFamily="34" charset="0"/>
              </a:rPr>
              <a:t>4.	Except for relatively rare cases, the quality of the poll results depends on the sampling method and the size of the sample, but the size of the population is usually not a factor.</a:t>
            </a:r>
            <a:endParaRPr sz="2400" b="0" dirty="0">
              <a:latin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a:spLocks noGrp="1"/>
          </p:cNvSpPr>
          <p:nvPr>
            <p:ph type="title" idx="4294967295"/>
          </p:nvPr>
        </p:nvSpPr>
        <p:spPr>
          <a:xfrm>
            <a:off x="2185988" y="114300"/>
            <a:ext cx="7848600" cy="885825"/>
          </a:xfrm>
          <a:prstGeom prst="rect">
            <a:avLst/>
          </a:prstGeom>
          <a:noFill/>
          <a:ln w="9525">
            <a:noFill/>
          </a:ln>
        </p:spPr>
        <p:txBody>
          <a:bodyPr/>
          <a:p>
            <a:r>
              <a:rPr dirty="0"/>
              <a:t>Caution</a:t>
            </a:r>
            <a:endParaRPr dirty="0"/>
          </a:p>
        </p:txBody>
      </p:sp>
      <p:sp>
        <p:nvSpPr>
          <p:cNvPr id="67586" name="Text Box 3"/>
          <p:cNvSpPr txBox="1"/>
          <p:nvPr/>
        </p:nvSpPr>
        <p:spPr>
          <a:xfrm>
            <a:off x="2195513" y="1743075"/>
            <a:ext cx="8185150" cy="2461260"/>
          </a:xfrm>
          <a:prstGeom prst="rect">
            <a:avLst/>
          </a:prstGeom>
          <a:noFill/>
          <a:ln w="12700">
            <a:noFill/>
          </a:ln>
        </p:spPr>
        <p:txBody>
          <a:bodyPr>
            <a:spAutoFit/>
          </a:bodyPr>
          <a:p>
            <a:pPr>
              <a:spcBef>
                <a:spcPct val="50000"/>
              </a:spcBef>
            </a:pPr>
            <a:r>
              <a:rPr sz="2800" b="0" dirty="0">
                <a:latin typeface="Arial" panose="020B0604020202020204" pitchFamily="34" charset="0"/>
              </a:rPr>
              <a:t>Never follow the common misconception that poll results are unreliable if the sample size is a small percentage of the population size. </a:t>
            </a:r>
            <a:endParaRPr sz="2800" b="0" dirty="0">
              <a:latin typeface="Arial" panose="020B0604020202020204" pitchFamily="34" charset="0"/>
            </a:endParaRPr>
          </a:p>
          <a:p>
            <a:pPr>
              <a:spcBef>
                <a:spcPct val="50000"/>
              </a:spcBef>
            </a:pPr>
            <a:r>
              <a:rPr sz="2800" b="0" dirty="0">
                <a:latin typeface="Arial" panose="020B0604020202020204" pitchFamily="34" charset="0"/>
              </a:rPr>
              <a:t>The population size is usually not a factor in determining the reliability of a poll. </a:t>
            </a:r>
            <a:endParaRPr sz="2800" b="0" dirty="0">
              <a:latin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a:spLocks noGrp="1"/>
          </p:cNvSpPr>
          <p:nvPr>
            <p:ph type="title" idx="4294967295"/>
          </p:nvPr>
        </p:nvSpPr>
        <p:spPr>
          <a:xfrm>
            <a:off x="2185988" y="114300"/>
            <a:ext cx="7848600" cy="885825"/>
          </a:xfrm>
          <a:prstGeom prst="rect">
            <a:avLst/>
          </a:prstGeom>
          <a:noFill/>
          <a:ln w="9525">
            <a:noFill/>
          </a:ln>
        </p:spPr>
        <p:txBody>
          <a:bodyPr/>
          <a:p>
            <a:r>
              <a:rPr dirty="0"/>
              <a:t>Sample Size</a:t>
            </a:r>
            <a:endParaRPr dirty="0"/>
          </a:p>
        </p:txBody>
      </p:sp>
      <p:sp>
        <p:nvSpPr>
          <p:cNvPr id="69634" name="Text Box 3"/>
          <p:cNvSpPr txBox="1"/>
          <p:nvPr/>
        </p:nvSpPr>
        <p:spPr>
          <a:xfrm>
            <a:off x="2184400" y="2051050"/>
            <a:ext cx="7853363" cy="2030095"/>
          </a:xfrm>
          <a:prstGeom prst="rect">
            <a:avLst/>
          </a:prstGeom>
          <a:noFill/>
          <a:ln w="12700">
            <a:noFill/>
          </a:ln>
        </p:spPr>
        <p:txBody>
          <a:bodyPr>
            <a:spAutoFit/>
          </a:bodyPr>
          <a:p>
            <a:pPr>
              <a:spcBef>
                <a:spcPct val="50000"/>
              </a:spcBef>
            </a:pPr>
            <a:r>
              <a:rPr sz="2800" b="0" dirty="0">
                <a:latin typeface="Arial" panose="020B0604020202020204" pitchFamily="34" charset="0"/>
              </a:rPr>
              <a:t>Suppose we want to collect sample data in order to estimate some population proportion.  </a:t>
            </a:r>
            <a:endParaRPr sz="2800" b="0" dirty="0">
              <a:latin typeface="Arial" panose="020B0604020202020204" pitchFamily="34" charset="0"/>
            </a:endParaRPr>
          </a:p>
          <a:p>
            <a:pPr>
              <a:spcBef>
                <a:spcPct val="50000"/>
              </a:spcBef>
            </a:pPr>
            <a:r>
              <a:rPr sz="2800" b="0" dirty="0">
                <a:latin typeface="Arial" panose="020B0604020202020204" pitchFamily="34" charset="0"/>
              </a:rPr>
              <a:t>The question is </a:t>
            </a:r>
            <a:r>
              <a:rPr sz="2800" b="0" dirty="0">
                <a:solidFill>
                  <a:schemeClr val="hlink"/>
                </a:solidFill>
                <a:latin typeface="Arial" panose="020B0604020202020204" pitchFamily="34" charset="0"/>
              </a:rPr>
              <a:t>how many</a:t>
            </a:r>
            <a:r>
              <a:rPr sz="2800" b="0" dirty="0">
                <a:latin typeface="Arial" panose="020B0604020202020204" pitchFamily="34" charset="0"/>
              </a:rPr>
              <a:t> sample items must be obtained?</a:t>
            </a:r>
            <a:endParaRPr sz="2800" b="0" dirty="0">
              <a:latin typeface="Arial" panose="020B060402020202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5"/>
          <p:cNvSpPr>
            <a:spLocks noGrp="1"/>
          </p:cNvSpPr>
          <p:nvPr>
            <p:ph type="title" idx="4294967295"/>
          </p:nvPr>
        </p:nvSpPr>
        <p:spPr>
          <a:xfrm>
            <a:off x="2033588" y="228600"/>
            <a:ext cx="8105775" cy="650875"/>
          </a:xfrm>
          <a:prstGeom prst="rect">
            <a:avLst/>
          </a:prstGeom>
          <a:noFill/>
          <a:ln w="9525">
            <a:noFill/>
          </a:ln>
        </p:spPr>
        <p:txBody>
          <a:bodyPr lIns="90488" tIns="44450" rIns="90488" bIns="44450"/>
          <a:p>
            <a:r>
              <a:rPr dirty="0"/>
              <a:t>Determining Sample Size</a:t>
            </a:r>
            <a:endParaRPr dirty="0"/>
          </a:p>
        </p:txBody>
      </p:sp>
      <p:grpSp>
        <p:nvGrpSpPr>
          <p:cNvPr id="71682" name="Group 31"/>
          <p:cNvGrpSpPr/>
          <p:nvPr/>
        </p:nvGrpSpPr>
        <p:grpSpPr>
          <a:xfrm>
            <a:off x="2679065" y="1180465"/>
            <a:ext cx="5703888" cy="5099050"/>
            <a:chOff x="1114" y="762"/>
            <a:chExt cx="3593" cy="3212"/>
          </a:xfrm>
        </p:grpSpPr>
        <p:grpSp>
          <p:nvGrpSpPr>
            <p:cNvPr id="71683" name="Group 31"/>
            <p:cNvGrpSpPr/>
            <p:nvPr/>
          </p:nvGrpSpPr>
          <p:grpSpPr>
            <a:xfrm>
              <a:off x="1114" y="2226"/>
              <a:ext cx="3593" cy="568"/>
              <a:chOff x="1942" y="1938"/>
              <a:chExt cx="3593" cy="568"/>
            </a:xfrm>
          </p:grpSpPr>
          <p:sp>
            <p:nvSpPr>
              <p:cNvPr id="71686" name="AutoShape 21"/>
              <p:cNvSpPr/>
              <p:nvPr/>
            </p:nvSpPr>
            <p:spPr>
              <a:xfrm flipH="1">
                <a:off x="1942" y="1938"/>
                <a:ext cx="376" cy="568"/>
              </a:xfrm>
              <a:prstGeom prst="downArrow">
                <a:avLst>
                  <a:gd name="adj1" fmla="val 50000"/>
                  <a:gd name="adj2" fmla="val 75566"/>
                </a:avLst>
              </a:prstGeom>
              <a:solidFill>
                <a:schemeClr val="hlink"/>
              </a:solidFill>
              <a:ln w="12700" cap="flat" cmpd="sng">
                <a:solidFill>
                  <a:schemeClr val="tx1"/>
                </a:solidFill>
                <a:prstDash val="solid"/>
                <a:miter/>
                <a:headEnd type="none" w="med" len="med"/>
                <a:tailEnd type="none" w="med" len="med"/>
              </a:ln>
            </p:spPr>
            <p:txBody>
              <a:bodyPr wrap="none" anchor="ctr" anchorCtr="0"/>
              <a:p>
                <a:endParaRPr dirty="0">
                  <a:latin typeface="Arial" panose="020B0604020202020204" pitchFamily="34" charset="0"/>
                </a:endParaRPr>
              </a:p>
            </p:txBody>
          </p:sp>
          <p:sp>
            <p:nvSpPr>
              <p:cNvPr id="71687" name="Rectangle 22"/>
              <p:cNvSpPr/>
              <p:nvPr/>
            </p:nvSpPr>
            <p:spPr>
              <a:xfrm>
                <a:off x="2477" y="1957"/>
                <a:ext cx="3058" cy="405"/>
              </a:xfrm>
              <a:prstGeom prst="rect">
                <a:avLst/>
              </a:prstGeom>
              <a:noFill/>
              <a:ln w="9525">
                <a:noFill/>
              </a:ln>
            </p:spPr>
            <p:txBody>
              <a:bodyPr wrap="none" lIns="90488" tIns="44450" rIns="90488" bIns="44450">
                <a:spAutoFit/>
              </a:bodyPr>
              <a:p>
                <a:r>
                  <a:rPr sz="3600" dirty="0">
                    <a:latin typeface="Arial" panose="020B0604020202020204" pitchFamily="34" charset="0"/>
                  </a:rPr>
                  <a:t>(solve for </a:t>
                </a:r>
                <a:r>
                  <a:rPr sz="3600" i="1" dirty="0">
                    <a:latin typeface="Arial" panose="020B0604020202020204" pitchFamily="34" charset="0"/>
                  </a:rPr>
                  <a:t>n</a:t>
                </a:r>
                <a:r>
                  <a:rPr sz="3600" dirty="0">
                    <a:latin typeface="Arial" panose="020B0604020202020204" pitchFamily="34" charset="0"/>
                  </a:rPr>
                  <a:t> by algebra)</a:t>
                </a:r>
                <a:endParaRPr sz="3600" dirty="0">
                  <a:latin typeface="Arial" panose="020B0604020202020204" pitchFamily="34" charset="0"/>
                </a:endParaRPr>
              </a:p>
            </p:txBody>
          </p:sp>
        </p:grpSp>
        <p:pic>
          <p:nvPicPr>
            <p:cNvPr id="71684" name="Picture 29" descr="determining2"/>
            <p:cNvPicPr>
              <a:picLocks noChangeAspect="1"/>
            </p:cNvPicPr>
            <p:nvPr/>
          </p:nvPicPr>
          <p:blipFill>
            <a:blip r:embed="rId1"/>
            <a:stretch>
              <a:fillRect/>
            </a:stretch>
          </p:blipFill>
          <p:spPr>
            <a:xfrm>
              <a:off x="1898" y="2869"/>
              <a:ext cx="1997" cy="1105"/>
            </a:xfrm>
            <a:prstGeom prst="rect">
              <a:avLst/>
            </a:prstGeom>
            <a:noFill/>
            <a:ln w="9525">
              <a:noFill/>
            </a:ln>
          </p:spPr>
        </p:pic>
        <p:pic>
          <p:nvPicPr>
            <p:cNvPr id="71685" name="Picture 30" descr="determining1"/>
            <p:cNvPicPr>
              <a:picLocks noChangeAspect="1"/>
            </p:cNvPicPr>
            <p:nvPr/>
          </p:nvPicPr>
          <p:blipFill>
            <a:blip r:embed="rId2"/>
            <a:stretch>
              <a:fillRect/>
            </a:stretch>
          </p:blipFill>
          <p:spPr>
            <a:xfrm>
              <a:off x="1960" y="762"/>
              <a:ext cx="1856" cy="964"/>
            </a:xfrm>
            <a:prstGeom prst="rect">
              <a:avLst/>
            </a:prstGeom>
            <a:noFill/>
            <a:ln w="9525">
              <a:noFill/>
            </a:ln>
          </p:spPr>
        </p:pic>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idx="4294967295"/>
          </p:nvPr>
        </p:nvSpPr>
        <p:spPr>
          <a:xfrm>
            <a:off x="1784350" y="352425"/>
            <a:ext cx="8591550" cy="1031875"/>
          </a:xfrm>
          <a:prstGeom prst="rect">
            <a:avLst/>
          </a:prstGeom>
          <a:noFill/>
          <a:ln w="9525">
            <a:noFill/>
          </a:ln>
        </p:spPr>
        <p:txBody>
          <a:bodyPr lIns="90488" tIns="44450" rIns="90488" bIns="44450"/>
          <a:p>
            <a:r>
              <a:rPr dirty="0"/>
              <a:t>Sample Size for Estimating </a:t>
            </a:r>
            <a:br>
              <a:rPr dirty="0"/>
            </a:br>
            <a:r>
              <a:rPr dirty="0"/>
              <a:t>Proportion </a:t>
            </a:r>
            <a:r>
              <a:rPr i="1" dirty="0"/>
              <a:t>p</a:t>
            </a:r>
            <a:endParaRPr i="1" dirty="0"/>
          </a:p>
        </p:txBody>
      </p:sp>
      <p:sp>
        <p:nvSpPr>
          <p:cNvPr id="73730" name="Rectangle 5"/>
          <p:cNvSpPr/>
          <p:nvPr/>
        </p:nvSpPr>
        <p:spPr>
          <a:xfrm>
            <a:off x="2478088" y="5464175"/>
            <a:ext cx="8745537" cy="1135063"/>
          </a:xfrm>
          <a:prstGeom prst="rect">
            <a:avLst/>
          </a:prstGeom>
          <a:noFill/>
          <a:ln w="9525">
            <a:noFill/>
          </a:ln>
        </p:spPr>
        <p:txBody>
          <a:bodyPr wrap="none" anchor="ctr" anchorCtr="0"/>
          <a:p>
            <a:endParaRPr dirty="0">
              <a:latin typeface="Arial" panose="020B0604020202020204" pitchFamily="34" charset="0"/>
            </a:endParaRPr>
          </a:p>
        </p:txBody>
      </p:sp>
      <p:sp>
        <p:nvSpPr>
          <p:cNvPr id="73731" name="Rectangle 22"/>
          <p:cNvSpPr/>
          <p:nvPr/>
        </p:nvSpPr>
        <p:spPr>
          <a:xfrm>
            <a:off x="8277225" y="5103813"/>
            <a:ext cx="307340" cy="457835"/>
          </a:xfrm>
          <a:prstGeom prst="rect">
            <a:avLst/>
          </a:prstGeom>
          <a:noFill/>
          <a:ln w="9525">
            <a:noFill/>
          </a:ln>
        </p:spPr>
        <p:txBody>
          <a:bodyPr wrap="none" lIns="90488" tIns="44450" rIns="90488" bIns="44450">
            <a:spAutoFit/>
          </a:bodyPr>
          <a:p>
            <a:endParaRPr sz="2400" dirty="0">
              <a:solidFill>
                <a:schemeClr val="hlink"/>
              </a:solidFill>
              <a:latin typeface="Arial" panose="020B0604020202020204" pitchFamily="34" charset="0"/>
            </a:endParaRPr>
          </a:p>
        </p:txBody>
      </p:sp>
      <p:grpSp>
        <p:nvGrpSpPr>
          <p:cNvPr id="73732" name="Group 36"/>
          <p:cNvGrpSpPr/>
          <p:nvPr/>
        </p:nvGrpSpPr>
        <p:grpSpPr>
          <a:xfrm>
            <a:off x="2276475" y="1366203"/>
            <a:ext cx="5634038" cy="4435475"/>
            <a:chOff x="642" y="1103"/>
            <a:chExt cx="3549" cy="2794"/>
          </a:xfrm>
        </p:grpSpPr>
        <p:sp>
          <p:nvSpPr>
            <p:cNvPr id="73733" name="Rectangle 6"/>
            <p:cNvSpPr/>
            <p:nvPr/>
          </p:nvSpPr>
          <p:spPr>
            <a:xfrm>
              <a:off x="654" y="1103"/>
              <a:ext cx="3537" cy="327"/>
            </a:xfrm>
            <a:prstGeom prst="rect">
              <a:avLst/>
            </a:prstGeom>
            <a:noFill/>
            <a:ln w="9525">
              <a:noFill/>
            </a:ln>
          </p:spPr>
          <p:txBody>
            <a:bodyPr wrap="none" lIns="90488" tIns="44450" rIns="90488" bIns="44450">
              <a:spAutoFit/>
            </a:bodyPr>
            <a:p>
              <a:r>
                <a:rPr sz="2800" dirty="0">
                  <a:latin typeface="Arial" panose="020B0604020202020204" pitchFamily="34" charset="0"/>
                </a:rPr>
                <a:t>When an estimate of </a:t>
              </a:r>
              <a:r>
                <a:rPr sz="2800" i="1" dirty="0">
                  <a:latin typeface="Arial" panose="020B0604020202020204" pitchFamily="34" charset="0"/>
                </a:rPr>
                <a:t>    </a:t>
              </a:r>
              <a:r>
                <a:rPr sz="2800" dirty="0">
                  <a:latin typeface="Arial" panose="020B0604020202020204" pitchFamily="34" charset="0"/>
                </a:rPr>
                <a:t> is known: </a:t>
              </a:r>
              <a:endParaRPr sz="2800" dirty="0">
                <a:latin typeface="Arial" panose="020B0604020202020204" pitchFamily="34" charset="0"/>
              </a:endParaRPr>
            </a:p>
          </p:txBody>
        </p:sp>
        <p:sp>
          <p:nvSpPr>
            <p:cNvPr id="73734" name="Rectangle 21"/>
            <p:cNvSpPr/>
            <p:nvPr/>
          </p:nvSpPr>
          <p:spPr>
            <a:xfrm>
              <a:off x="642" y="2730"/>
              <a:ext cx="3475" cy="327"/>
            </a:xfrm>
            <a:prstGeom prst="rect">
              <a:avLst/>
            </a:prstGeom>
            <a:noFill/>
            <a:ln w="9525">
              <a:noFill/>
            </a:ln>
          </p:spPr>
          <p:txBody>
            <a:bodyPr wrap="none" lIns="90488" tIns="44450" rIns="90488" bIns="44450">
              <a:spAutoFit/>
            </a:bodyPr>
            <a:p>
              <a:r>
                <a:rPr sz="2800" dirty="0">
                  <a:latin typeface="Arial" panose="020B0604020202020204" pitchFamily="34" charset="0"/>
                </a:rPr>
                <a:t>When no estimate of      is known:</a:t>
              </a:r>
              <a:endParaRPr sz="2800" dirty="0">
                <a:latin typeface="Arial" panose="020B0604020202020204" pitchFamily="34" charset="0"/>
              </a:endParaRPr>
            </a:p>
          </p:txBody>
        </p:sp>
        <p:pic>
          <p:nvPicPr>
            <p:cNvPr id="73735" name="Picture 32" descr="samplesize"/>
            <p:cNvPicPr>
              <a:picLocks noChangeAspect="1"/>
            </p:cNvPicPr>
            <p:nvPr/>
          </p:nvPicPr>
          <p:blipFill>
            <a:blip r:embed="rId1"/>
            <a:stretch>
              <a:fillRect/>
            </a:stretch>
          </p:blipFill>
          <p:spPr>
            <a:xfrm>
              <a:off x="2039" y="3193"/>
              <a:ext cx="1408" cy="704"/>
            </a:xfrm>
            <a:prstGeom prst="rect">
              <a:avLst/>
            </a:prstGeom>
            <a:noFill/>
            <a:ln w="9525">
              <a:noFill/>
            </a:ln>
          </p:spPr>
        </p:pic>
        <p:pic>
          <p:nvPicPr>
            <p:cNvPr id="73736" name="Picture 33" descr="determining2"/>
            <p:cNvPicPr>
              <a:picLocks noChangeAspect="1"/>
            </p:cNvPicPr>
            <p:nvPr/>
          </p:nvPicPr>
          <p:blipFill>
            <a:blip r:embed="rId2"/>
            <a:stretch>
              <a:fillRect/>
            </a:stretch>
          </p:blipFill>
          <p:spPr>
            <a:xfrm>
              <a:off x="1912" y="1628"/>
              <a:ext cx="1529" cy="846"/>
            </a:xfrm>
            <a:prstGeom prst="rect">
              <a:avLst/>
            </a:prstGeom>
            <a:noFill/>
            <a:ln w="9525">
              <a:noFill/>
            </a:ln>
          </p:spPr>
        </p:pic>
        <p:pic>
          <p:nvPicPr>
            <p:cNvPr id="73737" name="Picture 34" descr="definition1"/>
            <p:cNvPicPr>
              <a:picLocks noChangeAspect="1"/>
            </p:cNvPicPr>
            <p:nvPr/>
          </p:nvPicPr>
          <p:blipFill>
            <a:blip r:embed="rId3"/>
            <a:stretch>
              <a:fillRect/>
            </a:stretch>
          </p:blipFill>
          <p:spPr>
            <a:xfrm>
              <a:off x="2879" y="1149"/>
              <a:ext cx="176" cy="272"/>
            </a:xfrm>
            <a:prstGeom prst="rect">
              <a:avLst/>
            </a:prstGeom>
            <a:noFill/>
            <a:ln w="9525">
              <a:noFill/>
            </a:ln>
          </p:spPr>
        </p:pic>
        <p:pic>
          <p:nvPicPr>
            <p:cNvPr id="73738" name="Picture 35" descr="definition1"/>
            <p:cNvPicPr>
              <a:picLocks noChangeAspect="1"/>
            </p:cNvPicPr>
            <p:nvPr/>
          </p:nvPicPr>
          <p:blipFill>
            <a:blip r:embed="rId3"/>
            <a:stretch>
              <a:fillRect/>
            </a:stretch>
          </p:blipFill>
          <p:spPr>
            <a:xfrm>
              <a:off x="2833" y="2775"/>
              <a:ext cx="176" cy="272"/>
            </a:xfrm>
            <a:prstGeom prst="rect">
              <a:avLst/>
            </a:prstGeom>
            <a:noFill/>
            <a:ln w="9525">
              <a:noFill/>
            </a:ln>
          </p:spPr>
        </p:pic>
      </p:grpSp>
      <p:sp>
        <p:nvSpPr>
          <p:cNvPr id="4" name="Rectangle 6"/>
          <p:cNvSpPr/>
          <p:nvPr/>
        </p:nvSpPr>
        <p:spPr>
          <a:xfrm>
            <a:off x="2276475" y="5856923"/>
            <a:ext cx="5235575" cy="519430"/>
          </a:xfrm>
          <a:prstGeom prst="rect">
            <a:avLst/>
          </a:prstGeom>
          <a:noFill/>
          <a:ln w="9525">
            <a:noFill/>
          </a:ln>
        </p:spPr>
        <p:txBody>
          <a:bodyPr wrap="none" lIns="90488" tIns="44450" rIns="90488" bIns="44450">
            <a:spAutoFit/>
          </a:bodyPr>
          <a:p>
            <a:r>
              <a:rPr lang="en-US" sz="2800" dirty="0">
                <a:latin typeface="Arial" panose="020B0604020202020204" pitchFamily="34" charset="0"/>
              </a:rPr>
              <a:t>(Cauchy inequality: x(1-x)&lt;=1/4)</a:t>
            </a:r>
            <a:endParaRPr lang="en-US" sz="2800" dirty="0">
              <a:latin typeface="Arial" panose="020B0604020202020204" pitchFamily="3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Rectangle 2"/>
          <p:cNvSpPr>
            <a:spLocks noGrp="1"/>
          </p:cNvSpPr>
          <p:nvPr>
            <p:ph type="title" idx="4294967295"/>
          </p:nvPr>
        </p:nvSpPr>
        <p:spPr>
          <a:xfrm>
            <a:off x="2179638" y="352425"/>
            <a:ext cx="8196262" cy="1254125"/>
          </a:xfrm>
          <a:prstGeom prst="rect">
            <a:avLst/>
          </a:prstGeom>
          <a:noFill/>
          <a:ln w="9525">
            <a:noFill/>
          </a:ln>
        </p:spPr>
        <p:txBody>
          <a:bodyPr lIns="90488" tIns="44450" rIns="90488" bIns="44450"/>
          <a:p>
            <a:r>
              <a:rPr dirty="0"/>
              <a:t>Round-Off Rule for Determining Sample Size</a:t>
            </a:r>
            <a:endParaRPr i="1" dirty="0"/>
          </a:p>
        </p:txBody>
      </p:sp>
      <p:sp>
        <p:nvSpPr>
          <p:cNvPr id="75778" name="Rectangle 4"/>
          <p:cNvSpPr/>
          <p:nvPr/>
        </p:nvSpPr>
        <p:spPr>
          <a:xfrm>
            <a:off x="2165985" y="2164715"/>
            <a:ext cx="7432675" cy="1381125"/>
          </a:xfrm>
          <a:prstGeom prst="rect">
            <a:avLst/>
          </a:prstGeom>
          <a:noFill/>
          <a:ln w="9525">
            <a:noFill/>
          </a:ln>
        </p:spPr>
        <p:txBody>
          <a:bodyPr lIns="90488" tIns="44450" rIns="90488" bIns="44450">
            <a:spAutoFit/>
          </a:bodyPr>
          <a:p>
            <a:r>
              <a:rPr sz="2800" b="0" dirty="0">
                <a:latin typeface="Arial" panose="020B0604020202020204" pitchFamily="34" charset="0"/>
              </a:rPr>
              <a:t>If the computed sample size </a:t>
            </a:r>
            <a:r>
              <a:rPr sz="2800" b="0" i="1" dirty="0">
                <a:latin typeface="Arial" panose="020B0604020202020204" pitchFamily="34" charset="0"/>
              </a:rPr>
              <a:t>n</a:t>
            </a:r>
            <a:r>
              <a:rPr sz="2800" b="0" dirty="0">
                <a:latin typeface="Arial" panose="020B0604020202020204" pitchFamily="34" charset="0"/>
              </a:rPr>
              <a:t> is not a whole number, round the value of </a:t>
            </a:r>
            <a:r>
              <a:rPr sz="2800" b="0" i="1" dirty="0">
                <a:latin typeface="Arial" panose="020B0604020202020204" pitchFamily="34" charset="0"/>
              </a:rPr>
              <a:t>n</a:t>
            </a:r>
            <a:r>
              <a:rPr sz="2800" b="0" dirty="0">
                <a:latin typeface="Arial" panose="020B0604020202020204" pitchFamily="34" charset="0"/>
              </a:rPr>
              <a:t> up to the next </a:t>
            </a:r>
            <a:r>
              <a:rPr sz="2800" b="0" dirty="0">
                <a:solidFill>
                  <a:srgbClr val="FF0000"/>
                </a:solidFill>
                <a:latin typeface="Arial" panose="020B0604020202020204" pitchFamily="34" charset="0"/>
              </a:rPr>
              <a:t>larger</a:t>
            </a:r>
            <a:r>
              <a:rPr sz="2800" b="0" dirty="0">
                <a:latin typeface="Arial" panose="020B0604020202020204" pitchFamily="34" charset="0"/>
              </a:rPr>
              <a:t> whole number.</a:t>
            </a:r>
            <a:endParaRPr sz="2800" b="0" dirty="0">
              <a:latin typeface="Arial" panose="020B0604020202020204" pitchFamily="3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idx="4294967295"/>
          </p:nvPr>
        </p:nvSpPr>
        <p:spPr>
          <a:xfrm>
            <a:off x="2101850" y="207963"/>
            <a:ext cx="8229600" cy="563562"/>
          </a:xfrm>
          <a:prstGeom prst="rect">
            <a:avLst/>
          </a:prstGeom>
          <a:noFill/>
          <a:ln w="9525">
            <a:noFill/>
          </a:ln>
        </p:spPr>
        <p:txBody>
          <a:bodyPr lIns="90488" tIns="44450" rIns="90488" bIns="44450"/>
          <a:p>
            <a:r>
              <a:rPr sz="2800" dirty="0"/>
              <a:t>Example</a:t>
            </a:r>
            <a:endParaRPr sz="2800" dirty="0">
              <a:solidFill>
                <a:schemeClr val="tx1"/>
              </a:solidFill>
            </a:endParaRPr>
          </a:p>
        </p:txBody>
      </p:sp>
      <p:sp>
        <p:nvSpPr>
          <p:cNvPr id="40963" name="Rectangle 3"/>
          <p:cNvSpPr>
            <a:spLocks noGrp="1" noChangeArrowheads="1"/>
          </p:cNvSpPr>
          <p:nvPr>
            <p:ph type="body" idx="4294967295"/>
          </p:nvPr>
        </p:nvSpPr>
        <p:spPr bwMode="auto">
          <a:xfrm>
            <a:off x="2133600" y="1000125"/>
            <a:ext cx="8001000" cy="4029075"/>
          </a:xfrm>
          <a:prstGeom prst="rect">
            <a:avLst/>
          </a:prstGeom>
        </p:spPr>
        <p:txBody>
          <a:bodyPr lIns="90488" tIns="44450" rIns="90488" bIns="44450"/>
          <a:lstStyle/>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Many companies are interested in knowing the percentage of adults who buy clothing online.</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How many adults must be surveyed in order to be 95% confident that the sample percentage is in error by no more than three percentage points?</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0" algn="l" defTabSz="914400" rtl="0" eaLnBrk="0" fontAlgn="base" latinLnBrk="0" hangingPunct="0">
              <a:lnSpc>
                <a:spcPct val="90000"/>
              </a:lnSpc>
              <a:spcBef>
                <a:spcPct val="0"/>
              </a:spcBef>
              <a:spcAft>
                <a:spcPct val="0"/>
              </a:spcAft>
              <a:buClrTx/>
              <a:buSzPct val="100000"/>
              <a:buFontTx/>
              <a:buNone/>
              <a:tabLst>
                <a:tab pos="455295" algn="l"/>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a.	Use a recent result from the Census Bureau:  66%    	of adults buy clothing online.</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1905" marR="0" lvl="0" indent="-1905" algn="l" defTabSz="914400" rtl="0" eaLnBrk="0" fontAlgn="base" latinLnBrk="0" hangingPunct="0">
              <a:lnSpc>
                <a:spcPct val="90000"/>
              </a:lnSpc>
              <a:spcBef>
                <a:spcPct val="0"/>
              </a:spcBef>
              <a:spcAft>
                <a:spcPct val="0"/>
              </a:spcAft>
              <a:buClrTx/>
              <a:buSzPct val="100000"/>
              <a:buFontTx/>
              <a:buNone/>
              <a:tabLst>
                <a:tab pos="455295" algn="l"/>
              </a:tabLst>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b.	Assume that we have no prior information suggesting 	a possible value of the proportion.</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p:txBody>
      </p:sp>
      <p:sp>
        <p:nvSpPr>
          <p:cNvPr id="77827" name="Rectangle 4"/>
          <p:cNvSpPr/>
          <p:nvPr/>
        </p:nvSpPr>
        <p:spPr>
          <a:xfrm>
            <a:off x="3819525" y="3036888"/>
            <a:ext cx="354013" cy="641350"/>
          </a:xfrm>
          <a:prstGeom prst="rect">
            <a:avLst/>
          </a:prstGeom>
          <a:noFill/>
          <a:ln w="9525">
            <a:noFill/>
          </a:ln>
        </p:spPr>
        <p:txBody>
          <a:bodyPr wrap="none" anchor="ctr" anchorCtr="0"/>
          <a:p>
            <a:endParaRPr dirty="0">
              <a:latin typeface="Arial" panose="020B0604020202020204" pitchFamily="34" charset="0"/>
            </a:endParaRPr>
          </a:p>
        </p:txBody>
      </p:sp>
      <p:sp>
        <p:nvSpPr>
          <p:cNvPr id="77828" name="Rectangle 5"/>
          <p:cNvSpPr/>
          <p:nvPr/>
        </p:nvSpPr>
        <p:spPr>
          <a:xfrm>
            <a:off x="3260725" y="3651250"/>
            <a:ext cx="420688" cy="476250"/>
          </a:xfrm>
          <a:prstGeom prst="rect">
            <a:avLst/>
          </a:prstGeom>
          <a:noFill/>
          <a:ln w="9525">
            <a:noFill/>
          </a:ln>
        </p:spPr>
        <p:txBody>
          <a:bodyPr wrap="none" anchor="ctr" anchorCtr="0"/>
          <a:p>
            <a:endParaRPr dirty="0">
              <a:latin typeface="Arial" panose="020B0604020202020204" pitchFamily="34" charset="0"/>
            </a:endParaRPr>
          </a:p>
        </p:txBody>
      </p:sp>
      <p:sp>
        <p:nvSpPr>
          <p:cNvPr id="77829" name="Rectangle 6"/>
          <p:cNvSpPr/>
          <p:nvPr/>
        </p:nvSpPr>
        <p:spPr>
          <a:xfrm>
            <a:off x="3489325" y="3622675"/>
            <a:ext cx="296863" cy="312738"/>
          </a:xfrm>
          <a:prstGeom prst="rect">
            <a:avLst/>
          </a:prstGeom>
          <a:noFill/>
          <a:ln w="9525">
            <a:noFill/>
          </a:ln>
        </p:spPr>
        <p:txBody>
          <a:bodyPr wrap="none" anchor="ctr" anchorCtr="0"/>
          <a:p>
            <a:endParaRPr dirty="0">
              <a:latin typeface="Arial" panose="020B0604020202020204" pitchFamily="34" charset="0"/>
            </a:endParaRPr>
          </a:p>
        </p:txBody>
      </p:sp>
      <p:sp>
        <p:nvSpPr>
          <p:cNvPr id="77830" name="Rectangle 8"/>
          <p:cNvSpPr/>
          <p:nvPr/>
        </p:nvSpPr>
        <p:spPr>
          <a:xfrm>
            <a:off x="3641725" y="4760913"/>
            <a:ext cx="890588" cy="420687"/>
          </a:xfrm>
          <a:prstGeom prst="rect">
            <a:avLst/>
          </a:prstGeom>
          <a:noFill/>
          <a:ln w="9525">
            <a:noFill/>
          </a:ln>
        </p:spPr>
        <p:txBody>
          <a:bodyPr wrap="none" anchor="ctr" anchorCtr="0"/>
          <a:p>
            <a:endParaRPr dirty="0">
              <a:latin typeface="Arial" panose="020B0604020202020204" pitchFamily="3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Rectangle 3"/>
          <p:cNvSpPr>
            <a:spLocks noGrp="1"/>
          </p:cNvSpPr>
          <p:nvPr>
            <p:ph type="body" idx="4294967295"/>
          </p:nvPr>
        </p:nvSpPr>
        <p:spPr>
          <a:xfrm>
            <a:off x="2057400" y="847725"/>
            <a:ext cx="7772400" cy="965200"/>
          </a:xfrm>
          <a:prstGeom prst="rect">
            <a:avLst/>
          </a:prstGeom>
          <a:noFill/>
          <a:ln w="9525">
            <a:noFill/>
          </a:ln>
        </p:spPr>
        <p:txBody>
          <a:bodyPr lIns="90488" tIns="44450" rIns="90488" bIns="44450"/>
          <a:p>
            <a:pPr marL="457200" indent="-457200">
              <a:lnSpc>
                <a:spcPct val="88000"/>
              </a:lnSpc>
              <a:buFont typeface="Wingdings" panose="05000000000000000000" pitchFamily="2" charset="2"/>
              <a:buNone/>
            </a:pPr>
            <a:r>
              <a:rPr b="0" dirty="0"/>
              <a:t>a)	Use</a:t>
            </a:r>
            <a:endParaRPr b="0" dirty="0"/>
          </a:p>
        </p:txBody>
      </p:sp>
      <p:sp>
        <p:nvSpPr>
          <p:cNvPr id="79874" name="Rectangle 9"/>
          <p:cNvSpPr/>
          <p:nvPr/>
        </p:nvSpPr>
        <p:spPr>
          <a:xfrm>
            <a:off x="2362200" y="4495800"/>
            <a:ext cx="5807075" cy="1733550"/>
          </a:xfrm>
          <a:prstGeom prst="rect">
            <a:avLst/>
          </a:prstGeom>
          <a:noFill/>
          <a:ln w="9525">
            <a:noFill/>
          </a:ln>
        </p:spPr>
        <p:txBody>
          <a:bodyPr wrap="none" anchor="ctr" anchorCtr="0"/>
          <a:p>
            <a:endParaRPr b="0" dirty="0">
              <a:latin typeface="Arial" panose="020B0604020202020204" pitchFamily="34" charset="0"/>
            </a:endParaRPr>
          </a:p>
        </p:txBody>
      </p:sp>
      <p:sp>
        <p:nvSpPr>
          <p:cNvPr id="151571" name="Rectangle 19"/>
          <p:cNvSpPr/>
          <p:nvPr/>
        </p:nvSpPr>
        <p:spPr>
          <a:xfrm>
            <a:off x="7162800" y="2711450"/>
            <a:ext cx="3338513" cy="1750695"/>
          </a:xfrm>
          <a:prstGeom prst="rect">
            <a:avLst/>
          </a:prstGeom>
          <a:noFill/>
          <a:ln w="9525">
            <a:noFill/>
          </a:ln>
        </p:spPr>
        <p:txBody>
          <a:bodyPr lIns="90488" tIns="44450" rIns="90488" bIns="44450">
            <a:spAutoFit/>
          </a:bodyPr>
          <a:p>
            <a:pPr>
              <a:spcBef>
                <a:spcPct val="30000"/>
              </a:spcBef>
            </a:pPr>
            <a:r>
              <a:rPr b="0" dirty="0">
                <a:solidFill>
                  <a:schemeClr val="tx2"/>
                </a:solidFill>
                <a:latin typeface="Arial" panose="020B0604020202020204" pitchFamily="34" charset="0"/>
              </a:rPr>
              <a:t>To be 95% confident that our sample percentage is within three percentage points of the true percentage for all adults, we should obtain a simple random sample of 958 adults.</a:t>
            </a:r>
            <a:endParaRPr b="0" dirty="0">
              <a:solidFill>
                <a:schemeClr val="tx2"/>
              </a:solidFill>
              <a:latin typeface="Arial" panose="020B0604020202020204" pitchFamily="34" charset="0"/>
            </a:endParaRPr>
          </a:p>
        </p:txBody>
      </p:sp>
      <p:sp>
        <p:nvSpPr>
          <p:cNvPr id="79876" name="Rectangle 26"/>
          <p:cNvSpPr/>
          <p:nvPr/>
        </p:nvSpPr>
        <p:spPr>
          <a:xfrm>
            <a:off x="2089150" y="122238"/>
            <a:ext cx="8229600" cy="587375"/>
          </a:xfrm>
          <a:prstGeom prst="rect">
            <a:avLst/>
          </a:prstGeom>
          <a:noFill/>
          <a:ln w="9525">
            <a:noFill/>
          </a:ln>
        </p:spPr>
        <p:txBody>
          <a:bodyPr lIns="90488" tIns="44450" rIns="90488" bIns="44450" anchor="ctr" anchorCtr="0"/>
          <a:p>
            <a:pPr algn="ctr"/>
            <a:r>
              <a:rPr sz="2800" b="0" dirty="0">
                <a:solidFill>
                  <a:srgbClr val="008000"/>
                </a:solidFill>
                <a:latin typeface="Arial" panose="020B0604020202020204" pitchFamily="34" charset="0"/>
              </a:rPr>
              <a:t>Example - Continued</a:t>
            </a:r>
            <a:endParaRPr sz="2800" b="0" dirty="0">
              <a:latin typeface="Arial" panose="020B0604020202020204" pitchFamily="34" charset="0"/>
            </a:endParaRPr>
          </a:p>
        </p:txBody>
      </p:sp>
      <p:graphicFrame>
        <p:nvGraphicFramePr>
          <p:cNvPr id="79877" name="Object 30"/>
          <p:cNvGraphicFramePr>
            <a:graphicFrameLocks noChangeAspect="1"/>
          </p:cNvGraphicFramePr>
          <p:nvPr/>
        </p:nvGraphicFramePr>
        <p:xfrm>
          <a:off x="3668713" y="879475"/>
          <a:ext cx="4660900" cy="1485900"/>
        </p:xfrm>
        <a:graphic>
          <a:graphicData uri="http://schemas.openxmlformats.org/presentationml/2006/ole">
            <mc:AlternateContent xmlns:mc="http://schemas.openxmlformats.org/markup-compatibility/2006">
              <mc:Choice xmlns:v="urn:schemas-microsoft-com:vml" Requires="v">
                <p:oleObj spid="_x0000_s3086" name="" r:id="rId1" imgW="4660900" imgH="1485900" progId="Equation.DSMT4">
                  <p:embed/>
                </p:oleObj>
              </mc:Choice>
              <mc:Fallback>
                <p:oleObj name="" r:id="rId1" imgW="4660900" imgH="1485900" progId="Equation.DSMT4">
                  <p:embed/>
                  <p:pic>
                    <p:nvPicPr>
                      <p:cNvPr id="0" name="Picture 3085"/>
                      <p:cNvPicPr/>
                      <p:nvPr/>
                    </p:nvPicPr>
                    <p:blipFill>
                      <a:blip r:embed="rId2"/>
                      <a:stretch>
                        <a:fillRect/>
                      </a:stretch>
                    </p:blipFill>
                    <p:spPr>
                      <a:xfrm>
                        <a:off x="3668713" y="879475"/>
                        <a:ext cx="4660900" cy="1485900"/>
                      </a:xfrm>
                      <a:prstGeom prst="rect">
                        <a:avLst/>
                      </a:prstGeom>
                      <a:noFill/>
                      <a:ln w="38100">
                        <a:noFill/>
                        <a:miter/>
                      </a:ln>
                    </p:spPr>
                  </p:pic>
                </p:oleObj>
              </mc:Fallback>
            </mc:AlternateContent>
          </a:graphicData>
        </a:graphic>
      </p:graphicFrame>
      <p:graphicFrame>
        <p:nvGraphicFramePr>
          <p:cNvPr id="151583" name="Object 31"/>
          <p:cNvGraphicFramePr>
            <a:graphicFrameLocks noChangeAspect="1"/>
          </p:cNvGraphicFramePr>
          <p:nvPr/>
        </p:nvGraphicFramePr>
        <p:xfrm>
          <a:off x="2566988" y="2800350"/>
          <a:ext cx="3771900" cy="3327400"/>
        </p:xfrm>
        <a:graphic>
          <a:graphicData uri="http://schemas.openxmlformats.org/presentationml/2006/ole">
            <mc:AlternateContent xmlns:mc="http://schemas.openxmlformats.org/markup-compatibility/2006">
              <mc:Choice xmlns:v="urn:schemas-microsoft-com:vml" Requires="v">
                <p:oleObj spid="_x0000_s3088" name="" r:id="rId3" imgW="3771900" imgH="3327400" progId="Equation.DSMT4">
                  <p:embed/>
                </p:oleObj>
              </mc:Choice>
              <mc:Fallback>
                <p:oleObj name="" r:id="rId3" imgW="3771900" imgH="3327400" progId="Equation.DSMT4">
                  <p:embed/>
                  <p:pic>
                    <p:nvPicPr>
                      <p:cNvPr id="0" name="Picture 3087"/>
                      <p:cNvPicPr/>
                      <p:nvPr/>
                    </p:nvPicPr>
                    <p:blipFill>
                      <a:blip r:embed="rId4"/>
                      <a:stretch>
                        <a:fillRect/>
                      </a:stretch>
                    </p:blipFill>
                    <p:spPr>
                      <a:xfrm>
                        <a:off x="2566988" y="2800350"/>
                        <a:ext cx="3771900" cy="33274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15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1571">
                                            <p:txEl>
                                              <p:charRg st="0" end="17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7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type="body" idx="4294967295"/>
          </p:nvPr>
        </p:nvSpPr>
        <p:spPr>
          <a:xfrm>
            <a:off x="2032000" y="820738"/>
            <a:ext cx="7772400" cy="965200"/>
          </a:xfrm>
          <a:prstGeom prst="rect">
            <a:avLst/>
          </a:prstGeom>
          <a:noFill/>
          <a:ln w="9525">
            <a:noFill/>
          </a:ln>
        </p:spPr>
        <p:txBody>
          <a:bodyPr lIns="90488" tIns="44450" rIns="90488" bIns="44450"/>
          <a:p>
            <a:pPr marL="457200" indent="-457200">
              <a:lnSpc>
                <a:spcPct val="88000"/>
              </a:lnSpc>
              <a:buFont typeface="Wingdings" panose="05000000000000000000" pitchFamily="2" charset="2"/>
              <a:buNone/>
            </a:pPr>
            <a:r>
              <a:rPr b="0" dirty="0"/>
              <a:t>b)	Use</a:t>
            </a:r>
            <a:endParaRPr b="0" dirty="0"/>
          </a:p>
        </p:txBody>
      </p:sp>
      <p:sp>
        <p:nvSpPr>
          <p:cNvPr id="81922" name="Rectangle 3"/>
          <p:cNvSpPr/>
          <p:nvPr/>
        </p:nvSpPr>
        <p:spPr>
          <a:xfrm>
            <a:off x="2314575" y="4492625"/>
            <a:ext cx="5807075" cy="1733550"/>
          </a:xfrm>
          <a:prstGeom prst="rect">
            <a:avLst/>
          </a:prstGeom>
          <a:noFill/>
          <a:ln w="9525">
            <a:noFill/>
          </a:ln>
        </p:spPr>
        <p:txBody>
          <a:bodyPr wrap="none" anchor="ctr" anchorCtr="0"/>
          <a:p>
            <a:endParaRPr b="0" dirty="0">
              <a:latin typeface="Arial" panose="020B0604020202020204" pitchFamily="34" charset="0"/>
            </a:endParaRPr>
          </a:p>
        </p:txBody>
      </p:sp>
      <p:sp>
        <p:nvSpPr>
          <p:cNvPr id="545796" name="Rectangle 4"/>
          <p:cNvSpPr/>
          <p:nvPr/>
        </p:nvSpPr>
        <p:spPr>
          <a:xfrm>
            <a:off x="6705600" y="2362200"/>
            <a:ext cx="3770313" cy="3043555"/>
          </a:xfrm>
          <a:prstGeom prst="rect">
            <a:avLst/>
          </a:prstGeom>
          <a:noFill/>
          <a:ln w="9525">
            <a:noFill/>
          </a:ln>
        </p:spPr>
        <p:txBody>
          <a:bodyPr lIns="90488" tIns="44450" rIns="90488" bIns="44450">
            <a:spAutoFit/>
          </a:bodyPr>
          <a:p>
            <a:pPr>
              <a:spcBef>
                <a:spcPct val="30000"/>
              </a:spcBef>
            </a:pPr>
            <a:r>
              <a:rPr sz="2400" b="0" dirty="0">
                <a:solidFill>
                  <a:schemeClr val="tx2"/>
                </a:solidFill>
                <a:latin typeface="Arial" panose="020B0604020202020204" pitchFamily="34" charset="0"/>
              </a:rPr>
              <a:t>To be 95% confident that our sample percentage is within three percentage points of the true percentage for all adults, we should obtain a simple random sample of 1068 adults.</a:t>
            </a:r>
            <a:endParaRPr sz="2400" b="0" dirty="0">
              <a:solidFill>
                <a:schemeClr val="tx2"/>
              </a:solidFill>
              <a:latin typeface="Arial" panose="020B0604020202020204" pitchFamily="34" charset="0"/>
            </a:endParaRPr>
          </a:p>
        </p:txBody>
      </p:sp>
      <p:sp>
        <p:nvSpPr>
          <p:cNvPr id="81924" name="Rectangle 5"/>
          <p:cNvSpPr/>
          <p:nvPr/>
        </p:nvSpPr>
        <p:spPr>
          <a:xfrm>
            <a:off x="2063750" y="95250"/>
            <a:ext cx="8229600" cy="587375"/>
          </a:xfrm>
          <a:prstGeom prst="rect">
            <a:avLst/>
          </a:prstGeom>
          <a:noFill/>
          <a:ln w="9525">
            <a:noFill/>
          </a:ln>
        </p:spPr>
        <p:txBody>
          <a:bodyPr lIns="90488" tIns="44450" rIns="90488" bIns="44450" anchor="ctr" anchorCtr="0"/>
          <a:p>
            <a:pPr algn="ctr"/>
            <a:r>
              <a:rPr sz="2800" b="0" dirty="0">
                <a:solidFill>
                  <a:srgbClr val="008000"/>
                </a:solidFill>
                <a:latin typeface="Arial" panose="020B0604020202020204" pitchFamily="34" charset="0"/>
              </a:rPr>
              <a:t>Example - Continued</a:t>
            </a:r>
            <a:endParaRPr sz="2800" b="0" dirty="0">
              <a:latin typeface="Arial" panose="020B0604020202020204" pitchFamily="34" charset="0"/>
            </a:endParaRPr>
          </a:p>
        </p:txBody>
      </p:sp>
      <p:graphicFrame>
        <p:nvGraphicFramePr>
          <p:cNvPr id="81925" name="Object 6"/>
          <p:cNvGraphicFramePr>
            <a:graphicFrameLocks noChangeAspect="1"/>
          </p:cNvGraphicFramePr>
          <p:nvPr/>
        </p:nvGraphicFramePr>
        <p:xfrm>
          <a:off x="3657600" y="798513"/>
          <a:ext cx="3670300" cy="1003300"/>
        </p:xfrm>
        <a:graphic>
          <a:graphicData uri="http://schemas.openxmlformats.org/presentationml/2006/ole">
            <mc:AlternateContent xmlns:mc="http://schemas.openxmlformats.org/markup-compatibility/2006">
              <mc:Choice xmlns:v="urn:schemas-microsoft-com:vml" Requires="v">
                <p:oleObj spid="_x0000_s3087" name="" r:id="rId1" imgW="3666490" imgH="996950" progId="Equation.DSMT4">
                  <p:embed/>
                </p:oleObj>
              </mc:Choice>
              <mc:Fallback>
                <p:oleObj name="" r:id="rId1" imgW="3666490" imgH="996950" progId="Equation.DSMT4">
                  <p:embed/>
                  <p:pic>
                    <p:nvPicPr>
                      <p:cNvPr id="0" name="Picture 3086"/>
                      <p:cNvPicPr/>
                      <p:nvPr/>
                    </p:nvPicPr>
                    <p:blipFill>
                      <a:blip r:embed="rId2"/>
                      <a:stretch>
                        <a:fillRect/>
                      </a:stretch>
                    </p:blipFill>
                    <p:spPr>
                      <a:xfrm>
                        <a:off x="3657600" y="798513"/>
                        <a:ext cx="3670300" cy="1003300"/>
                      </a:xfrm>
                      <a:prstGeom prst="rect">
                        <a:avLst/>
                      </a:prstGeom>
                      <a:noFill/>
                      <a:ln w="38100">
                        <a:noFill/>
                        <a:miter/>
                      </a:ln>
                    </p:spPr>
                  </p:pic>
                </p:oleObj>
              </mc:Fallback>
            </mc:AlternateContent>
          </a:graphicData>
        </a:graphic>
      </p:graphicFrame>
      <p:graphicFrame>
        <p:nvGraphicFramePr>
          <p:cNvPr id="545799" name="Object 7"/>
          <p:cNvGraphicFramePr>
            <a:graphicFrameLocks noChangeAspect="1"/>
          </p:cNvGraphicFramePr>
          <p:nvPr/>
        </p:nvGraphicFramePr>
        <p:xfrm>
          <a:off x="2827338" y="2773363"/>
          <a:ext cx="2667000" cy="3327400"/>
        </p:xfrm>
        <a:graphic>
          <a:graphicData uri="http://schemas.openxmlformats.org/presentationml/2006/ole">
            <mc:AlternateContent xmlns:mc="http://schemas.openxmlformats.org/markup-compatibility/2006">
              <mc:Choice xmlns:v="urn:schemas-microsoft-com:vml" Requires="v">
                <p:oleObj spid="_x0000_s3089" name="" r:id="rId3" imgW="2667000" imgH="3327400" progId="Equation.DSMT4">
                  <p:embed/>
                </p:oleObj>
              </mc:Choice>
              <mc:Fallback>
                <p:oleObj name="" r:id="rId3" imgW="2667000" imgH="3327400" progId="Equation.DSMT4">
                  <p:embed/>
                  <p:pic>
                    <p:nvPicPr>
                      <p:cNvPr id="0" name="Picture 3088"/>
                      <p:cNvPicPr/>
                      <p:nvPr/>
                    </p:nvPicPr>
                    <p:blipFill>
                      <a:blip r:embed="rId4"/>
                      <a:stretch>
                        <a:fillRect/>
                      </a:stretch>
                    </p:blipFill>
                    <p:spPr>
                      <a:xfrm>
                        <a:off x="2827338" y="2773363"/>
                        <a:ext cx="2667000" cy="33274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457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5796">
                                            <p:txEl>
                                              <p:charRg st="0" end="17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a:spLocks noGrp="1"/>
          </p:cNvSpPr>
          <p:nvPr>
            <p:ph type="title" idx="4294967295"/>
          </p:nvPr>
        </p:nvSpPr>
        <p:spPr>
          <a:xfrm>
            <a:off x="1905000" y="190500"/>
            <a:ext cx="8369300" cy="1355725"/>
          </a:xfrm>
          <a:prstGeom prst="rect">
            <a:avLst/>
          </a:prstGeom>
          <a:noFill/>
          <a:ln w="9525">
            <a:noFill/>
          </a:ln>
        </p:spPr>
        <p:txBody>
          <a:bodyPr lIns="90488" tIns="44450" rIns="90488" bIns="44450"/>
          <a:p>
            <a:r>
              <a:rPr dirty="0"/>
              <a:t>Finding the Point Estimate and </a:t>
            </a:r>
            <a:r>
              <a:rPr i="1" dirty="0"/>
              <a:t>E </a:t>
            </a:r>
            <a:r>
              <a:rPr dirty="0"/>
              <a:t>from a Confidence Interval</a:t>
            </a:r>
            <a:endParaRPr dirty="0"/>
          </a:p>
        </p:txBody>
      </p:sp>
      <p:sp>
        <p:nvSpPr>
          <p:cNvPr id="83970" name="Rectangle 5"/>
          <p:cNvSpPr/>
          <p:nvPr/>
        </p:nvSpPr>
        <p:spPr>
          <a:xfrm>
            <a:off x="2139633" y="4205605"/>
            <a:ext cx="6655435" cy="1882775"/>
          </a:xfrm>
          <a:prstGeom prst="rect">
            <a:avLst/>
          </a:prstGeom>
          <a:noFill/>
          <a:ln w="9525">
            <a:noFill/>
          </a:ln>
        </p:spPr>
        <p:txBody>
          <a:bodyPr wrap="none" lIns="90488" tIns="44450" rIns="90488" bIns="44450">
            <a:spAutoFit/>
          </a:bodyPr>
          <a:p>
            <a:r>
              <a:rPr sz="2800" dirty="0">
                <a:solidFill>
                  <a:schemeClr val="tx1"/>
                </a:solidFill>
                <a:latin typeface="Arial" panose="020B0604020202020204" pitchFamily="34" charset="0"/>
              </a:rPr>
              <a:t>Margin of Error: </a:t>
            </a:r>
            <a:endParaRPr sz="2400" dirty="0">
              <a:solidFill>
                <a:schemeClr val="tx1"/>
              </a:solidFill>
              <a:latin typeface="Arial" panose="020B0604020202020204" pitchFamily="34" charset="0"/>
            </a:endParaRPr>
          </a:p>
          <a:p>
            <a:pPr>
              <a:spcBef>
                <a:spcPct val="47000"/>
              </a:spcBef>
            </a:pPr>
            <a:r>
              <a:rPr sz="2400" dirty="0">
                <a:solidFill>
                  <a:schemeClr val="tx1"/>
                </a:solidFill>
                <a:latin typeface="Arial" panose="020B0604020202020204" pitchFamily="34" charset="0"/>
              </a:rPr>
              <a:t>  = </a:t>
            </a:r>
            <a:r>
              <a:rPr sz="3300" baseline="30000" dirty="0">
                <a:solidFill>
                  <a:schemeClr val="tx1"/>
                </a:solidFill>
                <a:latin typeface="Arial" panose="020B0604020202020204" pitchFamily="34" charset="0"/>
              </a:rPr>
              <a:t>(upper confidence limit) — (lower confidence limit)</a:t>
            </a:r>
            <a:endParaRPr sz="3300" baseline="30000" dirty="0">
              <a:solidFill>
                <a:schemeClr val="tx1"/>
              </a:solidFill>
              <a:latin typeface="Times New Roman" panose="02020603050405020304" charset="0"/>
            </a:endParaRPr>
          </a:p>
          <a:p>
            <a:pPr>
              <a:spcBef>
                <a:spcPct val="8000"/>
              </a:spcBef>
            </a:pPr>
            <a:r>
              <a:rPr sz="3300" baseline="30000" dirty="0">
                <a:solidFill>
                  <a:schemeClr val="tx1"/>
                </a:solidFill>
                <a:latin typeface="Times New Roman" panose="02020603050405020304" charset="0"/>
              </a:rPr>
              <a:t>				  </a:t>
            </a:r>
            <a:endParaRPr sz="3300" baseline="30000" dirty="0">
              <a:solidFill>
                <a:schemeClr val="tx1"/>
              </a:solidFill>
              <a:latin typeface="Times New Roman" panose="02020603050405020304" charset="0"/>
            </a:endParaRPr>
          </a:p>
          <a:p>
            <a:pPr>
              <a:spcBef>
                <a:spcPct val="8000"/>
              </a:spcBef>
            </a:pPr>
            <a:r>
              <a:rPr sz="3300" baseline="30000" dirty="0">
                <a:solidFill>
                  <a:schemeClr val="tx1"/>
                </a:solidFill>
                <a:latin typeface="Times New Roman" panose="02020603050405020304" charset="0"/>
              </a:rPr>
              <a:t>				</a:t>
            </a:r>
            <a:r>
              <a:rPr sz="2800" dirty="0">
                <a:solidFill>
                  <a:schemeClr val="tx1"/>
                </a:solidFill>
                <a:latin typeface="Arial" panose="020B0604020202020204" pitchFamily="34" charset="0"/>
              </a:rPr>
              <a:t>2</a:t>
            </a:r>
            <a:endParaRPr sz="2800" dirty="0">
              <a:solidFill>
                <a:schemeClr val="tx1"/>
              </a:solidFill>
              <a:latin typeface="Arial" panose="020B0604020202020204" pitchFamily="34" charset="0"/>
            </a:endParaRPr>
          </a:p>
        </p:txBody>
      </p:sp>
      <p:sp>
        <p:nvSpPr>
          <p:cNvPr id="83971" name="Line 6"/>
          <p:cNvSpPr/>
          <p:nvPr/>
        </p:nvSpPr>
        <p:spPr>
          <a:xfrm flipV="1">
            <a:off x="2628900" y="5052060"/>
            <a:ext cx="6166485" cy="15240"/>
          </a:xfrm>
          <a:prstGeom prst="line">
            <a:avLst/>
          </a:prstGeom>
          <a:ln w="25400" cap="flat" cmpd="sng">
            <a:solidFill>
              <a:schemeClr val="tx1"/>
            </a:solidFill>
            <a:prstDash val="solid"/>
            <a:headEnd type="none" w="sm" len="sm"/>
            <a:tailEnd type="none" w="sm" len="sm"/>
          </a:ln>
        </p:spPr>
      </p:sp>
      <p:sp>
        <p:nvSpPr>
          <p:cNvPr id="83972" name="Rectangle 3"/>
          <p:cNvSpPr/>
          <p:nvPr/>
        </p:nvSpPr>
        <p:spPr>
          <a:xfrm>
            <a:off x="2157413" y="2105343"/>
            <a:ext cx="8924925" cy="1479550"/>
          </a:xfrm>
          <a:prstGeom prst="rect">
            <a:avLst/>
          </a:prstGeom>
          <a:noFill/>
          <a:ln w="9525">
            <a:noFill/>
          </a:ln>
        </p:spPr>
        <p:txBody>
          <a:bodyPr lIns="90488" tIns="44450" rIns="90488" bIns="44450">
            <a:spAutoFit/>
          </a:bodyPr>
          <a:p>
            <a:pPr>
              <a:lnSpc>
                <a:spcPct val="130000"/>
              </a:lnSpc>
            </a:pPr>
            <a:r>
              <a:rPr sz="2800" dirty="0">
                <a:solidFill>
                  <a:schemeClr val="tx1"/>
                </a:solidFill>
                <a:latin typeface="Arial" panose="020B0604020202020204" pitchFamily="34" charset="0"/>
              </a:rPr>
              <a:t>Point estimate of     </a:t>
            </a:r>
            <a:r>
              <a:rPr sz="2800" dirty="0">
                <a:solidFill>
                  <a:schemeClr val="tx1"/>
                </a:solidFill>
                <a:latin typeface="Times New Roman" panose="02020603050405020304" charset="0"/>
              </a:rPr>
              <a:t>: </a:t>
            </a:r>
            <a:endParaRPr dirty="0">
              <a:solidFill>
                <a:schemeClr val="tx1"/>
              </a:solidFill>
              <a:latin typeface="Times New Roman" panose="02020603050405020304" charset="0"/>
            </a:endParaRPr>
          </a:p>
          <a:p>
            <a:r>
              <a:rPr dirty="0">
                <a:solidFill>
                  <a:schemeClr val="tx1"/>
                </a:solidFill>
                <a:latin typeface="Arial" panose="020B0604020202020204" pitchFamily="34" charset="0"/>
              </a:rPr>
              <a:t>    =</a:t>
            </a:r>
            <a:r>
              <a:rPr sz="4000" baseline="30000" dirty="0">
                <a:solidFill>
                  <a:schemeClr val="tx1"/>
                </a:solidFill>
                <a:latin typeface="Times New Roman" panose="02020603050405020304" charset="0"/>
              </a:rPr>
              <a:t> </a:t>
            </a:r>
            <a:r>
              <a:rPr sz="3300" baseline="30000" dirty="0">
                <a:solidFill>
                  <a:schemeClr val="tx1"/>
                </a:solidFill>
                <a:latin typeface="Arial" panose="020B0604020202020204" pitchFamily="34" charset="0"/>
              </a:rPr>
              <a:t>(upper confidence limit) + (lower confidence limit)</a:t>
            </a:r>
            <a:endParaRPr sz="3100" dirty="0">
              <a:solidFill>
                <a:schemeClr val="tx1"/>
              </a:solidFill>
              <a:latin typeface="Times New Roman" panose="02020603050405020304" charset="0"/>
            </a:endParaRPr>
          </a:p>
          <a:p>
            <a:r>
              <a:rPr dirty="0">
                <a:solidFill>
                  <a:schemeClr val="tx1"/>
                </a:solidFill>
                <a:latin typeface="Times New Roman" panose="02020603050405020304" charset="0"/>
              </a:rPr>
              <a:t>			                </a:t>
            </a:r>
            <a:r>
              <a:rPr sz="2800" dirty="0">
                <a:solidFill>
                  <a:schemeClr val="tx1"/>
                </a:solidFill>
                <a:latin typeface="Arial" panose="020B0604020202020204" pitchFamily="34" charset="0"/>
              </a:rPr>
              <a:t>2</a:t>
            </a:r>
            <a:endParaRPr sz="2800" dirty="0">
              <a:solidFill>
                <a:schemeClr val="tx1"/>
              </a:solidFill>
              <a:latin typeface="Arial" panose="020B0604020202020204" pitchFamily="34" charset="0"/>
            </a:endParaRPr>
          </a:p>
        </p:txBody>
      </p:sp>
      <p:sp>
        <p:nvSpPr>
          <p:cNvPr id="83973" name="Line 4"/>
          <p:cNvSpPr/>
          <p:nvPr/>
        </p:nvSpPr>
        <p:spPr>
          <a:xfrm flipV="1">
            <a:off x="2711450" y="2923540"/>
            <a:ext cx="6083300" cy="15240"/>
          </a:xfrm>
          <a:prstGeom prst="line">
            <a:avLst/>
          </a:prstGeom>
          <a:ln w="25400" cap="flat" cmpd="sng">
            <a:solidFill>
              <a:schemeClr val="tx1"/>
            </a:solidFill>
            <a:prstDash val="solid"/>
            <a:headEnd type="none" w="sm" len="sm"/>
            <a:tailEnd type="none" w="sm" len="sm"/>
          </a:ln>
        </p:spPr>
      </p:sp>
      <p:pic>
        <p:nvPicPr>
          <p:cNvPr id="83974" name="Picture 9" descr="e"/>
          <p:cNvPicPr>
            <a:picLocks noChangeAspect="1"/>
          </p:cNvPicPr>
          <p:nvPr/>
        </p:nvPicPr>
        <p:blipFill>
          <a:blip r:embed="rId1"/>
          <a:stretch>
            <a:fillRect/>
          </a:stretch>
        </p:blipFill>
        <p:spPr>
          <a:xfrm>
            <a:off x="2002473" y="4839335"/>
            <a:ext cx="304800" cy="317500"/>
          </a:xfrm>
          <a:prstGeom prst="rect">
            <a:avLst/>
          </a:prstGeom>
          <a:noFill/>
          <a:ln w="9525">
            <a:noFill/>
          </a:ln>
        </p:spPr>
      </p:pic>
      <p:pic>
        <p:nvPicPr>
          <p:cNvPr id="41992" name="Picture 10" descr="definition1"/>
          <p:cNvPicPr>
            <a:picLocks noChangeAspect="1" noChangeArrowheads="1"/>
          </p:cNvPicPr>
          <p:nvPr/>
        </p:nvPicPr>
        <p:blipFill>
          <a:blip r:embed="rId2" cstate="print">
            <a:duotone>
              <a:prstClr val="black"/>
              <a:srgbClr val="C00000">
                <a:tint val="45000"/>
                <a:satMod val="400000"/>
              </a:srgbClr>
            </a:duotone>
            <a:extLst>
              <a:ext uri="{28A0092B-C50C-407E-A947-70E740481C1C}">
                <a14:useLocalDpi xmlns:a14="http://schemas.microsoft.com/office/drawing/2010/main" val="0"/>
              </a:ext>
            </a:extLst>
          </a:blip>
          <a:srcRect/>
          <a:stretch>
            <a:fillRect/>
          </a:stretch>
        </p:blipFill>
        <p:spPr bwMode="auto">
          <a:xfrm>
            <a:off x="5052378" y="2234883"/>
            <a:ext cx="279400" cy="431800"/>
          </a:xfrm>
          <a:prstGeom prst="rect">
            <a:avLst/>
          </a:prstGeom>
          <a:noFill/>
          <a:ln>
            <a:noFill/>
          </a:ln>
        </p:spPr>
      </p:pic>
      <p:pic>
        <p:nvPicPr>
          <p:cNvPr id="83976" name="Picture 11" descr="definition1"/>
          <p:cNvPicPr>
            <a:picLocks noChangeAspect="1"/>
          </p:cNvPicPr>
          <p:nvPr/>
        </p:nvPicPr>
        <p:blipFill>
          <a:blip r:embed="rId2"/>
          <a:stretch>
            <a:fillRect/>
          </a:stretch>
        </p:blipFill>
        <p:spPr>
          <a:xfrm>
            <a:off x="2109788" y="2701608"/>
            <a:ext cx="279400" cy="431800"/>
          </a:xfrm>
          <a:prstGeom prst="rect">
            <a:avLst/>
          </a:prstGeom>
          <a:noFill/>
          <a:ln w="9525">
            <a:noFill/>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45105" y="505460"/>
            <a:ext cx="6096000" cy="491490"/>
          </a:xfrm>
          <a:prstGeom prst="rect">
            <a:avLst/>
          </a:prstGeom>
          <a:noFill/>
        </p:spPr>
        <p:txBody>
          <a:bodyPr wrap="square" rtlCol="0" anchor="t">
            <a:spAutoFit/>
          </a:bodyPr>
          <a:p>
            <a:r>
              <a:rPr lang="en-US" sz="2600" noProof="0" dirty="0">
                <a:latin typeface="Arial" panose="020B0604020202020204" pitchFamily="34" charset="0"/>
                <a:sym typeface="+mn-ea"/>
              </a:rPr>
              <a:t>6.2.  Estimating a Population Mean</a:t>
            </a:r>
            <a:endParaRPr lang="en-US" sz="2600" noProof="0" dirty="0">
              <a:latin typeface="Arial" panose="020B0604020202020204" pitchFamily="34" charset="0"/>
              <a:sym typeface="+mn-ea"/>
            </a:endParaRPr>
          </a:p>
        </p:txBody>
      </p:sp>
      <p:sp>
        <p:nvSpPr>
          <p:cNvPr id="5123" name="Text Box 3"/>
          <p:cNvSpPr txBox="1"/>
          <p:nvPr/>
        </p:nvSpPr>
        <p:spPr>
          <a:xfrm>
            <a:off x="1407795" y="1370330"/>
            <a:ext cx="8394065" cy="5203190"/>
          </a:xfrm>
          <a:prstGeom prst="rect">
            <a:avLst/>
          </a:prstGeom>
          <a:noFill/>
          <a:ln w="12700">
            <a:noFill/>
          </a:ln>
        </p:spPr>
        <p:txBody>
          <a:bodyPr>
            <a:noAutofit/>
          </a:bodyPr>
          <a:p>
            <a:pPr marL="455930" indent="-455930">
              <a:spcBef>
                <a:spcPct val="50000"/>
              </a:spcBef>
            </a:pPr>
            <a:r>
              <a:rPr sz="2800" b="0" dirty="0">
                <a:latin typeface="Arial" panose="020B0604020202020204" pitchFamily="34" charset="0"/>
              </a:rPr>
              <a:t>1. We should know that the sample mean     is the best </a:t>
            </a:r>
            <a:r>
              <a:rPr sz="2800" b="0" dirty="0">
                <a:solidFill>
                  <a:schemeClr val="hlink"/>
                </a:solidFill>
                <a:latin typeface="Arial" panose="020B0604020202020204" pitchFamily="34" charset="0"/>
              </a:rPr>
              <a:t>point estimate</a:t>
            </a:r>
            <a:r>
              <a:rPr sz="2800" b="0" dirty="0">
                <a:latin typeface="Arial" panose="020B0604020202020204" pitchFamily="34" charset="0"/>
              </a:rPr>
              <a:t> of the population mean </a:t>
            </a:r>
            <a:r>
              <a:rPr lang="el-GR" altLang="x-none" sz="2800" b="0" i="1" dirty="0">
                <a:latin typeface="Arial" panose="020B0604020202020204" pitchFamily="34" charset="0"/>
              </a:rPr>
              <a:t>μ</a:t>
            </a:r>
            <a:r>
              <a:rPr sz="2800" b="0" i="1" dirty="0">
                <a:latin typeface="Arial" panose="020B0604020202020204" pitchFamily="34" charset="0"/>
              </a:rPr>
              <a:t>.</a:t>
            </a:r>
            <a:endParaRPr sz="2800" b="0" i="1" dirty="0">
              <a:latin typeface="Arial" panose="020B0604020202020204" pitchFamily="34" charset="0"/>
            </a:endParaRPr>
          </a:p>
          <a:p>
            <a:pPr marL="455930" indent="-455930">
              <a:spcBef>
                <a:spcPct val="50000"/>
              </a:spcBef>
            </a:pPr>
            <a:r>
              <a:rPr sz="2800" b="0" dirty="0">
                <a:latin typeface="Arial" panose="020B0604020202020204" pitchFamily="34" charset="0"/>
              </a:rPr>
              <a:t>2. We should learn how to use sample data to construct a </a:t>
            </a:r>
            <a:r>
              <a:rPr sz="2800" b="0" dirty="0">
                <a:solidFill>
                  <a:schemeClr val="hlink"/>
                </a:solidFill>
                <a:latin typeface="Arial" panose="020B0604020202020204" pitchFamily="34" charset="0"/>
              </a:rPr>
              <a:t>confidence interval</a:t>
            </a:r>
            <a:r>
              <a:rPr sz="2800" b="0" dirty="0">
                <a:latin typeface="Arial" panose="020B0604020202020204" pitchFamily="34" charset="0"/>
              </a:rPr>
              <a:t> for estimating the value of a population mean, and we should know how to interpret such confidence intervals.</a:t>
            </a:r>
            <a:endParaRPr sz="2800" b="0" dirty="0">
              <a:latin typeface="Arial" panose="020B0604020202020204" pitchFamily="34" charset="0"/>
            </a:endParaRPr>
          </a:p>
          <a:p>
            <a:pPr marL="455930" indent="-455930">
              <a:spcBef>
                <a:spcPct val="50000"/>
              </a:spcBef>
            </a:pPr>
            <a:r>
              <a:rPr sz="2800" b="0" dirty="0">
                <a:latin typeface="Arial" panose="020B0604020202020204" pitchFamily="34" charset="0"/>
              </a:rPr>
              <a:t>3. We should develop the ability to determine the sample size necessary to estimate a population mean.</a:t>
            </a:r>
            <a:endParaRPr sz="2800" b="0" dirty="0">
              <a:latin typeface="Arial" panose="020B0604020202020204" pitchFamily="34" charset="0"/>
            </a:endParaRPr>
          </a:p>
        </p:txBody>
      </p:sp>
      <p:graphicFrame>
        <p:nvGraphicFramePr>
          <p:cNvPr id="10245" name="Object 5"/>
          <p:cNvGraphicFramePr>
            <a:graphicFrameLocks noChangeAspect="1"/>
          </p:cNvGraphicFramePr>
          <p:nvPr/>
        </p:nvGraphicFramePr>
        <p:xfrm>
          <a:off x="8133715" y="1474470"/>
          <a:ext cx="198438" cy="304800"/>
        </p:xfrm>
        <a:graphic>
          <a:graphicData uri="http://schemas.openxmlformats.org/presentationml/2006/ole">
            <mc:AlternateContent xmlns:mc="http://schemas.openxmlformats.org/markup-compatibility/2006">
              <mc:Choice xmlns:v="urn:schemas-microsoft-com:vml" Requires="v">
                <p:oleObj spid="_x0000_s3076" name="" r:id="rId1" imgW="254000" imgH="317500" progId="Equation.DSMT4">
                  <p:embed/>
                </p:oleObj>
              </mc:Choice>
              <mc:Fallback>
                <p:oleObj name="" r:id="rId1" imgW="254000" imgH="317500" progId="Equation.DSMT4">
                  <p:embed/>
                  <p:pic>
                    <p:nvPicPr>
                      <p:cNvPr id="0" name="Picture 3075"/>
                      <p:cNvPicPr/>
                      <p:nvPr/>
                    </p:nvPicPr>
                    <p:blipFill>
                      <a:blip r:embed="rId2"/>
                      <a:stretch>
                        <a:fillRect/>
                      </a:stretch>
                    </p:blipFill>
                    <p:spPr>
                      <a:xfrm>
                        <a:off x="8133715" y="1474470"/>
                        <a:ext cx="198438" cy="304800"/>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idx="4294967295"/>
          </p:nvPr>
        </p:nvSpPr>
        <p:spPr>
          <a:xfrm>
            <a:off x="2286000" y="411163"/>
            <a:ext cx="7772400" cy="914400"/>
          </a:xfrm>
          <a:prstGeom prst="rect">
            <a:avLst/>
          </a:prstGeom>
          <a:noFill/>
          <a:ln w="9525">
            <a:noFill/>
          </a:ln>
        </p:spPr>
        <p:txBody>
          <a:bodyPr lIns="90488" tIns="44450" rIns="90488" bIns="44450"/>
          <a:p>
            <a:r>
              <a:rPr dirty="0"/>
              <a:t>Requirements</a:t>
            </a:r>
            <a:endParaRPr dirty="0"/>
          </a:p>
        </p:txBody>
      </p:sp>
      <p:sp>
        <p:nvSpPr>
          <p:cNvPr id="6147" name="Rectangle 4"/>
          <p:cNvSpPr/>
          <p:nvPr/>
        </p:nvSpPr>
        <p:spPr>
          <a:xfrm>
            <a:off x="4056063" y="5856288"/>
            <a:ext cx="3835400" cy="519112"/>
          </a:xfrm>
          <a:prstGeom prst="rect">
            <a:avLst/>
          </a:prstGeom>
          <a:noFill/>
          <a:ln w="12700">
            <a:noFill/>
          </a:ln>
        </p:spPr>
        <p:txBody>
          <a:bodyPr wrap="none" anchor="ctr" anchorCtr="0"/>
          <a:p>
            <a:endParaRPr dirty="0">
              <a:latin typeface="Arial" panose="020B0604020202020204" pitchFamily="34" charset="0"/>
            </a:endParaRPr>
          </a:p>
        </p:txBody>
      </p:sp>
      <p:sp>
        <p:nvSpPr>
          <p:cNvPr id="6148" name="Rectangle 5"/>
          <p:cNvSpPr/>
          <p:nvPr/>
        </p:nvSpPr>
        <p:spPr>
          <a:xfrm>
            <a:off x="2903538" y="5491163"/>
            <a:ext cx="7035800" cy="519112"/>
          </a:xfrm>
          <a:prstGeom prst="rect">
            <a:avLst/>
          </a:prstGeom>
          <a:noFill/>
          <a:ln w="12700">
            <a:noFill/>
          </a:ln>
        </p:spPr>
        <p:txBody>
          <a:bodyPr wrap="none" anchor="ctr" anchorCtr="0"/>
          <a:p>
            <a:endParaRPr dirty="0">
              <a:latin typeface="Arial" panose="020B0604020202020204" pitchFamily="34" charset="0"/>
            </a:endParaRPr>
          </a:p>
        </p:txBody>
      </p:sp>
      <p:sp>
        <p:nvSpPr>
          <p:cNvPr id="6149" name="Rectangle 6"/>
          <p:cNvSpPr/>
          <p:nvPr/>
        </p:nvSpPr>
        <p:spPr>
          <a:xfrm>
            <a:off x="1905000" y="1469073"/>
            <a:ext cx="8077200" cy="1198880"/>
          </a:xfrm>
          <a:prstGeom prst="rect">
            <a:avLst/>
          </a:prstGeom>
          <a:noFill/>
          <a:ln w="9525">
            <a:noFill/>
          </a:ln>
        </p:spPr>
        <p:txBody>
          <a:bodyPr anchor="ctr" anchorCtr="0">
            <a:spAutoFit/>
          </a:bodyPr>
          <a:p>
            <a:r>
              <a:rPr sz="2400" b="0" dirty="0">
                <a:latin typeface="Arial" panose="020B0604020202020204" pitchFamily="34" charset="0"/>
              </a:rPr>
              <a:t>The procedure we use has a requirement that the population is </a:t>
            </a:r>
            <a:r>
              <a:rPr sz="2400" b="0" dirty="0">
                <a:solidFill>
                  <a:srgbClr val="FF0000"/>
                </a:solidFill>
                <a:latin typeface="Arial" panose="020B0604020202020204" pitchFamily="34" charset="0"/>
              </a:rPr>
              <a:t>normally distributed </a:t>
            </a:r>
            <a:r>
              <a:rPr sz="2400" b="0" dirty="0">
                <a:latin typeface="Arial" panose="020B0604020202020204" pitchFamily="34" charset="0"/>
              </a:rPr>
              <a:t>or the sample size is greater than </a:t>
            </a:r>
            <a:r>
              <a:rPr sz="2400" b="0" dirty="0">
                <a:solidFill>
                  <a:srgbClr val="FF0000"/>
                </a:solidFill>
                <a:latin typeface="Arial" panose="020B0604020202020204" pitchFamily="34" charset="0"/>
              </a:rPr>
              <a:t>30</a:t>
            </a:r>
            <a:r>
              <a:rPr sz="2400" b="0" dirty="0">
                <a:latin typeface="Arial" panose="020B0604020202020204" pitchFamily="34" charset="0"/>
              </a:rPr>
              <a:t>.</a:t>
            </a:r>
            <a:endParaRPr sz="2400" b="0" dirty="0">
              <a:latin typeface="Times New Roman" panose="02020603050405020304"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body" idx="4294967295"/>
          </p:nvPr>
        </p:nvSpPr>
        <p:spPr>
          <a:xfrm>
            <a:off x="838200" y="1031875"/>
            <a:ext cx="9829800" cy="5621020"/>
          </a:xfrm>
          <a:prstGeom prst="rect">
            <a:avLst/>
          </a:prstGeom>
          <a:noFill/>
          <a:ln w="9525">
            <a:noFill/>
          </a:ln>
        </p:spPr>
        <p:txBody>
          <a:bodyPr lIns="90488" tIns="44450" rIns="90488" bIns="44450"/>
          <a:p>
            <a:pPr marL="914400" indent="-912495" defTabSz="406400">
              <a:lnSpc>
                <a:spcPct val="150000"/>
              </a:lnSpc>
              <a:spcBef>
                <a:spcPct val="0"/>
              </a:spcBef>
              <a:spcAft>
                <a:spcPct val="15000"/>
              </a:spcAft>
              <a:buFont typeface="Wingdings" panose="05000000000000000000" pitchFamily="2" charset="2"/>
              <a:buNone/>
            </a:pPr>
            <a:r>
              <a:rPr lang="el-GR" altLang="x-none" b="0" i="1" dirty="0">
                <a:cs typeface="Arial" panose="020B0604020202020204" pitchFamily="34" charset="0"/>
                <a:sym typeface="Symbol" panose="05050102010706020507" charset="2"/>
              </a:rPr>
              <a:t>μ</a:t>
            </a:r>
            <a:r>
              <a:rPr b="0" i="1" dirty="0">
                <a:cs typeface="Arial" panose="020B0604020202020204" pitchFamily="34" charset="0"/>
                <a:sym typeface="Symbol" panose="05050102010706020507" charset="2"/>
              </a:rPr>
              <a:t> 	</a:t>
            </a:r>
            <a:r>
              <a:rPr b="0" dirty="0"/>
              <a:t>= population mean</a:t>
            </a:r>
            <a:endParaRPr b="0" dirty="0"/>
          </a:p>
          <a:p>
            <a:pPr marL="914400" indent="-912495" defTabSz="406400">
              <a:lnSpc>
                <a:spcPct val="150000"/>
              </a:lnSpc>
              <a:spcBef>
                <a:spcPct val="0"/>
              </a:spcBef>
              <a:spcAft>
                <a:spcPct val="15000"/>
              </a:spcAft>
              <a:buFont typeface="Wingdings" panose="05000000000000000000" pitchFamily="2" charset="2"/>
              <a:buNone/>
            </a:pPr>
            <a:r>
              <a:rPr b="0" dirty="0"/>
              <a:t>   	= sample mean</a:t>
            </a:r>
            <a:endParaRPr b="0" dirty="0"/>
          </a:p>
          <a:p>
            <a:pPr marL="914400" indent="-912495" defTabSz="406400">
              <a:lnSpc>
                <a:spcPct val="150000"/>
              </a:lnSpc>
              <a:spcBef>
                <a:spcPct val="0"/>
              </a:spcBef>
              <a:spcAft>
                <a:spcPct val="15000"/>
              </a:spcAft>
              <a:buFont typeface="Wingdings" panose="05000000000000000000" pitchFamily="2" charset="2"/>
              <a:buNone/>
            </a:pPr>
            <a:r>
              <a:rPr lang="el-GR" altLang="x-none" b="0" i="1" dirty="0">
                <a:cs typeface="Arial" panose="020B0604020202020204" pitchFamily="34" charset="0"/>
              </a:rPr>
              <a:t>σ</a:t>
            </a:r>
            <a:r>
              <a:rPr b="0" dirty="0"/>
              <a:t> 	= population standard deviation</a:t>
            </a:r>
            <a:endParaRPr b="0" dirty="0"/>
          </a:p>
          <a:p>
            <a:pPr marL="914400" indent="-912495" defTabSz="406400">
              <a:lnSpc>
                <a:spcPct val="150000"/>
              </a:lnSpc>
              <a:spcBef>
                <a:spcPct val="0"/>
              </a:spcBef>
              <a:spcAft>
                <a:spcPct val="15000"/>
              </a:spcAft>
              <a:buFont typeface="Wingdings" panose="05000000000000000000" pitchFamily="2" charset="2"/>
              <a:buNone/>
            </a:pPr>
            <a:r>
              <a:rPr b="0" i="1" dirty="0"/>
              <a:t>n</a:t>
            </a:r>
            <a:r>
              <a:rPr b="0" dirty="0"/>
              <a:t>   	= number of sample values</a:t>
            </a:r>
            <a:endParaRPr b="0" dirty="0"/>
          </a:p>
          <a:p>
            <a:pPr marL="914400" indent="-912495" defTabSz="406400">
              <a:lnSpc>
                <a:spcPct val="150000"/>
              </a:lnSpc>
              <a:spcBef>
                <a:spcPct val="0"/>
              </a:spcBef>
              <a:spcAft>
                <a:spcPct val="15000"/>
              </a:spcAft>
              <a:buFont typeface="Wingdings" panose="05000000000000000000" pitchFamily="2" charset="2"/>
              <a:buNone/>
            </a:pPr>
            <a:r>
              <a:rPr b="0" i="1" dirty="0"/>
              <a:t>E  </a:t>
            </a:r>
            <a:r>
              <a:rPr b="0" dirty="0"/>
              <a:t> 	= margin of error</a:t>
            </a:r>
            <a:endParaRPr b="0" dirty="0"/>
          </a:p>
          <a:p>
            <a:pPr marL="914400" indent="-912495" defTabSz="406400">
              <a:lnSpc>
                <a:spcPct val="150000"/>
              </a:lnSpc>
              <a:spcBef>
                <a:spcPct val="0"/>
              </a:spcBef>
              <a:spcAft>
                <a:spcPct val="15000"/>
              </a:spcAft>
              <a:buFont typeface="Wingdings" panose="05000000000000000000" pitchFamily="2" charset="2"/>
              <a:buNone/>
            </a:pPr>
            <a:r>
              <a:rPr b="0" i="1" dirty="0"/>
              <a:t>z </a:t>
            </a:r>
            <a:r>
              <a:rPr lang="el-GR" altLang="x-none" b="0" i="1" baseline="-25000" dirty="0"/>
              <a:t>α</a:t>
            </a:r>
            <a:r>
              <a:rPr b="0" baseline="-25000" dirty="0"/>
              <a:t>/2  </a:t>
            </a:r>
            <a:r>
              <a:rPr b="0" dirty="0"/>
              <a:t>	= critical </a:t>
            </a:r>
            <a:r>
              <a:rPr b="0" i="1" dirty="0"/>
              <a:t>z</a:t>
            </a:r>
            <a:r>
              <a:rPr b="0" dirty="0"/>
              <a:t> value separating an area of </a:t>
            </a:r>
            <a:r>
              <a:rPr lang="el-GR" altLang="x-none" b="0" i="1" dirty="0"/>
              <a:t>α</a:t>
            </a:r>
            <a:r>
              <a:rPr b="0" dirty="0"/>
              <a:t>/2 in the 	right tail of the standard normal distribution</a:t>
            </a:r>
            <a:endParaRPr b="0" dirty="0"/>
          </a:p>
        </p:txBody>
      </p:sp>
      <p:sp>
        <p:nvSpPr>
          <p:cNvPr id="24579" name="Rectangle 3"/>
          <p:cNvSpPr>
            <a:spLocks noGrp="1"/>
          </p:cNvSpPr>
          <p:nvPr>
            <p:ph type="title" idx="4294967295"/>
          </p:nvPr>
        </p:nvSpPr>
        <p:spPr>
          <a:xfrm>
            <a:off x="1868488" y="185738"/>
            <a:ext cx="8435975" cy="757237"/>
          </a:xfrm>
          <a:prstGeom prst="rect">
            <a:avLst/>
          </a:prstGeom>
          <a:noFill/>
          <a:ln w="9525">
            <a:noFill/>
          </a:ln>
        </p:spPr>
        <p:txBody>
          <a:bodyPr lIns="90488" tIns="44450" rIns="90488" bIns="44450"/>
          <a:p>
            <a:r>
              <a:rPr dirty="0"/>
              <a:t>Confidence Interval for Estimating a Population Mean (with </a:t>
            </a:r>
            <a:r>
              <a:rPr lang="el-GR" altLang="x-none" i="1" dirty="0">
                <a:solidFill>
                  <a:srgbClr val="FF0000"/>
                </a:solidFill>
                <a:cs typeface="Arial" panose="020B0604020202020204" pitchFamily="34" charset="0"/>
              </a:rPr>
              <a:t>σ</a:t>
            </a:r>
            <a:r>
              <a:rPr dirty="0">
                <a:solidFill>
                  <a:srgbClr val="FF0000"/>
                </a:solidFill>
                <a:cs typeface="Arial" panose="020B0604020202020204" pitchFamily="34" charset="0"/>
              </a:rPr>
              <a:t> </a:t>
            </a:r>
            <a:r>
              <a:rPr dirty="0">
                <a:solidFill>
                  <a:srgbClr val="FF0000"/>
                </a:solidFill>
              </a:rPr>
              <a:t>Known</a:t>
            </a:r>
            <a:r>
              <a:rPr dirty="0"/>
              <a:t>)</a:t>
            </a:r>
            <a:endParaRPr lang="el-GR" altLang="x-none" dirty="0">
              <a:ea typeface="Arial" panose="020B0604020202020204" pitchFamily="34" charset="0"/>
            </a:endParaRPr>
          </a:p>
        </p:txBody>
      </p:sp>
      <p:sp>
        <p:nvSpPr>
          <p:cNvPr id="24580" name="Rectangle 4"/>
          <p:cNvSpPr/>
          <p:nvPr/>
        </p:nvSpPr>
        <p:spPr>
          <a:xfrm>
            <a:off x="2346325" y="1516063"/>
            <a:ext cx="3382963" cy="1616075"/>
          </a:xfrm>
          <a:prstGeom prst="rect">
            <a:avLst/>
          </a:prstGeom>
          <a:noFill/>
          <a:ln w="12700">
            <a:noFill/>
          </a:ln>
        </p:spPr>
        <p:txBody>
          <a:bodyPr wrap="none" anchor="ctr" anchorCtr="0"/>
          <a:p>
            <a:endParaRPr b="0" dirty="0">
              <a:latin typeface="Arial" panose="020B0604020202020204" pitchFamily="34" charset="0"/>
            </a:endParaRPr>
          </a:p>
        </p:txBody>
      </p:sp>
      <p:graphicFrame>
        <p:nvGraphicFramePr>
          <p:cNvPr id="24581" name="Object 5"/>
          <p:cNvGraphicFramePr>
            <a:graphicFrameLocks noChangeAspect="1"/>
          </p:cNvGraphicFramePr>
          <p:nvPr/>
        </p:nvGraphicFramePr>
        <p:xfrm>
          <a:off x="918210" y="2172335"/>
          <a:ext cx="198438" cy="304800"/>
        </p:xfrm>
        <a:graphic>
          <a:graphicData uri="http://schemas.openxmlformats.org/presentationml/2006/ole">
            <mc:AlternateContent xmlns:mc="http://schemas.openxmlformats.org/markup-compatibility/2006">
              <mc:Choice xmlns:v="urn:schemas-microsoft-com:vml" Requires="v">
                <p:oleObj spid="_x0000_s3087" name="" r:id="rId1" imgW="254000" imgH="317500" progId="Equation.DSMT4">
                  <p:embed/>
                </p:oleObj>
              </mc:Choice>
              <mc:Fallback>
                <p:oleObj name="" r:id="rId1" imgW="254000" imgH="317500" progId="Equation.DSMT4">
                  <p:embed/>
                  <p:pic>
                    <p:nvPicPr>
                      <p:cNvPr id="0" name="Picture 3086"/>
                      <p:cNvPicPr/>
                      <p:nvPr/>
                    </p:nvPicPr>
                    <p:blipFill>
                      <a:blip r:embed="rId2"/>
                      <a:stretch>
                        <a:fillRect/>
                      </a:stretch>
                    </p:blipFill>
                    <p:spPr>
                      <a:xfrm>
                        <a:off x="918210" y="2172335"/>
                        <a:ext cx="198438" cy="304800"/>
                      </a:xfrm>
                      <a:prstGeom prst="rect">
                        <a:avLst/>
                      </a:prstGeom>
                      <a:noFill/>
                      <a:ln w="38100">
                        <a:noFill/>
                        <a:miter/>
                      </a:ln>
                    </p:spPr>
                  </p:pic>
                </p:oleObj>
              </mc:Fallback>
            </mc:AlternateContent>
          </a:graphicData>
        </a:graphic>
      </p:graphicFrame>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idx="4294967295"/>
          </p:nvPr>
        </p:nvSpPr>
        <p:spPr>
          <a:xfrm>
            <a:off x="2193925" y="211138"/>
            <a:ext cx="7772400" cy="1160462"/>
          </a:xfrm>
          <a:prstGeom prst="rect">
            <a:avLst/>
          </a:prstGeom>
          <a:noFill/>
          <a:ln w="9525">
            <a:noFill/>
          </a:ln>
        </p:spPr>
        <p:txBody>
          <a:bodyPr lIns="90488" tIns="44450" rIns="90488" bIns="44450"/>
          <a:p>
            <a:r>
              <a:rPr dirty="0"/>
              <a:t>Confidence Interval for Estimating a Population Mean (with </a:t>
            </a:r>
            <a:r>
              <a:rPr lang="el-GR" altLang="x-none" i="1" dirty="0">
                <a:solidFill>
                  <a:srgbClr val="FF0000"/>
                </a:solidFill>
                <a:cs typeface="Arial" panose="020B0604020202020204" pitchFamily="34" charset="0"/>
              </a:rPr>
              <a:t>σ</a:t>
            </a:r>
            <a:r>
              <a:rPr dirty="0">
                <a:solidFill>
                  <a:srgbClr val="FF0000"/>
                </a:solidFill>
                <a:cs typeface="Arial" panose="020B0604020202020204" pitchFamily="34" charset="0"/>
              </a:rPr>
              <a:t> </a:t>
            </a:r>
            <a:r>
              <a:rPr dirty="0">
                <a:solidFill>
                  <a:srgbClr val="FF0000"/>
                </a:solidFill>
              </a:rPr>
              <a:t>Known</a:t>
            </a:r>
            <a:r>
              <a:rPr dirty="0"/>
              <a:t>)</a:t>
            </a:r>
            <a:endParaRPr dirty="0"/>
          </a:p>
        </p:txBody>
      </p:sp>
      <p:sp>
        <p:nvSpPr>
          <p:cNvPr id="26627" name="Rectangle 4"/>
          <p:cNvSpPr/>
          <p:nvPr/>
        </p:nvSpPr>
        <p:spPr>
          <a:xfrm>
            <a:off x="2903538" y="5491163"/>
            <a:ext cx="7035800" cy="519112"/>
          </a:xfrm>
          <a:prstGeom prst="rect">
            <a:avLst/>
          </a:prstGeom>
          <a:noFill/>
          <a:ln w="12700">
            <a:noFill/>
          </a:ln>
        </p:spPr>
        <p:txBody>
          <a:bodyPr wrap="none" anchor="ctr" anchorCtr="0"/>
          <a:p>
            <a:endParaRPr dirty="0">
              <a:latin typeface="Arial" panose="020B0604020202020204" pitchFamily="34" charset="0"/>
            </a:endParaRPr>
          </a:p>
        </p:txBody>
      </p:sp>
      <p:graphicFrame>
        <p:nvGraphicFramePr>
          <p:cNvPr id="26628" name="Object 6"/>
          <p:cNvGraphicFramePr>
            <a:graphicFrameLocks noChangeAspect="1"/>
          </p:cNvGraphicFramePr>
          <p:nvPr/>
        </p:nvGraphicFramePr>
        <p:xfrm>
          <a:off x="2330450" y="1393825"/>
          <a:ext cx="7519988" cy="1244600"/>
        </p:xfrm>
        <a:graphic>
          <a:graphicData uri="http://schemas.openxmlformats.org/presentationml/2006/ole">
            <mc:AlternateContent xmlns:mc="http://schemas.openxmlformats.org/markup-compatibility/2006">
              <mc:Choice xmlns:v="urn:schemas-microsoft-com:vml" Requires="v">
                <p:oleObj spid="_x0000_s3088" name="" r:id="rId1" imgW="7518400" imgH="1244600" progId="Equation.DSMT4">
                  <p:embed/>
                </p:oleObj>
              </mc:Choice>
              <mc:Fallback>
                <p:oleObj name="" r:id="rId1" imgW="7518400" imgH="1244600" progId="Equation.DSMT4">
                  <p:embed/>
                  <p:pic>
                    <p:nvPicPr>
                      <p:cNvPr id="0" name="Picture 3087"/>
                      <p:cNvPicPr/>
                      <p:nvPr/>
                    </p:nvPicPr>
                    <p:blipFill>
                      <a:blip r:embed="rId2"/>
                      <a:stretch>
                        <a:fillRect/>
                      </a:stretch>
                    </p:blipFill>
                    <p:spPr>
                      <a:xfrm>
                        <a:off x="2330450" y="1393825"/>
                        <a:ext cx="7519988" cy="1244600"/>
                      </a:xfrm>
                      <a:prstGeom prst="rect">
                        <a:avLst/>
                      </a:prstGeom>
                      <a:noFill/>
                      <a:ln w="38100">
                        <a:noFill/>
                        <a:miter/>
                      </a:ln>
                    </p:spPr>
                  </p:pic>
                </p:oleObj>
              </mc:Fallback>
            </mc:AlternateContent>
          </a:graphicData>
        </a:graphic>
      </p:graphicFrame>
      <p:sp>
        <p:nvSpPr>
          <p:cNvPr id="25605" name="Text Box 5"/>
          <p:cNvSpPr txBox="1"/>
          <p:nvPr/>
        </p:nvSpPr>
        <p:spPr>
          <a:xfrm>
            <a:off x="1826578" y="2594928"/>
            <a:ext cx="7864475" cy="3415030"/>
          </a:xfrm>
          <a:prstGeom prst="rect">
            <a:avLst/>
          </a:prstGeom>
          <a:noFill/>
          <a:ln w="9525">
            <a:noFill/>
          </a:ln>
        </p:spPr>
        <p:txBody>
          <a:bodyPr anchor="ctr" anchorCtr="0">
            <a:spAutoFit/>
          </a:bodyPr>
          <a:p>
            <a:pPr marL="347980" indent="-347980"/>
            <a:r>
              <a:rPr sz="2400" b="0" dirty="0">
                <a:latin typeface="Arial" panose="020B0604020202020204" pitchFamily="34" charset="0"/>
              </a:rPr>
              <a:t>1. The sample is a simple random sample.  (All samples of the same size have an equal chance of being selected.)</a:t>
            </a:r>
            <a:endParaRPr sz="2400" b="0" dirty="0">
              <a:latin typeface="Arial" panose="020B0604020202020204" pitchFamily="34" charset="0"/>
            </a:endParaRPr>
          </a:p>
          <a:p>
            <a:pPr marL="347980" indent="-347980"/>
            <a:endParaRPr sz="2400" b="0" dirty="0">
              <a:latin typeface="Arial" panose="020B0604020202020204" pitchFamily="34" charset="0"/>
            </a:endParaRPr>
          </a:p>
          <a:p>
            <a:pPr marL="347980" indent="-347980"/>
            <a:r>
              <a:rPr sz="2400" b="0" dirty="0">
                <a:latin typeface="Arial" panose="020B0604020202020204" pitchFamily="34" charset="0"/>
              </a:rPr>
              <a:t>2. The value of the population standard deviation </a:t>
            </a:r>
            <a:r>
              <a:rPr lang="el-GR" altLang="x-none" sz="2400" b="0" i="1" dirty="0">
                <a:latin typeface="Arial" panose="020B0604020202020204" pitchFamily="34" charset="0"/>
                <a:cs typeface="Arial" panose="020B0604020202020204" pitchFamily="34" charset="0"/>
              </a:rPr>
              <a:t>σ</a:t>
            </a:r>
            <a:r>
              <a:rPr sz="2400" b="0" dirty="0">
                <a:latin typeface="Arial" panose="020B0604020202020204" pitchFamily="34" charset="0"/>
                <a:cs typeface="Arial" panose="020B0604020202020204" pitchFamily="34" charset="0"/>
              </a:rPr>
              <a:t> </a:t>
            </a:r>
            <a:r>
              <a:rPr sz="2400" b="0" dirty="0">
                <a:latin typeface="Arial" panose="020B0604020202020204" pitchFamily="34" charset="0"/>
                <a:sym typeface="Symbol" panose="05050102010706020507" charset="2"/>
              </a:rPr>
              <a:t>is known.</a:t>
            </a:r>
            <a:endParaRPr sz="2400" b="0" dirty="0">
              <a:latin typeface="Arial" panose="020B0604020202020204" pitchFamily="34" charset="0"/>
              <a:sym typeface="Symbol" panose="05050102010706020507" charset="2"/>
            </a:endParaRPr>
          </a:p>
          <a:p>
            <a:pPr marL="347980" indent="-347980"/>
            <a:endParaRPr sz="2400" b="0" dirty="0">
              <a:latin typeface="Arial" panose="020B0604020202020204" pitchFamily="34" charset="0"/>
              <a:sym typeface="Symbol" panose="05050102010706020507" charset="2"/>
            </a:endParaRPr>
          </a:p>
          <a:p>
            <a:pPr marL="347980" indent="-347980"/>
            <a:r>
              <a:rPr sz="2400" b="0" dirty="0">
                <a:latin typeface="Arial" panose="020B0604020202020204" pitchFamily="34" charset="0"/>
                <a:sym typeface="Symbol" panose="05050102010706020507" charset="2"/>
              </a:rPr>
              <a:t>3. Either or both of these conditions is satisfied: The population is normally distributed or </a:t>
            </a:r>
            <a:r>
              <a:rPr sz="2400" b="0" i="1" dirty="0">
                <a:latin typeface="Arial" panose="020B0604020202020204" pitchFamily="34" charset="0"/>
                <a:sym typeface="Symbol" panose="05050102010706020507" charset="2"/>
              </a:rPr>
              <a:t>n</a:t>
            </a:r>
            <a:r>
              <a:rPr sz="2400" b="0" dirty="0">
                <a:latin typeface="Arial" panose="020B0604020202020204" pitchFamily="34" charset="0"/>
                <a:sym typeface="Symbol" panose="05050102010706020507" charset="2"/>
              </a:rPr>
              <a:t> &gt; 30.</a:t>
            </a:r>
            <a:endParaRPr sz="2400" b="0" dirty="0">
              <a:latin typeface="Arial" panose="020B0604020202020204" pitchFamily="3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idx="4294967295"/>
          </p:nvPr>
        </p:nvSpPr>
        <p:spPr>
          <a:xfrm>
            <a:off x="1860550" y="254000"/>
            <a:ext cx="8493125" cy="1270000"/>
          </a:xfrm>
          <a:prstGeom prst="rect">
            <a:avLst/>
          </a:prstGeom>
          <a:noFill/>
          <a:ln w="9525">
            <a:noFill/>
          </a:ln>
        </p:spPr>
        <p:txBody>
          <a:bodyPr lIns="90488" tIns="44450" rIns="90488" bIns="44450"/>
          <a:p>
            <a:r>
              <a:rPr dirty="0"/>
              <a:t>Margin of Error </a:t>
            </a:r>
            <a:r>
              <a:rPr i="1" dirty="0"/>
              <a:t>E</a:t>
            </a:r>
            <a:r>
              <a:rPr dirty="0"/>
              <a:t> for Estimate of </a:t>
            </a:r>
            <a:r>
              <a:rPr lang="el-GR" altLang="x-none" i="1" dirty="0"/>
              <a:t>μ</a:t>
            </a:r>
            <a:r>
              <a:rPr dirty="0"/>
              <a:t>   </a:t>
            </a:r>
            <a:r>
              <a:rPr i="1" dirty="0">
                <a:latin typeface="Symbol" panose="05050102010706020507" charset="2"/>
              </a:rPr>
              <a:t> </a:t>
            </a:r>
            <a:r>
              <a:rPr dirty="0"/>
              <a:t>(With</a:t>
            </a:r>
            <a:r>
              <a:rPr i="1" dirty="0">
                <a:latin typeface="Symbol" panose="05050102010706020507" charset="2"/>
              </a:rPr>
              <a:t> </a:t>
            </a:r>
            <a:r>
              <a:rPr lang="el-GR" altLang="x-none" i="1" dirty="0">
                <a:solidFill>
                  <a:srgbClr val="FF0000"/>
                </a:solidFill>
                <a:cs typeface="Arial" panose="020B0604020202020204" pitchFamily="34" charset="0"/>
              </a:rPr>
              <a:t>σ</a:t>
            </a:r>
            <a:r>
              <a:rPr i="1" dirty="0">
                <a:solidFill>
                  <a:srgbClr val="FF0000"/>
                </a:solidFill>
                <a:cs typeface="Arial" panose="020B0604020202020204" pitchFamily="34" charset="0"/>
              </a:rPr>
              <a:t> </a:t>
            </a:r>
            <a:r>
              <a:rPr dirty="0">
                <a:solidFill>
                  <a:srgbClr val="FF0000"/>
                </a:solidFill>
                <a:cs typeface="Arial" panose="020B0604020202020204" pitchFamily="34" charset="0"/>
              </a:rPr>
              <a:t>Not Known</a:t>
            </a:r>
            <a:r>
              <a:rPr dirty="0">
                <a:cs typeface="Arial" panose="020B0604020202020204" pitchFamily="34" charset="0"/>
              </a:rPr>
              <a:t>)</a:t>
            </a:r>
            <a:endParaRPr lang="el-GR" altLang="x-none" dirty="0">
              <a:ea typeface="Arial" panose="020B0604020202020204" pitchFamily="34" charset="0"/>
            </a:endParaRPr>
          </a:p>
        </p:txBody>
      </p:sp>
      <p:sp>
        <p:nvSpPr>
          <p:cNvPr id="7171" name="Rectangle 5"/>
          <p:cNvSpPr/>
          <p:nvPr/>
        </p:nvSpPr>
        <p:spPr>
          <a:xfrm>
            <a:off x="1946275" y="3625850"/>
            <a:ext cx="9103360" cy="1565910"/>
          </a:xfrm>
          <a:prstGeom prst="rect">
            <a:avLst/>
          </a:prstGeom>
          <a:noFill/>
          <a:ln w="12700">
            <a:noFill/>
          </a:ln>
        </p:spPr>
        <p:txBody>
          <a:bodyPr wrap="none" lIns="90488" tIns="44450" rIns="90488" bIns="44450">
            <a:spAutoFit/>
          </a:bodyPr>
          <a:p>
            <a:pPr algn="l"/>
            <a:r>
              <a:rPr sz="3200" dirty="0">
                <a:latin typeface="Arial" panose="020B0604020202020204" pitchFamily="34" charset="0"/>
              </a:rPr>
              <a:t>where          has </a:t>
            </a:r>
            <a:r>
              <a:rPr sz="3200" i="1" dirty="0">
                <a:latin typeface="Arial" panose="020B0604020202020204" pitchFamily="34" charset="0"/>
              </a:rPr>
              <a:t>n</a:t>
            </a:r>
            <a:r>
              <a:rPr sz="3200" dirty="0">
                <a:latin typeface="Arial" panose="020B0604020202020204" pitchFamily="34" charset="0"/>
              </a:rPr>
              <a:t> – 1 degrees of freedom</a:t>
            </a:r>
            <a:r>
              <a:rPr lang="en-US" sz="3200" dirty="0">
                <a:latin typeface="Arial" panose="020B0604020202020204" pitchFamily="34" charset="0"/>
              </a:rPr>
              <a:t> </a:t>
            </a:r>
            <a:endParaRPr lang="en-US" sz="3200" dirty="0">
              <a:latin typeface="Arial" panose="020B0604020202020204" pitchFamily="34" charset="0"/>
            </a:endParaRPr>
          </a:p>
          <a:p>
            <a:pPr algn="l"/>
            <a:endParaRPr lang="en-US" sz="3200" dirty="0">
              <a:latin typeface="Arial" panose="020B0604020202020204" pitchFamily="34" charset="0"/>
            </a:endParaRPr>
          </a:p>
          <a:p>
            <a:pPr algn="l"/>
            <a:r>
              <a:rPr lang="en-US" sz="3200" dirty="0">
                <a:latin typeface="Arial" panose="020B0604020202020204" pitchFamily="34" charset="0"/>
              </a:rPr>
              <a:t>of </a:t>
            </a:r>
            <a:r>
              <a:rPr sz="3200" dirty="0">
                <a:solidFill>
                  <a:schemeClr val="hlink"/>
                </a:solidFill>
                <a:latin typeface="Arial" panose="020B0604020202020204" pitchFamily="34" charset="0"/>
                <a:sym typeface="+mn-ea"/>
              </a:rPr>
              <a:t>Student </a:t>
            </a:r>
            <a:r>
              <a:rPr sz="3200" i="1" dirty="0">
                <a:solidFill>
                  <a:schemeClr val="hlink"/>
                </a:solidFill>
                <a:latin typeface="Arial" panose="020B0604020202020204" pitchFamily="34" charset="0"/>
                <a:sym typeface="+mn-ea"/>
              </a:rPr>
              <a:t>t</a:t>
            </a:r>
            <a:r>
              <a:rPr sz="3200" dirty="0">
                <a:solidFill>
                  <a:schemeClr val="hlink"/>
                </a:solidFill>
                <a:latin typeface="Arial" panose="020B0604020202020204" pitchFamily="34" charset="0"/>
                <a:sym typeface="+mn-ea"/>
              </a:rPr>
              <a:t> Distribution</a:t>
            </a:r>
            <a:r>
              <a:rPr lang="en-US" sz="3200" dirty="0">
                <a:solidFill>
                  <a:schemeClr val="hlink"/>
                </a:solidFill>
                <a:latin typeface="Arial" panose="020B0604020202020204" pitchFamily="34" charset="0"/>
                <a:sym typeface="+mn-ea"/>
              </a:rPr>
              <a:t> (or shorter, </a:t>
            </a:r>
            <a:r>
              <a:rPr sz="3200" i="1" dirty="0">
                <a:solidFill>
                  <a:schemeClr val="hlink"/>
                </a:solidFill>
                <a:latin typeface="Arial" panose="020B0604020202020204" pitchFamily="34" charset="0"/>
                <a:sym typeface="+mn-ea"/>
              </a:rPr>
              <a:t>t</a:t>
            </a:r>
            <a:r>
              <a:rPr sz="3200" dirty="0">
                <a:solidFill>
                  <a:schemeClr val="hlink"/>
                </a:solidFill>
                <a:latin typeface="Arial" panose="020B0604020202020204" pitchFamily="34" charset="0"/>
                <a:sym typeface="+mn-ea"/>
              </a:rPr>
              <a:t> Distribution</a:t>
            </a:r>
            <a:r>
              <a:rPr lang="en-US" sz="3200" dirty="0">
                <a:solidFill>
                  <a:schemeClr val="hlink"/>
                </a:solidFill>
                <a:latin typeface="Arial" panose="020B0604020202020204" pitchFamily="34" charset="0"/>
                <a:sym typeface="+mn-ea"/>
              </a:rPr>
              <a:t>)</a:t>
            </a:r>
            <a:r>
              <a:rPr sz="3200" dirty="0">
                <a:solidFill>
                  <a:srgbClr val="FF0000"/>
                </a:solidFill>
                <a:latin typeface="Arial" panose="020B0604020202020204" pitchFamily="34" charset="0"/>
              </a:rPr>
              <a:t>.</a:t>
            </a:r>
            <a:endParaRPr sz="3200" dirty="0">
              <a:solidFill>
                <a:srgbClr val="FF0000"/>
              </a:solidFill>
              <a:latin typeface="Arial" panose="020B0604020202020204" pitchFamily="34" charset="0"/>
            </a:endParaRPr>
          </a:p>
        </p:txBody>
      </p:sp>
      <p:sp>
        <p:nvSpPr>
          <p:cNvPr id="7172" name="Text Box 21"/>
          <p:cNvSpPr txBox="1"/>
          <p:nvPr/>
        </p:nvSpPr>
        <p:spPr>
          <a:xfrm>
            <a:off x="2390775" y="5397500"/>
            <a:ext cx="6203950" cy="583565"/>
          </a:xfrm>
          <a:prstGeom prst="rect">
            <a:avLst/>
          </a:prstGeom>
          <a:noFill/>
          <a:ln w="12700">
            <a:noFill/>
          </a:ln>
        </p:spPr>
        <p:txBody>
          <a:bodyPr wrap="square">
            <a:spAutoFit/>
          </a:bodyPr>
          <a:p>
            <a:pPr>
              <a:spcBef>
                <a:spcPct val="50000"/>
              </a:spcBef>
            </a:pPr>
            <a:r>
              <a:rPr sz="3200" b="0" dirty="0">
                <a:latin typeface="Arial" panose="020B0604020202020204" pitchFamily="34" charset="0"/>
              </a:rPr>
              <a:t>Table A-3 lists values for         .  </a:t>
            </a:r>
            <a:endParaRPr sz="3200" b="0" dirty="0">
              <a:latin typeface="Arial" panose="020B0604020202020204" pitchFamily="34" charset="0"/>
            </a:endParaRPr>
          </a:p>
        </p:txBody>
      </p:sp>
      <p:pic>
        <p:nvPicPr>
          <p:cNvPr id="7173" name="Picture 19" descr="ta2"/>
          <p:cNvPicPr>
            <a:picLocks noChangeAspect="1"/>
          </p:cNvPicPr>
          <p:nvPr/>
        </p:nvPicPr>
        <p:blipFill>
          <a:blip r:embed="rId1"/>
          <a:stretch>
            <a:fillRect/>
          </a:stretch>
        </p:blipFill>
        <p:spPr>
          <a:xfrm>
            <a:off x="3445510" y="3606800"/>
            <a:ext cx="568325" cy="869950"/>
          </a:xfrm>
          <a:prstGeom prst="rect">
            <a:avLst/>
          </a:prstGeom>
          <a:noFill/>
          <a:ln w="9525">
            <a:noFill/>
          </a:ln>
        </p:spPr>
      </p:pic>
      <p:pic>
        <p:nvPicPr>
          <p:cNvPr id="7174" name="Picture 20" descr="marginoferror"/>
          <p:cNvPicPr>
            <a:picLocks noChangeAspect="1"/>
          </p:cNvPicPr>
          <p:nvPr/>
        </p:nvPicPr>
        <p:blipFill>
          <a:blip r:embed="rId2"/>
          <a:stretch>
            <a:fillRect/>
          </a:stretch>
        </p:blipFill>
        <p:spPr>
          <a:xfrm>
            <a:off x="4572000" y="1676400"/>
            <a:ext cx="2644775" cy="1503363"/>
          </a:xfrm>
          <a:prstGeom prst="rect">
            <a:avLst/>
          </a:prstGeom>
          <a:noFill/>
          <a:ln w="9525">
            <a:noFill/>
          </a:ln>
        </p:spPr>
      </p:pic>
      <p:pic>
        <p:nvPicPr>
          <p:cNvPr id="7175" name="Picture 23" descr="ta2"/>
          <p:cNvPicPr>
            <a:picLocks noChangeAspect="1"/>
          </p:cNvPicPr>
          <p:nvPr/>
        </p:nvPicPr>
        <p:blipFill>
          <a:blip r:embed="rId1"/>
          <a:stretch>
            <a:fillRect/>
          </a:stretch>
        </p:blipFill>
        <p:spPr>
          <a:xfrm>
            <a:off x="7047865" y="5397500"/>
            <a:ext cx="568325" cy="869950"/>
          </a:xfrm>
          <a:prstGeom prst="rect">
            <a:avLst/>
          </a:prstGeom>
          <a:noFill/>
          <a:ln w="9525">
            <a:noFill/>
          </a:ln>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Rectangle 22"/>
          <p:cNvSpPr>
            <a:spLocks noGrp="1"/>
          </p:cNvSpPr>
          <p:nvPr>
            <p:ph type="title" idx="4294967295"/>
          </p:nvPr>
        </p:nvSpPr>
        <p:spPr>
          <a:xfrm>
            <a:off x="1733550" y="295275"/>
            <a:ext cx="8756650" cy="1143000"/>
          </a:xfrm>
          <a:prstGeom prst="rect">
            <a:avLst/>
          </a:prstGeom>
          <a:noFill/>
          <a:ln w="9525">
            <a:noFill/>
          </a:ln>
        </p:spPr>
        <p:txBody>
          <a:bodyPr/>
          <a:p>
            <a:r>
              <a:rPr dirty="0"/>
              <a:t>Confidence Interval for the </a:t>
            </a:r>
            <a:br>
              <a:rPr dirty="0"/>
            </a:br>
            <a:r>
              <a:rPr dirty="0"/>
              <a:t>Estimate of </a:t>
            </a:r>
            <a:r>
              <a:rPr lang="el-GR" altLang="x-none" dirty="0">
                <a:cs typeface="Arial" panose="020B0604020202020204" pitchFamily="34" charset="0"/>
              </a:rPr>
              <a:t>μ</a:t>
            </a:r>
            <a:r>
              <a:rPr dirty="0">
                <a:cs typeface="Arial" panose="020B0604020202020204" pitchFamily="34" charset="0"/>
              </a:rPr>
              <a:t> (With </a:t>
            </a:r>
            <a:r>
              <a:rPr lang="el-GR" altLang="x-none" i="1" dirty="0">
                <a:cs typeface="Arial" panose="020B0604020202020204" pitchFamily="34" charset="0"/>
              </a:rPr>
              <a:t>σ</a:t>
            </a:r>
            <a:r>
              <a:rPr i="1" dirty="0">
                <a:cs typeface="Arial" panose="020B0604020202020204" pitchFamily="34" charset="0"/>
              </a:rPr>
              <a:t> </a:t>
            </a:r>
            <a:r>
              <a:rPr dirty="0">
                <a:cs typeface="Arial" panose="020B0604020202020204" pitchFamily="34" charset="0"/>
              </a:rPr>
              <a:t>Not Known)</a:t>
            </a:r>
            <a:endParaRPr lang="el-GR" altLang="x-none" i="1" dirty="0">
              <a:ea typeface="Arial" panose="020B0604020202020204" pitchFamily="34" charset="0"/>
            </a:endParaRPr>
          </a:p>
        </p:txBody>
      </p:sp>
      <p:pic>
        <p:nvPicPr>
          <p:cNvPr id="11272" name="Picture 24" descr="confidenceinterval"/>
          <p:cNvPicPr>
            <a:picLocks noChangeAspect="1"/>
          </p:cNvPicPr>
          <p:nvPr/>
        </p:nvPicPr>
        <p:blipFill>
          <a:blip r:embed="rId1"/>
          <a:stretch>
            <a:fillRect/>
          </a:stretch>
        </p:blipFill>
        <p:spPr>
          <a:xfrm>
            <a:off x="3733800" y="2057400"/>
            <a:ext cx="4141788" cy="622300"/>
          </a:xfrm>
          <a:prstGeom prst="rect">
            <a:avLst/>
          </a:prstGeom>
          <a:noFill/>
          <a:ln w="9525">
            <a:noFill/>
          </a:ln>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69695" y="273050"/>
            <a:ext cx="4064000" cy="521970"/>
          </a:xfrm>
          <a:prstGeom prst="rect">
            <a:avLst/>
          </a:prstGeom>
          <a:noFill/>
        </p:spPr>
        <p:txBody>
          <a:bodyPr wrap="square" rtlCol="0">
            <a:spAutoFit/>
          </a:bodyPr>
          <a:p>
            <a:r>
              <a:rPr lang="en-US" sz="2800"/>
              <a:t>Ví dụ:</a:t>
            </a:r>
            <a:endParaRPr lang="en-US" sz="2800"/>
          </a:p>
        </p:txBody>
      </p:sp>
      <p:sp>
        <p:nvSpPr>
          <p:cNvPr id="3" name="Text Box 2"/>
          <p:cNvSpPr txBox="1"/>
          <p:nvPr/>
        </p:nvSpPr>
        <p:spPr>
          <a:xfrm>
            <a:off x="1369695" y="909955"/>
            <a:ext cx="9131935" cy="2245360"/>
          </a:xfrm>
          <a:prstGeom prst="rect">
            <a:avLst/>
          </a:prstGeom>
          <a:noFill/>
        </p:spPr>
        <p:txBody>
          <a:bodyPr wrap="square" rtlCol="0">
            <a:spAutoFit/>
          </a:bodyPr>
          <a:p>
            <a:r>
              <a:rPr lang="en-US" sz="2800"/>
              <a:t>1. Trong một cuộc khảo sát 64 khách hàng ở một tiệm ăn nhanh, thời gian đợi trung bình là 3 phút và độ lệch tiêu chuẩn là 1,5 phút. Tìm khoảng tin cậy 99% cho thời gian đợi phục vụ trung bình của tiệm ăn trên. (Nhóm 1, 4, 7, 10, 13)</a:t>
            </a:r>
            <a:endParaRPr lang="en-US" sz="2800"/>
          </a:p>
        </p:txBody>
      </p:sp>
      <p:sp>
        <p:nvSpPr>
          <p:cNvPr id="4" name="Text Box 3"/>
          <p:cNvSpPr txBox="1"/>
          <p:nvPr/>
        </p:nvSpPr>
        <p:spPr>
          <a:xfrm>
            <a:off x="1385570" y="2989580"/>
            <a:ext cx="9131935" cy="1814830"/>
          </a:xfrm>
          <a:prstGeom prst="rect">
            <a:avLst/>
          </a:prstGeom>
          <a:noFill/>
        </p:spPr>
        <p:txBody>
          <a:bodyPr wrap="square" rtlCol="0">
            <a:spAutoFit/>
          </a:bodyPr>
          <a:p>
            <a:r>
              <a:rPr lang="en-US" sz="2800"/>
              <a:t>2. Người ta muốn tìm khoảng tin cậy 95% cho điểm thi tốt nghiệp THPT Quốc gia với độ chính xác 0,2. Một mẫu điều tra sơ bộ với độ lệch chuẩn là 1,2 điểm. Tìm kích thước mẫu n. (Nhóm 2, 5, 8, 11, 14)</a:t>
            </a:r>
            <a:endParaRPr lang="en-US" sz="2800"/>
          </a:p>
        </p:txBody>
      </p:sp>
      <p:sp>
        <p:nvSpPr>
          <p:cNvPr id="5" name="Text Box 4"/>
          <p:cNvSpPr txBox="1"/>
          <p:nvPr/>
        </p:nvSpPr>
        <p:spPr>
          <a:xfrm>
            <a:off x="1369695" y="4804410"/>
            <a:ext cx="9131935" cy="1814830"/>
          </a:xfrm>
          <a:prstGeom prst="rect">
            <a:avLst/>
          </a:prstGeom>
          <a:noFill/>
        </p:spPr>
        <p:txBody>
          <a:bodyPr wrap="square" rtlCol="0">
            <a:spAutoFit/>
          </a:bodyPr>
          <a:p>
            <a:r>
              <a:rPr lang="en-US" sz="2800"/>
              <a:t>3. Chọn mẫu ngẫu nhiên gồm 200 sinh viên của Trường A thì có 74 sinh viên không ở nội trú. Tìm khoảng tin cậy 90% cho tỷ lệ sinh viên không ở nội trú của Trường A. (Nhóm 3, 6, 9,12)</a:t>
            </a:r>
            <a:endParaRPr lang="en-US" sz="2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idx="4294967295"/>
          </p:nvPr>
        </p:nvSpPr>
        <p:spPr>
          <a:xfrm>
            <a:off x="1947863" y="184150"/>
            <a:ext cx="8566150" cy="787400"/>
          </a:xfrm>
          <a:prstGeom prst="rect">
            <a:avLst/>
          </a:prstGeom>
          <a:noFill/>
          <a:ln w="9525">
            <a:noFill/>
          </a:ln>
        </p:spPr>
        <p:txBody>
          <a:bodyPr lIns="90488" tIns="44450" rIns="90488" bIns="44450"/>
          <a:p>
            <a:r>
              <a:rPr sz="3200" dirty="0"/>
              <a:t>Choosing the Appropriate Distribution</a:t>
            </a:r>
            <a:endParaRPr sz="3200" dirty="0"/>
          </a:p>
        </p:txBody>
      </p:sp>
      <p:sp>
        <p:nvSpPr>
          <p:cNvPr id="32771" name="Rectangle 3"/>
          <p:cNvSpPr>
            <a:spLocks noGrp="1"/>
          </p:cNvSpPr>
          <p:nvPr>
            <p:ph type="body" idx="4294967295"/>
          </p:nvPr>
        </p:nvSpPr>
        <p:spPr>
          <a:xfrm>
            <a:off x="1965325" y="1290320"/>
            <a:ext cx="4129088" cy="2138363"/>
          </a:xfrm>
          <a:prstGeom prst="rect">
            <a:avLst/>
          </a:prstGeom>
          <a:noFill/>
          <a:ln w="9525">
            <a:noFill/>
          </a:ln>
        </p:spPr>
        <p:txBody>
          <a:bodyPr lIns="90488" tIns="44450" rIns="90488" bIns="44450"/>
          <a:p>
            <a:pPr marL="0" indent="1905" defTabSz="342900">
              <a:spcBef>
                <a:spcPct val="35000"/>
              </a:spcBef>
              <a:spcAft>
                <a:spcPct val="35000"/>
              </a:spcAft>
              <a:buFont typeface="Wingdings" panose="05000000000000000000" pitchFamily="2" charset="2"/>
              <a:buNone/>
            </a:pPr>
            <a:r>
              <a:rPr sz="2400" b="0" dirty="0"/>
              <a:t>Use the normal (</a:t>
            </a:r>
            <a:r>
              <a:rPr sz="2400" b="0" i="1" dirty="0"/>
              <a:t>z</a:t>
            </a:r>
            <a:r>
              <a:rPr sz="2400" b="0" dirty="0"/>
              <a:t>) distribution</a:t>
            </a:r>
            <a:endParaRPr sz="2400" b="0" dirty="0"/>
          </a:p>
        </p:txBody>
      </p:sp>
      <p:sp>
        <p:nvSpPr>
          <p:cNvPr id="32772" name="Rectangle 4"/>
          <p:cNvSpPr/>
          <p:nvPr/>
        </p:nvSpPr>
        <p:spPr>
          <a:xfrm>
            <a:off x="6034088" y="1277938"/>
            <a:ext cx="4302125" cy="1617662"/>
          </a:xfrm>
          <a:prstGeom prst="rect">
            <a:avLst/>
          </a:prstGeom>
          <a:noFill/>
          <a:ln w="12700">
            <a:noFill/>
          </a:ln>
        </p:spPr>
        <p:txBody>
          <a:bodyPr lIns="90488" tIns="44450" rIns="90488" bIns="44450"/>
          <a:p>
            <a:pPr indent="1905" defTabSz="342900">
              <a:spcBef>
                <a:spcPct val="35000"/>
              </a:spcBef>
              <a:spcAft>
                <a:spcPct val="35000"/>
              </a:spcAft>
              <a:buClr>
                <a:schemeClr val="accent2"/>
              </a:buClr>
              <a:buFont typeface="Wingdings" panose="05000000000000000000" pitchFamily="2" charset="2"/>
            </a:pPr>
            <a:r>
              <a:rPr lang="el-GR" altLang="x-none" sz="2400" b="0" i="1" dirty="0">
                <a:latin typeface="Arial" panose="020B0604020202020204" pitchFamily="34" charset="0"/>
                <a:cs typeface="Arial" panose="020B0604020202020204" pitchFamily="34" charset="0"/>
              </a:rPr>
              <a:t>σ</a:t>
            </a:r>
            <a:r>
              <a:rPr sz="2400" b="0" dirty="0">
                <a:latin typeface="Arial" panose="020B0604020202020204" pitchFamily="34" charset="0"/>
                <a:cs typeface="Arial" panose="020B0604020202020204" pitchFamily="34" charset="0"/>
              </a:rPr>
              <a:t> </a:t>
            </a:r>
            <a:r>
              <a:rPr sz="2400" b="0" dirty="0">
                <a:latin typeface="Arial" panose="020B0604020202020204" pitchFamily="34" charset="0"/>
              </a:rPr>
              <a:t>known and </a:t>
            </a:r>
            <a:endParaRPr sz="2400" b="0" dirty="0">
              <a:latin typeface="Arial" panose="020B0604020202020204" pitchFamily="34" charset="0"/>
            </a:endParaRPr>
          </a:p>
          <a:p>
            <a:pPr indent="1905" defTabSz="342900">
              <a:spcBef>
                <a:spcPct val="35000"/>
              </a:spcBef>
              <a:spcAft>
                <a:spcPct val="35000"/>
              </a:spcAft>
              <a:buClr>
                <a:schemeClr val="accent2"/>
              </a:buClr>
              <a:buFont typeface="Wingdings" panose="05000000000000000000" pitchFamily="2" charset="2"/>
            </a:pPr>
            <a:r>
              <a:rPr sz="2400" b="0" dirty="0">
                <a:latin typeface="Arial" panose="020B0604020202020204" pitchFamily="34" charset="0"/>
              </a:rPr>
              <a:t>normally distributed population or </a:t>
            </a:r>
            <a:r>
              <a:rPr sz="2400" b="0" i="1" dirty="0">
                <a:latin typeface="Arial" panose="020B0604020202020204" pitchFamily="34" charset="0"/>
              </a:rPr>
              <a:t>n</a:t>
            </a:r>
            <a:r>
              <a:rPr sz="2400" b="0" dirty="0">
                <a:latin typeface="Arial" panose="020B0604020202020204" pitchFamily="34" charset="0"/>
              </a:rPr>
              <a:t> &gt; 30</a:t>
            </a:r>
            <a:endParaRPr sz="2400" b="0" dirty="0">
              <a:latin typeface="Arial" panose="020B0604020202020204" pitchFamily="34" charset="0"/>
            </a:endParaRPr>
          </a:p>
        </p:txBody>
      </p:sp>
      <p:sp>
        <p:nvSpPr>
          <p:cNvPr id="32773" name="Rectangle 6"/>
          <p:cNvSpPr/>
          <p:nvPr/>
        </p:nvSpPr>
        <p:spPr>
          <a:xfrm>
            <a:off x="1960563" y="3078163"/>
            <a:ext cx="4129087" cy="2112962"/>
          </a:xfrm>
          <a:prstGeom prst="rect">
            <a:avLst/>
          </a:prstGeom>
          <a:noFill/>
          <a:ln w="12700">
            <a:noFill/>
          </a:ln>
        </p:spPr>
        <p:txBody>
          <a:bodyPr lIns="90488" tIns="44450" rIns="90488" bIns="44450"/>
          <a:p>
            <a:pPr indent="1905" defTabSz="342900">
              <a:spcBef>
                <a:spcPct val="35000"/>
              </a:spcBef>
              <a:spcAft>
                <a:spcPct val="35000"/>
              </a:spcAft>
              <a:buClr>
                <a:schemeClr val="accent2"/>
              </a:buClr>
              <a:buFont typeface="Wingdings" panose="05000000000000000000" pitchFamily="2" charset="2"/>
            </a:pPr>
            <a:r>
              <a:rPr sz="2400" b="0" dirty="0">
                <a:latin typeface="Arial" panose="020B0604020202020204" pitchFamily="34" charset="0"/>
              </a:rPr>
              <a:t>Use </a:t>
            </a:r>
            <a:r>
              <a:rPr sz="2400" b="0" i="1" dirty="0">
                <a:latin typeface="Arial" panose="020B0604020202020204" pitchFamily="34" charset="0"/>
              </a:rPr>
              <a:t>t</a:t>
            </a:r>
            <a:r>
              <a:rPr sz="2400" b="0" dirty="0">
                <a:latin typeface="Arial" panose="020B0604020202020204" pitchFamily="34" charset="0"/>
              </a:rPr>
              <a:t> distribution</a:t>
            </a:r>
            <a:endParaRPr sz="2400" b="0" dirty="0">
              <a:latin typeface="Arial" panose="020B0604020202020204" pitchFamily="34" charset="0"/>
            </a:endParaRPr>
          </a:p>
        </p:txBody>
      </p:sp>
      <p:sp>
        <p:nvSpPr>
          <p:cNvPr id="32774" name="Rectangle 7"/>
          <p:cNvSpPr/>
          <p:nvPr/>
        </p:nvSpPr>
        <p:spPr>
          <a:xfrm>
            <a:off x="6024563" y="3106738"/>
            <a:ext cx="4302125" cy="1465262"/>
          </a:xfrm>
          <a:prstGeom prst="rect">
            <a:avLst/>
          </a:prstGeom>
          <a:noFill/>
          <a:ln w="12700">
            <a:noFill/>
          </a:ln>
        </p:spPr>
        <p:txBody>
          <a:bodyPr lIns="90488" tIns="44450" rIns="90488" bIns="44450"/>
          <a:p>
            <a:pPr indent="1905" defTabSz="342900">
              <a:spcBef>
                <a:spcPct val="35000"/>
              </a:spcBef>
              <a:spcAft>
                <a:spcPct val="35000"/>
              </a:spcAft>
              <a:buClr>
                <a:schemeClr val="accent2"/>
              </a:buClr>
              <a:buFont typeface="Wingdings" panose="05000000000000000000" pitchFamily="2" charset="2"/>
            </a:pPr>
            <a:r>
              <a:rPr lang="el-GR" altLang="x-none" sz="2400" b="0" i="1" dirty="0">
                <a:latin typeface="Arial" panose="020B0604020202020204" pitchFamily="34" charset="0"/>
                <a:cs typeface="Arial" panose="020B0604020202020204" pitchFamily="34" charset="0"/>
              </a:rPr>
              <a:t>σ</a:t>
            </a:r>
            <a:r>
              <a:rPr sz="2400" b="0" dirty="0">
                <a:latin typeface="Arial" panose="020B0604020202020204" pitchFamily="34" charset="0"/>
              </a:rPr>
              <a:t>  not known and </a:t>
            </a:r>
            <a:endParaRPr sz="2400" b="0" dirty="0">
              <a:latin typeface="Arial" panose="020B0604020202020204" pitchFamily="34" charset="0"/>
            </a:endParaRPr>
          </a:p>
          <a:p>
            <a:pPr indent="1905" defTabSz="342900">
              <a:spcBef>
                <a:spcPct val="35000"/>
              </a:spcBef>
              <a:spcAft>
                <a:spcPct val="35000"/>
              </a:spcAft>
              <a:buClr>
                <a:schemeClr val="accent2"/>
              </a:buClr>
              <a:buFont typeface="Wingdings" panose="05000000000000000000" pitchFamily="2" charset="2"/>
            </a:pPr>
            <a:r>
              <a:rPr sz="2400" b="0" dirty="0">
                <a:latin typeface="Arial" panose="020B0604020202020204" pitchFamily="34" charset="0"/>
              </a:rPr>
              <a:t>normally distributed population or </a:t>
            </a:r>
            <a:r>
              <a:rPr sz="2400" b="0" i="1" dirty="0">
                <a:latin typeface="Arial" panose="020B0604020202020204" pitchFamily="34" charset="0"/>
              </a:rPr>
              <a:t>n</a:t>
            </a:r>
            <a:r>
              <a:rPr sz="2400" b="0" dirty="0">
                <a:latin typeface="Arial" panose="020B0604020202020204" pitchFamily="34" charset="0"/>
              </a:rPr>
              <a:t> &gt; 30</a:t>
            </a:r>
            <a:endParaRPr sz="2400" b="0" dirty="0">
              <a:latin typeface="Arial" panose="020B0604020202020204" pitchFamily="34" charset="0"/>
            </a:endParaRPr>
          </a:p>
        </p:txBody>
      </p:sp>
      <p:sp>
        <p:nvSpPr>
          <p:cNvPr id="32775" name="Rectangle 8"/>
          <p:cNvSpPr/>
          <p:nvPr/>
        </p:nvSpPr>
        <p:spPr>
          <a:xfrm>
            <a:off x="1976438" y="5289550"/>
            <a:ext cx="3814762" cy="1287463"/>
          </a:xfrm>
          <a:prstGeom prst="rect">
            <a:avLst/>
          </a:prstGeom>
          <a:noFill/>
          <a:ln w="12700">
            <a:noFill/>
          </a:ln>
        </p:spPr>
        <p:txBody>
          <a:bodyPr lIns="90488" tIns="44450" rIns="90488" bIns="44450"/>
          <a:p>
            <a:pPr indent="1905" defTabSz="342900">
              <a:spcBef>
                <a:spcPct val="35000"/>
              </a:spcBef>
              <a:spcAft>
                <a:spcPct val="35000"/>
              </a:spcAft>
              <a:buClr>
                <a:schemeClr val="accent2"/>
              </a:buClr>
              <a:buFont typeface="Wingdings" panose="05000000000000000000" pitchFamily="2" charset="2"/>
            </a:pPr>
            <a:r>
              <a:rPr sz="2400" b="0" dirty="0">
                <a:latin typeface="Arial" panose="020B0604020202020204" pitchFamily="34" charset="0"/>
              </a:rPr>
              <a:t>Use a nonparametric method or bootstrapping</a:t>
            </a:r>
            <a:endParaRPr sz="2400" b="0" dirty="0">
              <a:latin typeface="Arial" panose="020B0604020202020204" pitchFamily="34" charset="0"/>
            </a:endParaRPr>
          </a:p>
        </p:txBody>
      </p:sp>
      <p:sp>
        <p:nvSpPr>
          <p:cNvPr id="32776" name="Rectangle 9"/>
          <p:cNvSpPr/>
          <p:nvPr/>
        </p:nvSpPr>
        <p:spPr>
          <a:xfrm>
            <a:off x="6040438" y="5318125"/>
            <a:ext cx="4302125" cy="930275"/>
          </a:xfrm>
          <a:prstGeom prst="rect">
            <a:avLst/>
          </a:prstGeom>
          <a:noFill/>
          <a:ln w="12700">
            <a:noFill/>
          </a:ln>
        </p:spPr>
        <p:txBody>
          <a:bodyPr lIns="90488" tIns="44450" rIns="90488" bIns="44450"/>
          <a:p>
            <a:pPr indent="1905" defTabSz="342900">
              <a:spcBef>
                <a:spcPct val="35000"/>
              </a:spcBef>
              <a:spcAft>
                <a:spcPct val="35000"/>
              </a:spcAft>
              <a:buClr>
                <a:schemeClr val="accent2"/>
              </a:buClr>
              <a:buFont typeface="Wingdings" panose="05000000000000000000" pitchFamily="2" charset="2"/>
            </a:pPr>
            <a:r>
              <a:rPr sz="2400" b="0" dirty="0">
                <a:latin typeface="Arial" panose="020B0604020202020204" pitchFamily="34" charset="0"/>
              </a:rPr>
              <a:t>Population is not normally distributed and</a:t>
            </a:r>
            <a:r>
              <a:rPr sz="2400" b="0" i="1" dirty="0">
                <a:latin typeface="Arial" panose="020B0604020202020204" pitchFamily="34" charset="0"/>
              </a:rPr>
              <a:t> n </a:t>
            </a:r>
            <a:r>
              <a:rPr sz="2400" b="0" dirty="0">
                <a:latin typeface="Arial" panose="020B0604020202020204" pitchFamily="34" charset="0"/>
              </a:rPr>
              <a:t>≤ 30 </a:t>
            </a:r>
            <a:r>
              <a:rPr sz="2400" b="0" i="1" dirty="0">
                <a:latin typeface="Arial" panose="020B0604020202020204" pitchFamily="34" charset="0"/>
              </a:rPr>
              <a:t> </a:t>
            </a:r>
            <a:endParaRPr sz="2400" b="0" dirty="0">
              <a:latin typeface="Arial" panose="020B0604020202020204" pitchFamily="34" charset="0"/>
            </a:endParaRPr>
          </a:p>
        </p:txBody>
      </p:sp>
      <p:sp>
        <p:nvSpPr>
          <p:cNvPr id="32777" name="Line 10"/>
          <p:cNvSpPr/>
          <p:nvPr/>
        </p:nvSpPr>
        <p:spPr>
          <a:xfrm>
            <a:off x="2005013" y="2962275"/>
            <a:ext cx="8199437" cy="0"/>
          </a:xfrm>
          <a:prstGeom prst="line">
            <a:avLst/>
          </a:prstGeom>
          <a:ln w="12700" cap="flat" cmpd="sng">
            <a:solidFill>
              <a:schemeClr val="hlink"/>
            </a:solidFill>
            <a:prstDash val="solid"/>
            <a:headEnd type="none" w="sm" len="sm"/>
            <a:tailEnd type="none" w="sm" len="sm"/>
          </a:ln>
        </p:spPr>
      </p:sp>
      <p:sp>
        <p:nvSpPr>
          <p:cNvPr id="32778" name="Line 11"/>
          <p:cNvSpPr/>
          <p:nvPr/>
        </p:nvSpPr>
        <p:spPr>
          <a:xfrm>
            <a:off x="1958975" y="5186363"/>
            <a:ext cx="8199438" cy="0"/>
          </a:xfrm>
          <a:prstGeom prst="line">
            <a:avLst/>
          </a:prstGeom>
          <a:ln w="12700" cap="flat" cmpd="sng">
            <a:solidFill>
              <a:schemeClr val="hlink"/>
            </a:solidFill>
            <a:prstDash val="solid"/>
            <a:headEnd type="none" w="sm" len="sm"/>
            <a:tailEnd type="none" w="sm" len="sm"/>
          </a:ln>
        </p:spPr>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69695" y="273050"/>
            <a:ext cx="4064000" cy="521970"/>
          </a:xfrm>
          <a:prstGeom prst="rect">
            <a:avLst/>
          </a:prstGeom>
          <a:noFill/>
        </p:spPr>
        <p:txBody>
          <a:bodyPr wrap="square" rtlCol="0">
            <a:spAutoFit/>
          </a:bodyPr>
          <a:p>
            <a:r>
              <a:rPr lang="en-US" sz="2800"/>
              <a:t>Bài tập:</a:t>
            </a:r>
            <a:endParaRPr lang="en-US" sz="2800"/>
          </a:p>
        </p:txBody>
      </p:sp>
      <p:sp>
        <p:nvSpPr>
          <p:cNvPr id="3" name="Text Box 2"/>
          <p:cNvSpPr txBox="1"/>
          <p:nvPr/>
        </p:nvSpPr>
        <p:spPr>
          <a:xfrm>
            <a:off x="1369695" y="909955"/>
            <a:ext cx="9131935" cy="1814830"/>
          </a:xfrm>
          <a:prstGeom prst="rect">
            <a:avLst/>
          </a:prstGeom>
          <a:noFill/>
        </p:spPr>
        <p:txBody>
          <a:bodyPr wrap="square" rtlCol="0">
            <a:spAutoFit/>
          </a:bodyPr>
          <a:p>
            <a:r>
              <a:rPr lang="en-US" sz="2800"/>
              <a:t>1. Khi gọi điện thoại một khách hàng quên mất số cuối cùng mà chỉ nhớ là hai số đó khác nhau nên đã quyết định chọn ngẫu nhiên hai số (chỉ thực hiện 1 lần). Tính xác suất người đó chọn được đúng số cần gọi.</a:t>
            </a:r>
            <a:endParaRPr lang="en-US" sz="2800"/>
          </a:p>
        </p:txBody>
      </p:sp>
      <p:sp>
        <p:nvSpPr>
          <p:cNvPr id="4" name="Text Box 3"/>
          <p:cNvSpPr txBox="1"/>
          <p:nvPr/>
        </p:nvSpPr>
        <p:spPr>
          <a:xfrm>
            <a:off x="1385570" y="2672080"/>
            <a:ext cx="9131935" cy="2676525"/>
          </a:xfrm>
          <a:prstGeom prst="rect">
            <a:avLst/>
          </a:prstGeom>
          <a:noFill/>
        </p:spPr>
        <p:txBody>
          <a:bodyPr wrap="square" rtlCol="0">
            <a:spAutoFit/>
          </a:bodyPr>
          <a:p>
            <a:r>
              <a:rPr lang="en-US" sz="2800"/>
              <a:t>2. Một chùm chìa khoá có 5 chìa trong đó có 1 chìa mở được ổ khoá. Một người mở ổ khoá bằng cách thử ngẫu nhiên từng chìa  cho đến khi mở được ổ khoá (loại bỏ chìa không mở được ra khỏi chùm). Tính xác suất người đó mở được ổ khoá ở lần thử thứ 2.</a:t>
            </a:r>
            <a:endParaRPr lang="en-US" sz="2800"/>
          </a:p>
          <a:p>
            <a:endParaRPr lang="en-US" sz="2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69695" y="273050"/>
            <a:ext cx="4064000" cy="521970"/>
          </a:xfrm>
          <a:prstGeom prst="rect">
            <a:avLst/>
          </a:prstGeom>
          <a:noFill/>
        </p:spPr>
        <p:txBody>
          <a:bodyPr wrap="square" rtlCol="0">
            <a:spAutoFit/>
          </a:bodyPr>
          <a:p>
            <a:r>
              <a:rPr lang="en-US" sz="2800"/>
              <a:t>Bài tập:</a:t>
            </a:r>
            <a:endParaRPr lang="en-US" sz="2800"/>
          </a:p>
        </p:txBody>
      </p:sp>
      <p:sp>
        <p:nvSpPr>
          <p:cNvPr id="5" name="Text Box 4"/>
          <p:cNvSpPr txBox="1"/>
          <p:nvPr/>
        </p:nvSpPr>
        <p:spPr>
          <a:xfrm>
            <a:off x="1369695" y="1030605"/>
            <a:ext cx="9131935" cy="3538220"/>
          </a:xfrm>
          <a:prstGeom prst="rect">
            <a:avLst/>
          </a:prstGeom>
          <a:noFill/>
        </p:spPr>
        <p:txBody>
          <a:bodyPr wrap="square" rtlCol="0">
            <a:spAutoFit/>
          </a:bodyPr>
          <a:p>
            <a:r>
              <a:rPr lang="en-US" sz="2800"/>
              <a:t>3. Một kho hàng chứa các sản phẩm do 2 nhà máy sản xuất, trong đó số sản phẩm của nhà máy I gấp đôi số sản phẩm của nhà máy II. Tỷ lệ sản phẩm bị hỏng của nhà máy I là 0,02, của nhà máy II là 0,03. </a:t>
            </a:r>
            <a:r>
              <a:rPr lang="en-US" sz="2800">
                <a:sym typeface="+mn-ea"/>
              </a:rPr>
              <a:t>Lấy ngẫu nhiên 01 sản phẩm. </a:t>
            </a:r>
            <a:endParaRPr lang="en-US" sz="2800"/>
          </a:p>
          <a:p>
            <a:r>
              <a:rPr lang="en-US" sz="2800"/>
              <a:t>a) Tính xác suất sản phẩm đó là sản phẩm tốt.</a:t>
            </a:r>
            <a:endParaRPr lang="en-US" sz="2800"/>
          </a:p>
          <a:p>
            <a:r>
              <a:rPr lang="en-US" sz="2800"/>
              <a:t>b) Giả sử sản phẩm được lấy ra là sản phẩm bị hỏng. Tính xác suất sản phẩm đó là do nhà máy I sản suất.</a:t>
            </a:r>
            <a:endParaRPr lang="en-US" sz="2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69695" y="273050"/>
            <a:ext cx="4064000" cy="521970"/>
          </a:xfrm>
          <a:prstGeom prst="rect">
            <a:avLst/>
          </a:prstGeom>
          <a:noFill/>
        </p:spPr>
        <p:txBody>
          <a:bodyPr wrap="square" rtlCol="0">
            <a:spAutoFit/>
          </a:bodyPr>
          <a:p>
            <a:r>
              <a:rPr lang="en-US" sz="2800"/>
              <a:t>Bài tập:</a:t>
            </a:r>
            <a:endParaRPr lang="en-US" sz="2800"/>
          </a:p>
        </p:txBody>
      </p:sp>
      <p:sp>
        <p:nvSpPr>
          <p:cNvPr id="5" name="Text Box 4"/>
          <p:cNvSpPr txBox="1"/>
          <p:nvPr/>
        </p:nvSpPr>
        <p:spPr>
          <a:xfrm>
            <a:off x="1369695" y="744855"/>
            <a:ext cx="9131935" cy="6012815"/>
          </a:xfrm>
          <a:prstGeom prst="rect">
            <a:avLst/>
          </a:prstGeom>
          <a:noFill/>
        </p:spPr>
        <p:txBody>
          <a:bodyPr wrap="square" rtlCol="0">
            <a:noAutofit/>
          </a:bodyPr>
          <a:p>
            <a:r>
              <a:rPr lang="en-US" sz="2800"/>
              <a:t>4. Khảo sát thời gian sử dụng điện thoại của sinh viên trường A bằng cách chọn ngẫu nhiên 150 sinh viên</a:t>
            </a:r>
            <a:r>
              <a:rPr lang="en-US" sz="2800">
                <a:sym typeface="+mn-ea"/>
              </a:rPr>
              <a:t>. Ta thu được thời gian sử dụng trung bình trong một ngày là 4,5 giờ với độ lệch chuẩn là 0,6 giờ và có 45 sinh viên sử dụng điện thoại nhiều hơn 5 giờ mỗi ngày.</a:t>
            </a:r>
            <a:endParaRPr lang="en-US" sz="2800"/>
          </a:p>
          <a:p>
            <a:r>
              <a:rPr lang="en-US" sz="2800"/>
              <a:t>a) Hãy tìm khoảng tin cậy 95% cho thời gian sử dụng điện thoại trung bình mỗi ngày của sinh viên Trường A.</a:t>
            </a:r>
            <a:endParaRPr lang="en-US" sz="2800"/>
          </a:p>
          <a:p>
            <a:r>
              <a:rPr lang="en-US" sz="2800"/>
              <a:t>b) Những sinh viên sử dụng điện thoại nhiều hơn 5 giờ mỗi ngày là sử dụng ở mức cao. Hãy ước lượng tỷ lệ sinh viên sử dụng điện thoại ở mức cao của sinh viên Trường A với độ tin cậy 90%</a:t>
            </a:r>
            <a:endParaRPr lang="en-US" sz="2800"/>
          </a:p>
          <a:p>
            <a:r>
              <a:rPr lang="en-US" sz="2800"/>
              <a:t>c) Muốn tìm khoảng tin cậy 99% cho tỷ lệ sinh viên sử dụng điện thoại ở mức cao thì kích thước mẫu tối thiểu là bao nhiêu?</a:t>
            </a:r>
            <a:endParaRPr lang="en-US" sz="280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15189</Words>
  <Application>WPS Presentation</Application>
  <PresentationFormat>Widescreen</PresentationFormat>
  <Paragraphs>373</Paragraphs>
  <Slides>53</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19</vt:i4>
      </vt:variant>
      <vt:variant>
        <vt:lpstr>幻灯片标题</vt:lpstr>
      </vt:variant>
      <vt:variant>
        <vt:i4>53</vt:i4>
      </vt:variant>
    </vt:vector>
  </HeadingPairs>
  <TitlesOfParts>
    <vt:vector size="85" baseType="lpstr">
      <vt:lpstr>Arial</vt:lpstr>
      <vt:lpstr>SimSun</vt:lpstr>
      <vt:lpstr>Wingdings</vt:lpstr>
      <vt:lpstr>Times New Roman</vt:lpstr>
      <vt:lpstr>Symbol</vt:lpstr>
      <vt:lpstr>Microsoft YaHei</vt:lpstr>
      <vt:lpstr>Arial Unicode MS</vt:lpstr>
      <vt:lpstr>Calibri</vt:lpstr>
      <vt:lpstr>ヒラギノ角ゴ ProN W3</vt:lpstr>
      <vt:lpstr>UD Digi Kyokasho N-R</vt:lpstr>
      <vt:lpstr>MS PGothic</vt:lpstr>
      <vt:lpstr>Helvetica</vt:lpstr>
      <vt:lpstr>Blue Waves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Chapter 6 Estimates</vt:lpstr>
      <vt:lpstr>Review </vt:lpstr>
      <vt:lpstr>Critical value</vt:lpstr>
      <vt:lpstr>Preview </vt:lpstr>
      <vt:lpstr>PowerPoint 演示文稿</vt:lpstr>
      <vt:lpstr>Definition</vt:lpstr>
      <vt:lpstr>PowerPoint 演示文稿</vt:lpstr>
      <vt:lpstr>Example</vt:lpstr>
      <vt:lpstr>Definition</vt:lpstr>
      <vt:lpstr>Definition</vt:lpstr>
      <vt:lpstr>Interpreting a Confidence Interval</vt:lpstr>
      <vt:lpstr>Caution</vt:lpstr>
      <vt:lpstr>Using Confidence Intervals  for Hypothesis Tests</vt:lpstr>
      <vt:lpstr>Critical Values</vt:lpstr>
      <vt:lpstr>Critical Values</vt:lpstr>
      <vt:lpstr>Definition</vt:lpstr>
      <vt:lpstr>Finding zα/2 for a 95%  Confidence Level</vt:lpstr>
      <vt:lpstr>Common Critical Values</vt:lpstr>
      <vt:lpstr>Definition</vt:lpstr>
      <vt:lpstr>Margin of Error for Proportions</vt:lpstr>
      <vt:lpstr>Confidence Interval for Estimating a Population Proportion p</vt:lpstr>
      <vt:lpstr>Confidence Interval for Estimating a Population Proportion p</vt:lpstr>
      <vt:lpstr>Confidence Interval for Estimating a Population Proportion p</vt:lpstr>
      <vt:lpstr>Round-Off Rule for  Confidence Interval Estimates of p</vt:lpstr>
      <vt:lpstr>Procedure for Constructing  a Confidence Interval for p</vt:lpstr>
      <vt:lpstr>Procedure for Constructing  a Confidence Interval for p - cont</vt:lpstr>
      <vt:lpstr>Example</vt:lpstr>
      <vt:lpstr>PowerPoint 演示文稿</vt:lpstr>
      <vt:lpstr>PowerPoint 演示文稿</vt:lpstr>
      <vt:lpstr>PowerPoint 演示文稿</vt:lpstr>
      <vt:lpstr>PowerPoint 演示文稿</vt:lpstr>
      <vt:lpstr>Analyzing Polls</vt:lpstr>
      <vt:lpstr>Caution</vt:lpstr>
      <vt:lpstr>Sample Size</vt:lpstr>
      <vt:lpstr>Determining Sample Size</vt:lpstr>
      <vt:lpstr>Sample Size for Estimating  Proportion p</vt:lpstr>
      <vt:lpstr>Round-Off Rule for Determining Sample Size</vt:lpstr>
      <vt:lpstr>Example</vt:lpstr>
      <vt:lpstr>PowerPoint 演示文稿</vt:lpstr>
      <vt:lpstr>PowerPoint 演示文稿</vt:lpstr>
      <vt:lpstr>Finding the Point Estimate and E from a Confidence Interval</vt:lpstr>
      <vt:lpstr>PowerPoint 演示文稿</vt:lpstr>
      <vt:lpstr>Requirements</vt:lpstr>
      <vt:lpstr>Confidence Interval for Estimating a Population Mean (with σ Known)</vt:lpstr>
      <vt:lpstr>Confidence Interval for Estimating a Population Mean (with σ Known)</vt:lpstr>
      <vt:lpstr>Margin of Error E for Estimate of μ    (With σ Not Known)</vt:lpstr>
      <vt:lpstr>Confidence Interval for the  Estimate of μ (With σ Not Known)</vt:lpstr>
      <vt:lpstr>PowerPoint 演示文稿</vt:lpstr>
      <vt:lpstr>PowerPoint 演示文稿</vt:lpstr>
      <vt:lpstr>Choosing the Appropriate Distribution</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Estimates and Sample Sizes</dc:title>
  <dc:creator>ASUS</dc:creator>
  <cp:lastModifiedBy>Tin Phan</cp:lastModifiedBy>
  <cp:revision>31</cp:revision>
  <dcterms:created xsi:type="dcterms:W3CDTF">2025-02-19T03:03:00Z</dcterms:created>
  <dcterms:modified xsi:type="dcterms:W3CDTF">2025-02-20T04:39:18Z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7553FFB1505D42918226DB0733B1E511_11</vt:lpwstr>
  </property>
  <property fmtid="{D5CDD505-2E9C-101B-9397-08002B2CF9AE}" pid="3" name="KSOProductBuildVer">
    <vt:lpwstr>1033-12.2.0.19805</vt:lpwstr>
  </property>
</Properties>
</file>