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305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6" r:id="rId53"/>
    <p:sldId id="307" r:id="rId54"/>
    <p:sldId id="309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8" Type="http://schemas.openxmlformats.org/officeDocument/2006/relationships/tableStyles" Target="tableStyles.xml"/><Relationship Id="rId57" Type="http://schemas.openxmlformats.org/officeDocument/2006/relationships/viewProps" Target="viewProps.xml"/><Relationship Id="rId56" Type="http://schemas.openxmlformats.org/officeDocument/2006/relationships/presProps" Target="presProps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0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2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Rectangle 2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54275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Rectangle 2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62467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2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55299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Rectangle 2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56323" name="Rectangle 3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Rectangle 2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57347" name="Rectangle 3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Rectangle 2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58371" name="Rectangle 3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Rectangle 2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59395" name="Rectangle 3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Rectangle 2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60419" name="Rectangle 3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Rectangle 2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61443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Rectangle 2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62467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Rectangle 2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63491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Rectangle 2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64515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Rectangle 2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65539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Rectangle 2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66563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Rectangle 2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67587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Rectangle 2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68611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Rectangle 2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69635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Rectangle 2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70659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Rectangle 2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71683" name="Rectangle 3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Rectangle 2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72707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Rectangle 2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73731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Rectangle 2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74755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Rectangle 2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75779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Rectangle 2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76803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Rectangle 2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77827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0" name="Rectangle 2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78851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Rectangle 2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79875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Rectangle 2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80899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Rectangle 2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81923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Rectangle 2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82947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Rectangle 2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83971" name="Rectangle 3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2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84995" name="Rectangle 3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Rectangle 2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86019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Rectangle 2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87043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Rectangle 2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88067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0" name="Rectangle 2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89091" name="Rectangle 3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4" name="Rectangle 2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90115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8" name="Rectangle 2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91139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2" name="Rectangle 2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92163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6" name="Rectangle 2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93187" name="Rectangle 3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10" name="Rectangle 2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r>
              <a:rPr dirty="0">
                <a:latin typeface="Times New Roman" panose="02020603050405020304" pitchFamily="18" charset="0"/>
              </a:rPr>
              <a:t>page 398 of Elementary Statistics, 10th Edition</a:t>
            </a:r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94211" name="Rectangle 3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4" name="Rectangle 2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r>
              <a:rPr dirty="0">
                <a:latin typeface="Times New Roman" panose="02020603050405020304" pitchFamily="18" charset="0"/>
              </a:rPr>
              <a:t>Page 398 of Elementary Statistics, 10th Edition</a:t>
            </a:r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95235" name="Rectangle 3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8" name="Rectangle 2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96259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Rectangle 2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97283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306" name="Rectangle 2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98307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330" name="Rectangle 2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99331" name="Rectangle 3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354" name="Rectangle 2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00355" name="Rectangle 3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378" name="Rectangle 2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01379" name="Rectangle 3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02" name="Rectangle 2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02403" name="Rectangle 3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Rectangle 2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54275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Rectangle 2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54275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Rectangle 2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54275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0488" tIns="44450" rIns="90488" bIns="44450" anchor="t" anchorCtr="0"/>
          <a:p>
            <a:pPr lvl="0"/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2.wmf"/><Relationship Id="rId1" Type="http://schemas.openxmlformats.org/officeDocument/2006/relationships/oleObject" Target="../embeddings/oleObject2.bin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4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wmf"/><Relationship Id="rId2" Type="http://schemas.openxmlformats.org/officeDocument/2006/relationships/oleObject" Target="../embeddings/oleObject5.bin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.xml"/><Relationship Id="rId7" Type="http://schemas.openxmlformats.org/officeDocument/2006/relationships/vmlDrawing" Target="../drawings/vmlDrawing5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7.bin"/><Relationship Id="rId3" Type="http://schemas.openxmlformats.org/officeDocument/2006/relationships/image" Target="../media/image10.wmf"/><Relationship Id="rId2" Type="http://schemas.openxmlformats.org/officeDocument/2006/relationships/oleObject" Target="../embeddings/oleObject6.bin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2.xml"/><Relationship Id="rId7" Type="http://schemas.openxmlformats.org/officeDocument/2006/relationships/vmlDrawing" Target="../drawings/vmlDrawing6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9.bin"/><Relationship Id="rId3" Type="http://schemas.openxmlformats.org/officeDocument/2006/relationships/image" Target="../media/image10.wmf"/><Relationship Id="rId2" Type="http://schemas.openxmlformats.org/officeDocument/2006/relationships/oleObject" Target="../embeddings/oleObject8.bin"/><Relationship Id="rId1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5.xml"/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2.wmf"/><Relationship Id="rId1" Type="http://schemas.openxmlformats.org/officeDocument/2006/relationships/oleObject" Target="../embeddings/oleObject10.bin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5.xml"/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2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4.xml"/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3.bin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Rectangle 3074"/>
          <p:cNvSpPr>
            <a:spLocks noGrp="1" noChangeArrowheads="1"/>
          </p:cNvSpPr>
          <p:nvPr>
            <p:ph type="title"/>
          </p:nvPr>
        </p:nvSpPr>
        <p:spPr>
          <a:xfrm>
            <a:off x="2540000" y="196850"/>
            <a:ext cx="7112000" cy="1365250"/>
          </a:xfrm>
        </p:spPr>
        <p:txBody>
          <a:bodyPr lIns="90488" tIns="44450" rIns="90488" bIns="44450"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Chapter 7</a:t>
            </a:r>
            <a:br>
              <a:rPr kumimoji="0" 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Hypothesis Testing</a:t>
            </a:r>
            <a:endParaRPr kumimoji="0" lang="en-US" sz="3600" b="1" i="0" u="none" strike="noStrike" kern="0" cap="none" spc="0" normalizeH="0" baseline="0" noProof="0" dirty="0" smtClean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075" name="Text Box 3078"/>
          <p:cNvSpPr txBox="1">
            <a:spLocks noChangeArrowheads="1"/>
          </p:cNvSpPr>
          <p:nvPr/>
        </p:nvSpPr>
        <p:spPr bwMode="auto">
          <a:xfrm>
            <a:off x="1732280" y="1916430"/>
            <a:ext cx="8728075" cy="156845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tabLst>
                <a:tab pos="633095" algn="l"/>
              </a:tabLst>
              <a:defRPr/>
            </a:pPr>
            <a:r>
              <a:rPr kumimoji="0" lang="en-US" sz="2400" kern="1200" cap="none" spc="0" normalizeH="0" baseline="0" noProof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7.1.  Basics of Hypothesis Testing</a:t>
            </a:r>
            <a:endParaRPr kumimoji="0" lang="en-US" sz="2400" kern="1200" cap="none" spc="0" normalizeH="0" baseline="0" noProof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tabLst>
                <a:tab pos="633095" algn="l"/>
              </a:tabLst>
              <a:defRPr/>
            </a:pPr>
            <a:r>
              <a:rPr kumimoji="0" lang="en-US" sz="2400" b="0" kern="1200" cap="none" spc="0" normalizeH="0" baseline="0" noProof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7.2.  Testing a Claim about a Proportion</a:t>
            </a:r>
            <a:endParaRPr kumimoji="0" lang="en-US" sz="2400" b="0" kern="1200" cap="none" spc="0" normalizeH="0" baseline="0" noProof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tabLst>
                <a:tab pos="633095" algn="l"/>
              </a:tabLst>
              <a:defRPr/>
            </a:pPr>
            <a:r>
              <a:rPr kumimoji="0" lang="en-US" sz="2400" b="0" kern="1200" cap="none" spc="0" normalizeH="0" baseline="0" noProof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7.3.  Testing a Claim About a Mean     </a:t>
            </a:r>
            <a:r>
              <a:rPr kumimoji="0" lang="en-US" sz="2400" b="0" i="1" kern="1200" cap="none" spc="0" normalizeH="0" baseline="0" noProof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endParaRPr kumimoji="0" lang="el-GR" sz="2400" b="0" i="1" kern="1200" cap="none" spc="0" normalizeH="0" baseline="0" noProof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2"/>
          <p:cNvSpPr>
            <a:spLocks noGrp="1"/>
          </p:cNvSpPr>
          <p:nvPr>
            <p:ph type="title" idx="4294967295"/>
          </p:nvPr>
        </p:nvSpPr>
        <p:spPr>
          <a:xfrm>
            <a:off x="2127250" y="355918"/>
            <a:ext cx="8286750" cy="471487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>
            <a:normAutofit fontScale="90000"/>
          </a:bodyPr>
          <a:p>
            <a:r>
              <a:rPr sz="3200" b="1" dirty="0"/>
              <a:t>Example</a:t>
            </a:r>
            <a:endParaRPr sz="2800" b="1" dirty="0">
              <a:solidFill>
                <a:schemeClr val="tx1"/>
              </a:solidFill>
            </a:endParaRPr>
          </a:p>
        </p:txBody>
      </p:sp>
      <p:sp>
        <p:nvSpPr>
          <p:cNvPr id="11267" name="Rectangle 3"/>
          <p:cNvSpPr/>
          <p:nvPr/>
        </p:nvSpPr>
        <p:spPr>
          <a:xfrm>
            <a:off x="3362325" y="2403475"/>
            <a:ext cx="354013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1268" name="Rectangle 4"/>
          <p:cNvSpPr/>
          <p:nvPr/>
        </p:nvSpPr>
        <p:spPr>
          <a:xfrm>
            <a:off x="3032125" y="3017838"/>
            <a:ext cx="420688" cy="4762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1269" name="Rectangle 5"/>
          <p:cNvSpPr/>
          <p:nvPr/>
        </p:nvSpPr>
        <p:spPr>
          <a:xfrm>
            <a:off x="3260725" y="2989263"/>
            <a:ext cx="296863" cy="3127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1270" name="Rectangle 6"/>
          <p:cNvSpPr/>
          <p:nvPr/>
        </p:nvSpPr>
        <p:spPr>
          <a:xfrm>
            <a:off x="3413125" y="4127500"/>
            <a:ext cx="890588" cy="42068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1271" name="Rectangle 7"/>
          <p:cNvSpPr/>
          <p:nvPr/>
        </p:nvSpPr>
        <p:spPr>
          <a:xfrm>
            <a:off x="2117725" y="4694238"/>
            <a:ext cx="5807075" cy="1733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1272" name="Text Box 8"/>
          <p:cNvSpPr txBox="1"/>
          <p:nvPr/>
        </p:nvSpPr>
        <p:spPr>
          <a:xfrm>
            <a:off x="2200275" y="954088"/>
            <a:ext cx="7870825" cy="230695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marL="1905" indent="-1905"/>
            <a:r>
              <a:rPr sz="2400" b="0" dirty="0">
                <a:latin typeface="Arial" panose="020B0604020202020204" pitchFamily="34" charset="0"/>
              </a:rPr>
              <a:t>Assume that 100 babies are born to 100 couples treated with the XSORT method of gender selection that is claimed to make girls more likely.</a:t>
            </a:r>
            <a:r>
              <a:rPr lang="en-US" sz="2400" b="0" dirty="0">
                <a:latin typeface="Arial" panose="020B0604020202020204" pitchFamily="34" charset="0"/>
              </a:rPr>
              <a:t> </a:t>
            </a:r>
            <a:r>
              <a:rPr sz="2400" b="0" dirty="0">
                <a:latin typeface="Arial" panose="020B0604020202020204" pitchFamily="34" charset="0"/>
              </a:rPr>
              <a:t>We observe 58 girls in 100 babies. </a:t>
            </a:r>
            <a:r>
              <a:rPr lang="en-US" sz="2400" b="0" dirty="0">
                <a:latin typeface="Arial" panose="020B0604020202020204" pitchFamily="34" charset="0"/>
              </a:rPr>
              <a:t>Can we state</a:t>
            </a:r>
            <a:r>
              <a:rPr sz="2400" b="0" dirty="0">
                <a:latin typeface="Arial" panose="020B0604020202020204" pitchFamily="34" charset="0"/>
              </a:rPr>
              <a:t> “with the XSORT method, the proportion of girls is greater than the 50% that occurs without any treatment”</a:t>
            </a:r>
            <a:r>
              <a:rPr lang="en-US" sz="2400" b="0" dirty="0">
                <a:latin typeface="Arial" panose="020B0604020202020204" pitchFamily="34" charset="0"/>
              </a:rPr>
              <a:t>?</a:t>
            </a:r>
            <a:endParaRPr lang="en-US" sz="24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title" idx="4294967295"/>
          </p:nvPr>
        </p:nvSpPr>
        <p:spPr>
          <a:xfrm>
            <a:off x="2052638" y="367665"/>
            <a:ext cx="7848600" cy="533400"/>
          </a:xfrm>
          <a:prstGeom prst="rect">
            <a:avLst/>
          </a:prstGeom>
          <a:noFill/>
          <a:ln w="9525">
            <a:noFill/>
          </a:ln>
        </p:spPr>
        <p:txBody>
          <a:bodyPr>
            <a:normAutofit fontScale="90000"/>
          </a:bodyPr>
          <a:p>
            <a:r>
              <a:rPr lang="en-US" noProof="0" dirty="0">
                <a:latin typeface="Arial" panose="020B0604020202020204" pitchFamily="34" charset="0"/>
                <a:ea typeface="+mn-ea"/>
                <a:cs typeface="+mn-cs"/>
                <a:sym typeface="+mn-ea"/>
              </a:rPr>
              <a:t>7.1.  Basics of Hypothesis Testing</a:t>
            </a:r>
            <a:endParaRPr dirty="0"/>
          </a:p>
        </p:txBody>
      </p:sp>
      <p:sp>
        <p:nvSpPr>
          <p:cNvPr id="4099" name="Text Box 4"/>
          <p:cNvSpPr txBox="1"/>
          <p:nvPr/>
        </p:nvSpPr>
        <p:spPr>
          <a:xfrm>
            <a:off x="2151380" y="1135380"/>
            <a:ext cx="8482330" cy="82994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p>
            <a:pPr>
              <a:spcBef>
                <a:spcPct val="50000"/>
              </a:spcBef>
            </a:pPr>
            <a:r>
              <a:rPr sz="2400" b="0" dirty="0">
                <a:latin typeface="Arial" panose="020B0604020202020204" pitchFamily="34" charset="0"/>
              </a:rPr>
              <a:t>This section presents individual components of a hypothesis test. We should know and understand the following:</a:t>
            </a:r>
            <a:endParaRPr sz="2400" b="0" dirty="0">
              <a:latin typeface="Arial" panose="020B0604020202020204" pitchFamily="34" charset="0"/>
            </a:endParaRPr>
          </a:p>
        </p:txBody>
      </p:sp>
      <p:sp>
        <p:nvSpPr>
          <p:cNvPr id="4100" name="Text Box 5"/>
          <p:cNvSpPr txBox="1"/>
          <p:nvPr/>
        </p:nvSpPr>
        <p:spPr>
          <a:xfrm>
            <a:off x="2146300" y="2286000"/>
            <a:ext cx="8812530" cy="372300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p>
            <a:pPr marL="227330" indent="-227330">
              <a:lnSpc>
                <a:spcPct val="100000"/>
              </a:lnSpc>
              <a:spcBef>
                <a:spcPts val="600"/>
              </a:spcBef>
              <a:buClr>
                <a:srgbClr val="008000"/>
              </a:buClr>
              <a:buChar char="•"/>
            </a:pPr>
            <a:r>
              <a:rPr sz="2400" b="0" dirty="0">
                <a:latin typeface="Arial" panose="020B0604020202020204" pitchFamily="34" charset="0"/>
              </a:rPr>
              <a:t>How to identify the null hypothesis</a:t>
            </a:r>
            <a:r>
              <a:rPr lang="en-US" sz="2400" b="0" dirty="0">
                <a:latin typeface="Arial" panose="020B0604020202020204" pitchFamily="34" charset="0"/>
              </a:rPr>
              <a:t> (giả thuyết không)</a:t>
            </a:r>
            <a:r>
              <a:rPr sz="2400" b="0" dirty="0">
                <a:latin typeface="Arial" panose="020B0604020202020204" pitchFamily="34" charset="0"/>
              </a:rPr>
              <a:t> and alternative hypothesis</a:t>
            </a:r>
            <a:r>
              <a:rPr lang="en-US" sz="2400" b="0" dirty="0">
                <a:latin typeface="Arial" panose="020B0604020202020204" pitchFamily="34" charset="0"/>
              </a:rPr>
              <a:t> (đối thuyết)</a:t>
            </a:r>
            <a:r>
              <a:rPr sz="2400" b="0" dirty="0">
                <a:latin typeface="Arial" panose="020B0604020202020204" pitchFamily="34" charset="0"/>
              </a:rPr>
              <a:t> from a given claim, and how to express both in symbolic form</a:t>
            </a:r>
            <a:endParaRPr sz="2400" b="0" dirty="0">
              <a:latin typeface="Arial" panose="020B0604020202020204" pitchFamily="34" charset="0"/>
            </a:endParaRPr>
          </a:p>
          <a:p>
            <a:pPr marL="227330" indent="-227330">
              <a:lnSpc>
                <a:spcPct val="100000"/>
              </a:lnSpc>
              <a:spcBef>
                <a:spcPts val="600"/>
              </a:spcBef>
              <a:buClr>
                <a:srgbClr val="008000"/>
              </a:buClr>
              <a:buChar char="•"/>
            </a:pPr>
            <a:r>
              <a:rPr sz="2400" b="0" dirty="0">
                <a:latin typeface="Arial" panose="020B0604020202020204" pitchFamily="34" charset="0"/>
              </a:rPr>
              <a:t>How to calculate the value of the test statistic, given a claim and sample data</a:t>
            </a:r>
            <a:endParaRPr sz="2400" b="0" dirty="0">
              <a:latin typeface="Arial" panose="020B0604020202020204" pitchFamily="34" charset="0"/>
            </a:endParaRPr>
          </a:p>
          <a:p>
            <a:pPr marL="227330" indent="-227330">
              <a:lnSpc>
                <a:spcPct val="100000"/>
              </a:lnSpc>
              <a:spcBef>
                <a:spcPts val="600"/>
              </a:spcBef>
              <a:buClr>
                <a:srgbClr val="008000"/>
              </a:buClr>
              <a:buChar char="•"/>
            </a:pPr>
            <a:r>
              <a:rPr sz="2400" b="0" dirty="0">
                <a:latin typeface="Arial" panose="020B0604020202020204" pitchFamily="34" charset="0"/>
              </a:rPr>
              <a:t>How to choose the sampling distribution that is relevant</a:t>
            </a:r>
            <a:endParaRPr sz="2400" b="0" dirty="0">
              <a:latin typeface="Arial" panose="020B0604020202020204" pitchFamily="34" charset="0"/>
            </a:endParaRPr>
          </a:p>
          <a:p>
            <a:pPr marL="227330" indent="-227330">
              <a:lnSpc>
                <a:spcPct val="100000"/>
              </a:lnSpc>
              <a:spcBef>
                <a:spcPts val="600"/>
              </a:spcBef>
              <a:buClr>
                <a:srgbClr val="008000"/>
              </a:buClr>
              <a:buChar char="•"/>
            </a:pPr>
            <a:r>
              <a:rPr sz="2400" b="0" dirty="0">
                <a:latin typeface="Arial" panose="020B0604020202020204" pitchFamily="34" charset="0"/>
              </a:rPr>
              <a:t>How to identify the </a:t>
            </a:r>
            <a:r>
              <a:rPr sz="2400" b="0" i="1" dirty="0">
                <a:latin typeface="Arial" panose="020B0604020202020204" pitchFamily="34" charset="0"/>
              </a:rPr>
              <a:t>P</a:t>
            </a:r>
            <a:r>
              <a:rPr sz="2400" b="0" dirty="0">
                <a:latin typeface="Arial" panose="020B0604020202020204" pitchFamily="34" charset="0"/>
              </a:rPr>
              <a:t>-value or identify the critical value(s)</a:t>
            </a:r>
            <a:endParaRPr sz="2400" b="0" dirty="0">
              <a:latin typeface="Arial" panose="020B0604020202020204" pitchFamily="34" charset="0"/>
            </a:endParaRPr>
          </a:p>
          <a:p>
            <a:pPr marL="227330" indent="-227330">
              <a:lnSpc>
                <a:spcPct val="100000"/>
              </a:lnSpc>
              <a:spcBef>
                <a:spcPts val="600"/>
              </a:spcBef>
              <a:buClr>
                <a:srgbClr val="008000"/>
              </a:buClr>
              <a:buChar char="•"/>
            </a:pPr>
            <a:r>
              <a:rPr sz="2400" b="0" dirty="0">
                <a:latin typeface="Arial" panose="020B0604020202020204" pitchFamily="34" charset="0"/>
              </a:rPr>
              <a:t>How to state the conclusion about a claim in simple and nontechnical terms</a:t>
            </a:r>
            <a:endParaRPr sz="24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/>
          </p:cNvSpPr>
          <p:nvPr>
            <p:ph type="title" idx="4294967295"/>
          </p:nvPr>
        </p:nvSpPr>
        <p:spPr>
          <a:xfrm>
            <a:off x="1720850" y="184150"/>
            <a:ext cx="8743950" cy="654050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>
            <a:normAutofit fontScale="90000"/>
          </a:bodyPr>
          <a:p>
            <a:r>
              <a:rPr dirty="0"/>
              <a:t>Definitions</a:t>
            </a:r>
            <a:endParaRPr dirty="0"/>
          </a:p>
        </p:txBody>
      </p:sp>
      <p:sp>
        <p:nvSpPr>
          <p:cNvPr id="5123" name="Rectangle 3"/>
          <p:cNvSpPr>
            <a:spLocks noGrp="1"/>
          </p:cNvSpPr>
          <p:nvPr>
            <p:ph type="body" idx="4294967295"/>
          </p:nvPr>
        </p:nvSpPr>
        <p:spPr>
          <a:xfrm>
            <a:off x="1790700" y="1219200"/>
            <a:ext cx="8610600" cy="384810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/>
          <a:p>
            <a:pPr marL="0">
              <a:buNone/>
            </a:pPr>
            <a:r>
              <a:rPr b="0" dirty="0"/>
              <a:t>A </a:t>
            </a:r>
            <a:r>
              <a:rPr b="0" dirty="0">
                <a:solidFill>
                  <a:srgbClr val="FF0000"/>
                </a:solidFill>
              </a:rPr>
              <a:t>hypothesis</a:t>
            </a:r>
            <a:r>
              <a:rPr b="0" dirty="0"/>
              <a:t> is a claim or statement about a property of a population.</a:t>
            </a:r>
            <a:endParaRPr b="0" dirty="0"/>
          </a:p>
          <a:p>
            <a:pPr marL="0">
              <a:buNone/>
            </a:pPr>
            <a:r>
              <a:rPr b="0" dirty="0"/>
              <a:t>A </a:t>
            </a:r>
            <a:r>
              <a:rPr b="0" dirty="0">
                <a:solidFill>
                  <a:srgbClr val="FF0000"/>
                </a:solidFill>
              </a:rPr>
              <a:t>hypothesis test</a:t>
            </a:r>
            <a:r>
              <a:rPr lang="en-US" b="0" dirty="0">
                <a:solidFill>
                  <a:srgbClr val="FF0000"/>
                </a:solidFill>
              </a:rPr>
              <a:t> (kiểm định giả thuyết)</a:t>
            </a:r>
            <a:r>
              <a:rPr b="0" dirty="0">
                <a:solidFill>
                  <a:srgbClr val="FF0000"/>
                </a:solidFill>
              </a:rPr>
              <a:t> </a:t>
            </a:r>
            <a:r>
              <a:rPr b="0" dirty="0"/>
              <a:t>is a procedure for testing a claim about a property of a population. </a:t>
            </a:r>
            <a:endParaRPr b="0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 idx="4294967295"/>
          </p:nvPr>
        </p:nvSpPr>
        <p:spPr>
          <a:xfrm>
            <a:off x="1633220" y="594995"/>
            <a:ext cx="9769475" cy="1365250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>
            <a:normAutofit/>
          </a:bodyPr>
          <a:p>
            <a:r>
              <a:rPr dirty="0"/>
              <a:t>Rare Event Rule for</a:t>
            </a:r>
            <a:r>
              <a:rPr lang="en-US" dirty="0"/>
              <a:t> </a:t>
            </a:r>
            <a:r>
              <a:rPr dirty="0"/>
              <a:t>Inferential Statistics</a:t>
            </a:r>
            <a:endParaRPr lang="en-US" dirty="0"/>
          </a:p>
        </p:txBody>
      </p:sp>
      <p:sp>
        <p:nvSpPr>
          <p:cNvPr id="6147" name="Rectangle 3"/>
          <p:cNvSpPr>
            <a:spLocks noGrp="1"/>
          </p:cNvSpPr>
          <p:nvPr>
            <p:ph type="body" idx="4294967295"/>
          </p:nvPr>
        </p:nvSpPr>
        <p:spPr>
          <a:xfrm>
            <a:off x="1790700" y="2419350"/>
            <a:ext cx="8610600" cy="264795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/>
          <a:p>
            <a:pPr>
              <a:buNone/>
            </a:pPr>
            <a:r>
              <a:rPr dirty="0"/>
              <a:t>	</a:t>
            </a:r>
            <a:r>
              <a:rPr b="0" dirty="0"/>
              <a:t>If, under a given assumption, the probability of a particular observed event is exceptionally small, we conclude that the assumption is probably not correct.</a:t>
            </a:r>
            <a:endParaRPr b="0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/>
          </p:cNvSpPr>
          <p:nvPr>
            <p:ph type="title" idx="4294967295"/>
          </p:nvPr>
        </p:nvSpPr>
        <p:spPr>
          <a:xfrm>
            <a:off x="2206625" y="656590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>
            <a:normAutofit fontScale="90000"/>
          </a:bodyPr>
          <a:p>
            <a:r>
              <a:rPr dirty="0"/>
              <a:t>Null Hypothesis </a:t>
            </a:r>
            <a:endParaRPr baseline="-25000" dirty="0"/>
          </a:p>
        </p:txBody>
      </p:sp>
      <p:sp>
        <p:nvSpPr>
          <p:cNvPr id="7171" name="Rectangle 3"/>
          <p:cNvSpPr>
            <a:spLocks noGrp="1"/>
          </p:cNvSpPr>
          <p:nvPr>
            <p:ph type="body" idx="4294967295"/>
          </p:nvPr>
        </p:nvSpPr>
        <p:spPr>
          <a:xfrm>
            <a:off x="2117725" y="1879600"/>
            <a:ext cx="8380413" cy="307340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/>
          <a:p>
            <a:pPr marL="457200" indent="-457200" defTabSz="914400">
              <a:lnSpc>
                <a:spcPct val="85000"/>
              </a:lnSpc>
              <a:spcBef>
                <a:spcPct val="3000"/>
              </a:spcBef>
              <a:buClr>
                <a:schemeClr val="accent2"/>
              </a:buClr>
              <a:buFont typeface="Times" pitchFamily="1" charset="0"/>
              <a:buChar char="•"/>
              <a:tabLst>
                <a:tab pos="457200" algn="l"/>
              </a:tabLst>
            </a:pPr>
            <a:r>
              <a:rPr b="0" dirty="0"/>
              <a:t>The </a:t>
            </a:r>
            <a:r>
              <a:rPr b="0" dirty="0">
                <a:solidFill>
                  <a:schemeClr val="hlink"/>
                </a:solidFill>
              </a:rPr>
              <a:t>null hypothesis</a:t>
            </a:r>
            <a:r>
              <a:rPr b="0" dirty="0"/>
              <a:t> (denoted by </a:t>
            </a:r>
            <a:r>
              <a:rPr b="0" i="1" dirty="0"/>
              <a:t>H</a:t>
            </a:r>
            <a:r>
              <a:rPr b="0" baseline="-25000" dirty="0"/>
              <a:t>0</a:t>
            </a:r>
            <a:r>
              <a:rPr b="0" dirty="0"/>
              <a:t>) is  a statement that the value of a population parameter (such as proportion, mean, or standard deviation) is </a:t>
            </a:r>
            <a:r>
              <a:rPr b="0" dirty="0">
                <a:solidFill>
                  <a:schemeClr val="hlink"/>
                </a:solidFill>
              </a:rPr>
              <a:t>equal</a:t>
            </a:r>
            <a:r>
              <a:rPr b="0" dirty="0"/>
              <a:t> </a:t>
            </a:r>
            <a:r>
              <a:rPr b="0" dirty="0">
                <a:solidFill>
                  <a:schemeClr val="hlink"/>
                </a:solidFill>
              </a:rPr>
              <a:t>to</a:t>
            </a:r>
            <a:r>
              <a:rPr b="0" dirty="0"/>
              <a:t> some claimed value.</a:t>
            </a:r>
            <a:endParaRPr b="0" dirty="0"/>
          </a:p>
          <a:p>
            <a:pPr marL="457200" indent="-457200" defTabSz="914400">
              <a:lnSpc>
                <a:spcPct val="100000"/>
              </a:lnSpc>
              <a:buClr>
                <a:schemeClr val="accent2"/>
              </a:buClr>
              <a:buFont typeface="Times" pitchFamily="1" charset="0"/>
              <a:buChar char="•"/>
              <a:tabLst>
                <a:tab pos="457200" algn="l"/>
              </a:tabLst>
            </a:pPr>
            <a:r>
              <a:rPr b="0" dirty="0"/>
              <a:t> We test the null hypothesis directly in the sense that we assume it is true and reach a conclusion to either reject </a:t>
            </a:r>
            <a:r>
              <a:rPr b="0" i="1" dirty="0"/>
              <a:t>H</a:t>
            </a:r>
            <a:r>
              <a:rPr b="0" baseline="-25000" dirty="0"/>
              <a:t>0</a:t>
            </a:r>
            <a:r>
              <a:rPr b="0" i="1" dirty="0"/>
              <a:t> </a:t>
            </a:r>
            <a:r>
              <a:rPr b="0" dirty="0"/>
              <a:t>or fail to reject </a:t>
            </a:r>
            <a:r>
              <a:rPr b="0" i="1" dirty="0"/>
              <a:t>H</a:t>
            </a:r>
            <a:r>
              <a:rPr b="0" baseline="-25000" dirty="0"/>
              <a:t>0</a:t>
            </a:r>
            <a:r>
              <a:rPr b="0" dirty="0"/>
              <a:t>.</a:t>
            </a:r>
            <a:endParaRPr b="0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2"/>
          <p:cNvSpPr>
            <a:spLocks noGrp="1"/>
          </p:cNvSpPr>
          <p:nvPr>
            <p:ph type="title" idx="4294967295"/>
          </p:nvPr>
        </p:nvSpPr>
        <p:spPr>
          <a:xfrm>
            <a:off x="2070100" y="368300"/>
            <a:ext cx="8045450" cy="774700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>
            <a:normAutofit/>
          </a:bodyPr>
          <a:p>
            <a:r>
              <a:rPr dirty="0"/>
              <a:t>Alternative Hypothesis </a:t>
            </a:r>
            <a:endParaRPr baseline="-25000" dirty="0"/>
          </a:p>
        </p:txBody>
      </p:sp>
      <p:sp>
        <p:nvSpPr>
          <p:cNvPr id="8195" name="Rectangle 3"/>
          <p:cNvSpPr>
            <a:spLocks noGrp="1"/>
          </p:cNvSpPr>
          <p:nvPr>
            <p:ph type="body" idx="4294967295"/>
          </p:nvPr>
        </p:nvSpPr>
        <p:spPr>
          <a:xfrm>
            <a:off x="2103438" y="1752600"/>
            <a:ext cx="8189912" cy="243840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/>
          <a:p>
            <a:pPr marL="520700" indent="-520700" defTabSz="508000">
              <a:spcBef>
                <a:spcPct val="35000"/>
              </a:spcBef>
              <a:spcAft>
                <a:spcPct val="35000"/>
              </a:spcAft>
              <a:buClr>
                <a:schemeClr val="accent2"/>
              </a:buClr>
              <a:buFont typeface="Times" pitchFamily="1" charset="0"/>
              <a:buChar char="•"/>
            </a:pPr>
            <a:r>
              <a:rPr b="0" dirty="0"/>
              <a:t>The </a:t>
            </a:r>
            <a:r>
              <a:rPr b="0" dirty="0">
                <a:solidFill>
                  <a:schemeClr val="hlink"/>
                </a:solidFill>
              </a:rPr>
              <a:t>alternative hypothesis</a:t>
            </a:r>
            <a:r>
              <a:rPr b="0" dirty="0"/>
              <a:t> (denoted by </a:t>
            </a:r>
            <a:r>
              <a:rPr b="0" i="1" dirty="0"/>
              <a:t>H</a:t>
            </a:r>
            <a:r>
              <a:rPr b="0" baseline="-25000" dirty="0"/>
              <a:t>1</a:t>
            </a:r>
            <a:r>
              <a:rPr b="0" dirty="0"/>
              <a:t> or </a:t>
            </a:r>
            <a:r>
              <a:rPr b="0" i="1" dirty="0"/>
              <a:t>H</a:t>
            </a:r>
            <a:r>
              <a:rPr b="0" baseline="-25000" dirty="0"/>
              <a:t>A</a:t>
            </a:r>
            <a:r>
              <a:rPr b="0" dirty="0"/>
              <a:t>) is the statement that the parameter has a value that somehow differs from the null hypothesis.</a:t>
            </a:r>
            <a:endParaRPr sz="4000" b="0" dirty="0"/>
          </a:p>
          <a:p>
            <a:pPr marL="520700" indent="-520700" defTabSz="508000">
              <a:spcBef>
                <a:spcPct val="35000"/>
              </a:spcBef>
              <a:spcAft>
                <a:spcPct val="35000"/>
              </a:spcAft>
              <a:buClr>
                <a:schemeClr val="accent2"/>
              </a:buClr>
              <a:buFont typeface="Times" pitchFamily="1" charset="0"/>
              <a:buChar char="•"/>
            </a:pPr>
            <a:r>
              <a:rPr b="0" dirty="0">
                <a:sym typeface="Symbol" panose="05050102010706020507" pitchFamily="18" charset="2"/>
              </a:rPr>
              <a:t>The symbolic form of the alternative hypothesis must use one of these symbols: &lt;, &gt;, ≠</a:t>
            </a:r>
            <a:r>
              <a:rPr b="0" dirty="0"/>
              <a:t>.</a:t>
            </a:r>
            <a:endParaRPr sz="4000" b="0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2"/>
          <p:cNvSpPr>
            <a:spLocks noGrp="1"/>
          </p:cNvSpPr>
          <p:nvPr>
            <p:ph type="title" idx="4294967295"/>
          </p:nvPr>
        </p:nvSpPr>
        <p:spPr>
          <a:xfrm>
            <a:off x="2012950" y="494030"/>
            <a:ext cx="8971280" cy="1146175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>
            <a:normAutofit fontScale="90000"/>
          </a:bodyPr>
          <a:p>
            <a:r>
              <a:rPr dirty="0"/>
              <a:t>Note about Forming Your Own Claims (Hypotheses)</a:t>
            </a:r>
            <a:endParaRPr dirty="0"/>
          </a:p>
        </p:txBody>
      </p:sp>
      <p:sp>
        <p:nvSpPr>
          <p:cNvPr id="28675" name="Rectangle 3"/>
          <p:cNvSpPr>
            <a:spLocks noGrp="1"/>
          </p:cNvSpPr>
          <p:nvPr>
            <p:ph type="body" idx="4294967295"/>
          </p:nvPr>
        </p:nvSpPr>
        <p:spPr>
          <a:xfrm>
            <a:off x="1801813" y="1828800"/>
            <a:ext cx="8732837" cy="121920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>
            <a:normAutofit lnSpcReduction="20000"/>
          </a:bodyPr>
          <a:p>
            <a:pPr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b="0" dirty="0"/>
              <a:t>   If you are conducting a study and want to use a hypothesis test to </a:t>
            </a:r>
            <a:r>
              <a:rPr b="0" dirty="0">
                <a:solidFill>
                  <a:schemeClr val="hlink"/>
                </a:solidFill>
              </a:rPr>
              <a:t>support</a:t>
            </a:r>
            <a:r>
              <a:rPr b="0" dirty="0"/>
              <a:t> your claim, the claim must be worded so that it becomes the alternative hypothesis.</a:t>
            </a:r>
            <a:endParaRPr b="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charRg st="0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5">
                                            <p:txEl>
                                              <p:charRg st="0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5">
                                            <p:txEl>
                                              <p:charRg st="0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2"/>
          <p:cNvSpPr>
            <a:spLocks noGrp="1"/>
          </p:cNvSpPr>
          <p:nvPr>
            <p:ph type="title" idx="4294967295"/>
          </p:nvPr>
        </p:nvSpPr>
        <p:spPr>
          <a:xfrm>
            <a:off x="2247900" y="288925"/>
            <a:ext cx="7686675" cy="1158875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>
            <a:normAutofit fontScale="90000"/>
          </a:bodyPr>
          <a:p>
            <a:r>
              <a:rPr b="1" dirty="0"/>
              <a:t>Steps 1, 2, 3</a:t>
            </a:r>
            <a:r>
              <a:rPr lang="en-US" b="1" dirty="0"/>
              <a:t>: </a:t>
            </a:r>
            <a:r>
              <a:rPr b="1" dirty="0"/>
              <a:t>Identifying </a:t>
            </a:r>
            <a:r>
              <a:rPr b="1" i="1" dirty="0"/>
              <a:t>H</a:t>
            </a:r>
            <a:r>
              <a:rPr b="1" baseline="-25000" dirty="0"/>
              <a:t>0</a:t>
            </a:r>
            <a:r>
              <a:rPr b="1" i="1" dirty="0"/>
              <a:t> </a:t>
            </a:r>
            <a:r>
              <a:rPr b="1" dirty="0"/>
              <a:t>and </a:t>
            </a:r>
            <a:r>
              <a:rPr b="1" i="1" dirty="0"/>
              <a:t>H</a:t>
            </a:r>
            <a:r>
              <a:rPr b="1" baseline="-25000" dirty="0"/>
              <a:t>1</a:t>
            </a:r>
            <a:endParaRPr b="1" dirty="0"/>
          </a:p>
        </p:txBody>
      </p:sp>
      <p:pic>
        <p:nvPicPr>
          <p:cNvPr id="10243" name="Picture 4" descr="C:\Users\Joe\Desktop\Triola Job\Graphics\Round_2_png_files\Ch0802-Slide-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4200" y="1676400"/>
            <a:ext cx="5972175" cy="41497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2"/>
          <p:cNvSpPr>
            <a:spLocks noGrp="1"/>
          </p:cNvSpPr>
          <p:nvPr>
            <p:ph type="title" idx="4294967295"/>
          </p:nvPr>
        </p:nvSpPr>
        <p:spPr>
          <a:xfrm>
            <a:off x="2127250" y="157163"/>
            <a:ext cx="8286750" cy="471487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>
            <a:normAutofit fontScale="90000"/>
          </a:bodyPr>
          <a:p>
            <a:r>
              <a:rPr sz="3200" dirty="0"/>
              <a:t>Example</a:t>
            </a:r>
            <a:endParaRPr sz="2800" dirty="0">
              <a:solidFill>
                <a:schemeClr val="tx1"/>
              </a:solidFill>
            </a:endParaRPr>
          </a:p>
        </p:txBody>
      </p:sp>
      <p:sp>
        <p:nvSpPr>
          <p:cNvPr id="11267" name="Rectangle 3"/>
          <p:cNvSpPr/>
          <p:nvPr/>
        </p:nvSpPr>
        <p:spPr>
          <a:xfrm>
            <a:off x="3362325" y="2403475"/>
            <a:ext cx="354013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1268" name="Rectangle 4"/>
          <p:cNvSpPr/>
          <p:nvPr/>
        </p:nvSpPr>
        <p:spPr>
          <a:xfrm>
            <a:off x="3032125" y="3017838"/>
            <a:ext cx="420688" cy="4762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1269" name="Rectangle 5"/>
          <p:cNvSpPr/>
          <p:nvPr/>
        </p:nvSpPr>
        <p:spPr>
          <a:xfrm>
            <a:off x="3260725" y="2989263"/>
            <a:ext cx="296863" cy="3127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1270" name="Rectangle 6"/>
          <p:cNvSpPr/>
          <p:nvPr/>
        </p:nvSpPr>
        <p:spPr>
          <a:xfrm>
            <a:off x="3413125" y="4127500"/>
            <a:ext cx="890588" cy="42068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1271" name="Rectangle 7"/>
          <p:cNvSpPr/>
          <p:nvPr/>
        </p:nvSpPr>
        <p:spPr>
          <a:xfrm>
            <a:off x="2117725" y="4694238"/>
            <a:ext cx="5807075" cy="1733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1272" name="Text Box 8"/>
          <p:cNvSpPr txBox="1"/>
          <p:nvPr/>
        </p:nvSpPr>
        <p:spPr>
          <a:xfrm>
            <a:off x="2200275" y="954088"/>
            <a:ext cx="7870825" cy="304609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marL="1905" indent="-1905"/>
            <a:r>
              <a:rPr sz="2400" b="0" dirty="0">
                <a:latin typeface="Arial" panose="020B0604020202020204" pitchFamily="34" charset="0"/>
              </a:rPr>
              <a:t>Assume that 100 babies are born to 100 couples treated with the XSORT method of gender selection that is claimed to make girls more likely.</a:t>
            </a:r>
            <a:endParaRPr sz="2400" b="0" dirty="0">
              <a:latin typeface="Arial" panose="020B0604020202020204" pitchFamily="34" charset="0"/>
            </a:endParaRPr>
          </a:p>
          <a:p>
            <a:pPr marL="1905" indent="-1905"/>
            <a:endParaRPr sz="2400" b="0" dirty="0">
              <a:latin typeface="Arial" panose="020B0604020202020204" pitchFamily="34" charset="0"/>
            </a:endParaRPr>
          </a:p>
          <a:p>
            <a:pPr marL="1905" indent="-1905"/>
            <a:r>
              <a:rPr sz="2400" b="0" dirty="0">
                <a:latin typeface="Arial" panose="020B0604020202020204" pitchFamily="34" charset="0"/>
              </a:rPr>
              <a:t>We observe 58 girls in 100 babies.  Write the hypotheses to test the claim the “with the XSORT method, the proportion of girls is greater than the 50% that occurs without any treatment”.</a:t>
            </a:r>
            <a:endParaRPr sz="2400" b="0" dirty="0">
              <a:latin typeface="Arial" panose="020B0604020202020204" pitchFamily="34" charset="0"/>
            </a:endParaRPr>
          </a:p>
        </p:txBody>
      </p:sp>
      <p:graphicFrame>
        <p:nvGraphicFramePr>
          <p:cNvPr id="11273" name="Object 9"/>
          <p:cNvGraphicFramePr>
            <a:graphicFrameLocks noChangeAspect="1"/>
          </p:cNvGraphicFramePr>
          <p:nvPr/>
        </p:nvGraphicFramePr>
        <p:xfrm>
          <a:off x="4648200" y="4064635"/>
          <a:ext cx="200152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762000" imgH="457200" progId="Equation.DSMT4">
                  <p:embed/>
                </p:oleObj>
              </mc:Choice>
              <mc:Fallback>
                <p:oleObj name="" r:id="rId1" imgW="762000" imgH="457200" progId="Equation.DSMT4">
                  <p:embed/>
                  <p:pic>
                    <p:nvPicPr>
                      <p:cNvPr id="0" name="Picture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48200" y="4064635"/>
                        <a:ext cx="2001520" cy="1200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2"/>
          <p:cNvSpPr>
            <a:spLocks noGrp="1"/>
          </p:cNvSpPr>
          <p:nvPr>
            <p:ph type="title" idx="4294967295"/>
          </p:nvPr>
        </p:nvSpPr>
        <p:spPr>
          <a:xfrm>
            <a:off x="2247900" y="288925"/>
            <a:ext cx="8170545" cy="1158875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>
            <a:normAutofit fontScale="90000"/>
          </a:bodyPr>
          <a:p>
            <a:r>
              <a:rPr b="1" dirty="0"/>
              <a:t>Step 4</a:t>
            </a:r>
            <a:r>
              <a:rPr lang="en-US" b="1" dirty="0"/>
              <a:t>: </a:t>
            </a:r>
            <a:r>
              <a:rPr b="1" dirty="0"/>
              <a:t>Select the Significance Level </a:t>
            </a:r>
            <a:r>
              <a:rPr lang="el-GR" altLang="x-none" b="1" i="1" dirty="0"/>
              <a:t>α</a:t>
            </a:r>
            <a:endParaRPr b="1" i="1" dirty="0"/>
          </a:p>
        </p:txBody>
      </p:sp>
      <p:pic>
        <p:nvPicPr>
          <p:cNvPr id="12291" name="Picture 4" descr="C:\Users\Joe\Desktop\Triola Job\Graphics\Round_2_png_files\Ch0802-Slide-1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2209800"/>
            <a:ext cx="6775450" cy="16906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2165350" y="538480"/>
            <a:ext cx="7772400" cy="793750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/>
          <a:p>
            <a:r>
              <a:rPr dirty="0"/>
              <a:t>Significance Level</a:t>
            </a:r>
            <a:endParaRPr dirty="0"/>
          </a:p>
        </p:txBody>
      </p:sp>
      <p:sp>
        <p:nvSpPr>
          <p:cNvPr id="13315" name="Text Box 5"/>
          <p:cNvSpPr txBox="1"/>
          <p:nvPr/>
        </p:nvSpPr>
        <p:spPr>
          <a:xfrm>
            <a:off x="2173288" y="1697038"/>
            <a:ext cx="7912100" cy="2676525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r>
              <a:rPr sz="2400" b="0" dirty="0">
                <a:latin typeface="Arial" panose="020B0604020202020204" pitchFamily="34" charset="0"/>
              </a:rPr>
              <a:t>The </a:t>
            </a:r>
            <a:r>
              <a:rPr sz="2400" b="0" dirty="0">
                <a:solidFill>
                  <a:schemeClr val="hlink"/>
                </a:solidFill>
                <a:latin typeface="Arial" panose="020B0604020202020204" pitchFamily="34" charset="0"/>
              </a:rPr>
              <a:t>significance level</a:t>
            </a:r>
            <a:r>
              <a:rPr sz="2400" b="0" dirty="0">
                <a:latin typeface="Arial" panose="020B0604020202020204" pitchFamily="34" charset="0"/>
              </a:rPr>
              <a:t> (denoted by </a:t>
            </a:r>
            <a:r>
              <a:rPr lang="el-GR" altLang="x-none" sz="2400" b="0" i="1" dirty="0">
                <a:latin typeface="Arial" panose="020B0604020202020204" pitchFamily="34" charset="0"/>
              </a:rPr>
              <a:t>α</a:t>
            </a:r>
            <a:r>
              <a:rPr lang="en-US" altLang="el-GR" sz="2400" b="0" i="1" dirty="0">
                <a:latin typeface="Arial" panose="020B0604020202020204" pitchFamily="34" charset="0"/>
              </a:rPr>
              <a:t>, mức ý nghĩa</a:t>
            </a:r>
            <a:r>
              <a:rPr sz="2400" b="0" dirty="0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sz="2400" b="0" dirty="0">
                <a:latin typeface="Arial" panose="020B0604020202020204" pitchFamily="34" charset="0"/>
                <a:sym typeface="Symbol" panose="05050102010706020507" pitchFamily="18" charset="2"/>
              </a:rPr>
              <a:t>is the probability that the test statistic will fall in the critical region when the null hypothesis</a:t>
            </a:r>
            <a:r>
              <a:rPr sz="2400" b="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sz="2400" b="0" dirty="0">
                <a:latin typeface="Arial" panose="020B0604020202020204" pitchFamily="34" charset="0"/>
                <a:sym typeface="Symbol" panose="05050102010706020507" pitchFamily="18" charset="2"/>
              </a:rPr>
              <a:t>is actually true (making the mistake of rejecting the null hypothesis when it is true). </a:t>
            </a:r>
            <a:endParaRPr sz="2400" b="0" dirty="0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endParaRPr sz="2400" b="0" dirty="0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r>
              <a:rPr sz="2400" b="0" dirty="0">
                <a:latin typeface="Arial" panose="020B0604020202020204" pitchFamily="34" charset="0"/>
                <a:sym typeface="Symbol" panose="05050102010706020507" pitchFamily="18" charset="2"/>
              </a:rPr>
              <a:t>Common</a:t>
            </a:r>
            <a:r>
              <a:rPr sz="2400" b="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sz="2400" b="0" dirty="0">
                <a:latin typeface="Arial" panose="020B0604020202020204" pitchFamily="34" charset="0"/>
                <a:sym typeface="Symbol" panose="05050102010706020507" pitchFamily="18" charset="2"/>
              </a:rPr>
              <a:t>choices for</a:t>
            </a:r>
            <a:r>
              <a:rPr sz="2400" b="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l-GR" altLang="x-none" sz="2400" b="0" i="1" dirty="0">
                <a:latin typeface="Arial" panose="020B0604020202020204" pitchFamily="34" charset="0"/>
              </a:rPr>
              <a:t>α</a:t>
            </a:r>
            <a:r>
              <a:rPr sz="2400" b="0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sz="2400" b="0" dirty="0">
                <a:latin typeface="Arial" panose="020B0604020202020204" pitchFamily="34" charset="0"/>
                <a:sym typeface="Symbol" panose="05050102010706020507" pitchFamily="18" charset="2"/>
              </a:rPr>
              <a:t>are 0.05, 0.01, and 0.10.</a:t>
            </a:r>
            <a:endParaRPr sz="2400" b="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Grp="1"/>
          </p:cNvSpPr>
          <p:nvPr>
            <p:ph type="title" idx="4294967295"/>
          </p:nvPr>
        </p:nvSpPr>
        <p:spPr>
          <a:xfrm>
            <a:off x="2247900" y="288925"/>
            <a:ext cx="7686675" cy="1158875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>
            <a:normAutofit/>
          </a:bodyPr>
          <a:p>
            <a:r>
              <a:rPr sz="3200" b="1" dirty="0"/>
              <a:t>Step 5</a:t>
            </a:r>
            <a:r>
              <a:rPr lang="en-US" sz="3200" b="1" dirty="0"/>
              <a:t>: </a:t>
            </a:r>
            <a:r>
              <a:rPr sz="3200" b="1" dirty="0"/>
              <a:t>Identify the Test Statistic and Determine its Sampling Distribution</a:t>
            </a:r>
            <a:endParaRPr sz="3200" b="1" i="1" dirty="0"/>
          </a:p>
        </p:txBody>
      </p:sp>
      <p:pic>
        <p:nvPicPr>
          <p:cNvPr id="14339" name="Picture 4" descr="C:\Users\Joe\Desktop\Triola Job\Graphics\Round_2_png_files\Ch0802-Slide-1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3665" y="1621790"/>
            <a:ext cx="8768715" cy="42538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Text Box 3"/>
          <p:cNvSpPr txBox="1"/>
          <p:nvPr/>
        </p:nvSpPr>
        <p:spPr>
          <a:xfrm>
            <a:off x="2154555" y="2140903"/>
            <a:ext cx="8549640" cy="193802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anchorCtr="0">
            <a:spAutoFit/>
          </a:bodyPr>
          <a:p>
            <a:r>
              <a:rPr sz="3000" b="0" dirty="0">
                <a:latin typeface="Arial" panose="020B0604020202020204" pitchFamily="34" charset="0"/>
              </a:rPr>
              <a:t>The </a:t>
            </a:r>
            <a:r>
              <a:rPr sz="3000" b="0" dirty="0">
                <a:solidFill>
                  <a:schemeClr val="hlink"/>
                </a:solidFill>
                <a:latin typeface="Arial" panose="020B0604020202020204" pitchFamily="34" charset="0"/>
              </a:rPr>
              <a:t>test statistic</a:t>
            </a:r>
            <a:r>
              <a:rPr sz="3000" b="0" dirty="0">
                <a:latin typeface="Arial" panose="020B0604020202020204" pitchFamily="34" charset="0"/>
              </a:rPr>
              <a:t> is a value used in making a decision about the null hypothesis, and is found by converting the sample statistic to a score with the assumption that the null hypothesis is true.</a:t>
            </a:r>
            <a:endParaRPr b="0" dirty="0">
              <a:latin typeface="Times New Roman" panose="02020603050405020304" pitchFamily="18" charset="0"/>
            </a:endParaRPr>
          </a:p>
        </p:txBody>
      </p:sp>
      <p:sp>
        <p:nvSpPr>
          <p:cNvPr id="15363" name="Line 5"/>
          <p:cNvSpPr/>
          <p:nvPr/>
        </p:nvSpPr>
        <p:spPr>
          <a:xfrm>
            <a:off x="3695700" y="4521200"/>
            <a:ext cx="682625" cy="0"/>
          </a:xfrm>
          <a:prstGeom prst="line">
            <a:avLst/>
          </a:prstGeom>
          <a:ln w="12700">
            <a:noFill/>
          </a:ln>
        </p:spPr>
      </p:sp>
      <p:sp>
        <p:nvSpPr>
          <p:cNvPr id="15364" name="Line 8"/>
          <p:cNvSpPr/>
          <p:nvPr/>
        </p:nvSpPr>
        <p:spPr>
          <a:xfrm>
            <a:off x="4841875" y="4922838"/>
            <a:ext cx="412750" cy="0"/>
          </a:xfrm>
          <a:prstGeom prst="line">
            <a:avLst/>
          </a:prstGeom>
          <a:ln w="12700">
            <a:noFill/>
          </a:ln>
        </p:spPr>
      </p:sp>
      <p:sp>
        <p:nvSpPr>
          <p:cNvPr id="15365" name="Line 9"/>
          <p:cNvSpPr/>
          <p:nvPr/>
        </p:nvSpPr>
        <p:spPr>
          <a:xfrm flipH="1">
            <a:off x="4841875" y="4922838"/>
            <a:ext cx="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66" name="Line 10"/>
          <p:cNvSpPr/>
          <p:nvPr/>
        </p:nvSpPr>
        <p:spPr>
          <a:xfrm>
            <a:off x="5143500" y="4922838"/>
            <a:ext cx="0" cy="0"/>
          </a:xfrm>
          <a:prstGeom prst="line">
            <a:avLst/>
          </a:prstGeom>
          <a:ln w="12700">
            <a:noFill/>
          </a:ln>
        </p:spPr>
      </p:sp>
      <p:sp>
        <p:nvSpPr>
          <p:cNvPr id="15367" name="Line 11"/>
          <p:cNvSpPr/>
          <p:nvPr/>
        </p:nvSpPr>
        <p:spPr>
          <a:xfrm>
            <a:off x="5143500" y="4922838"/>
            <a:ext cx="381000" cy="0"/>
          </a:xfrm>
          <a:prstGeom prst="line">
            <a:avLst/>
          </a:prstGeom>
          <a:ln w="12700">
            <a:noFill/>
          </a:ln>
        </p:spPr>
      </p:sp>
      <p:sp>
        <p:nvSpPr>
          <p:cNvPr id="15368" name="Text Box 13"/>
          <p:cNvSpPr txBox="1"/>
          <p:nvPr/>
        </p:nvSpPr>
        <p:spPr>
          <a:xfrm>
            <a:off x="4956810" y="4738688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p>
            <a:pPr algn="ctr"/>
            <a:endParaRPr b="0" dirty="0">
              <a:latin typeface="Arial" panose="020B0604020202020204" pitchFamily="34" charset="0"/>
            </a:endParaRPr>
          </a:p>
        </p:txBody>
      </p:sp>
      <p:sp>
        <p:nvSpPr>
          <p:cNvPr id="15369" name="Rectangle 20"/>
          <p:cNvSpPr/>
          <p:nvPr/>
        </p:nvSpPr>
        <p:spPr>
          <a:xfrm>
            <a:off x="2020888" y="642620"/>
            <a:ext cx="7772400" cy="65405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 anchor="ctr" anchorCtr="0"/>
          <a:p>
            <a:pPr algn="ctr"/>
            <a:r>
              <a:rPr sz="4000" dirty="0">
                <a:solidFill>
                  <a:srgbClr val="008000"/>
                </a:solidFill>
                <a:latin typeface="Arial" panose="020B0604020202020204" pitchFamily="34" charset="0"/>
              </a:rPr>
              <a:t>Test Statistic</a:t>
            </a:r>
            <a:endParaRPr sz="4000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type="title" idx="4294967295"/>
          </p:nvPr>
        </p:nvSpPr>
        <p:spPr>
          <a:xfrm>
            <a:off x="2154555" y="787400"/>
            <a:ext cx="7686675" cy="1158875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/>
          <a:p>
            <a:r>
              <a:rPr sz="2400" b="1" dirty="0"/>
              <a:t>Step 6</a:t>
            </a:r>
            <a:r>
              <a:rPr lang="en-US" sz="2400" b="1" dirty="0"/>
              <a:t>: </a:t>
            </a:r>
            <a:r>
              <a:rPr sz="2400" b="1" dirty="0"/>
              <a:t>Find the Value of the Test Statistic, Then Find Either the </a:t>
            </a:r>
            <a:r>
              <a:rPr sz="2400" b="1" i="1" dirty="0"/>
              <a:t>P</a:t>
            </a:r>
            <a:r>
              <a:rPr sz="2400" b="1" dirty="0"/>
              <a:t>-Value or the Critical Value(s)</a:t>
            </a:r>
            <a:endParaRPr sz="2400" b="1" i="1" dirty="0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154238" y="2399983"/>
            <a:ext cx="8169275" cy="141986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First transform the relevant sample statistic to a standardized score called the test statistic.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Then find the </a:t>
            </a:r>
            <a:r>
              <a:rPr kumimoji="0" lang="en-US" sz="24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-Value or the critical value(s).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 idx="4294967295"/>
          </p:nvPr>
        </p:nvSpPr>
        <p:spPr>
          <a:xfrm>
            <a:off x="2017713" y="328295"/>
            <a:ext cx="8061325" cy="425450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>
            <a:normAutofit fontScale="90000"/>
          </a:bodyPr>
          <a:p>
            <a:r>
              <a:rPr sz="3555" b="1" dirty="0"/>
              <a:t>Example</a:t>
            </a:r>
            <a:endParaRPr sz="3555" b="1" dirty="0">
              <a:solidFill>
                <a:schemeClr val="tx1"/>
              </a:solidFill>
            </a:endParaRPr>
          </a:p>
        </p:txBody>
      </p:sp>
      <p:sp>
        <p:nvSpPr>
          <p:cNvPr id="17411" name="Rectangle 3"/>
          <p:cNvSpPr/>
          <p:nvPr/>
        </p:nvSpPr>
        <p:spPr>
          <a:xfrm>
            <a:off x="3362325" y="2403475"/>
            <a:ext cx="354013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7412" name="Rectangle 4"/>
          <p:cNvSpPr/>
          <p:nvPr/>
        </p:nvSpPr>
        <p:spPr>
          <a:xfrm>
            <a:off x="3032125" y="3017838"/>
            <a:ext cx="420688" cy="4762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7413" name="Rectangle 5"/>
          <p:cNvSpPr/>
          <p:nvPr/>
        </p:nvSpPr>
        <p:spPr>
          <a:xfrm>
            <a:off x="3260725" y="2989263"/>
            <a:ext cx="296863" cy="3127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7414" name="Rectangle 6"/>
          <p:cNvSpPr/>
          <p:nvPr/>
        </p:nvSpPr>
        <p:spPr>
          <a:xfrm>
            <a:off x="3413125" y="4127500"/>
            <a:ext cx="890588" cy="42068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7415" name="Rectangle 7"/>
          <p:cNvSpPr/>
          <p:nvPr/>
        </p:nvSpPr>
        <p:spPr>
          <a:xfrm>
            <a:off x="2117725" y="4694238"/>
            <a:ext cx="5807075" cy="1733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7416" name="Rectangle 10"/>
          <p:cNvSpPr/>
          <p:nvPr/>
        </p:nvSpPr>
        <p:spPr>
          <a:xfrm>
            <a:off x="2079625" y="1014413"/>
            <a:ext cx="8247063" cy="36830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/>
            <a:endParaRPr dirty="0">
              <a:latin typeface="Arial" panose="020B0604020202020204" pitchFamily="34" charset="0"/>
            </a:endParaRPr>
          </a:p>
        </p:txBody>
      </p:sp>
      <p:sp>
        <p:nvSpPr>
          <p:cNvPr id="17417" name="Rectangle 11"/>
          <p:cNvSpPr/>
          <p:nvPr/>
        </p:nvSpPr>
        <p:spPr>
          <a:xfrm>
            <a:off x="2051685" y="941388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p>
            <a:pPr algn="ctr"/>
            <a:endParaRPr dirty="0">
              <a:latin typeface="Arial" panose="020B0604020202020204" pitchFamily="34" charset="0"/>
            </a:endParaRPr>
          </a:p>
        </p:txBody>
      </p:sp>
      <p:sp>
        <p:nvSpPr>
          <p:cNvPr id="17418" name="Rectangle 12"/>
          <p:cNvSpPr/>
          <p:nvPr/>
        </p:nvSpPr>
        <p:spPr>
          <a:xfrm>
            <a:off x="2103438" y="941388"/>
            <a:ext cx="184150" cy="36830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/>
            <a:endParaRPr dirty="0">
              <a:latin typeface="Arial" panose="020B0604020202020204" pitchFamily="34" charset="0"/>
            </a:endParaRPr>
          </a:p>
        </p:txBody>
      </p:sp>
      <p:sp>
        <p:nvSpPr>
          <p:cNvPr id="17419" name="Rectangle 13"/>
          <p:cNvSpPr/>
          <p:nvPr/>
        </p:nvSpPr>
        <p:spPr>
          <a:xfrm>
            <a:off x="2058988" y="1073150"/>
            <a:ext cx="8281987" cy="526224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r>
              <a:rPr sz="2400" b="0" dirty="0">
                <a:latin typeface="Arial" panose="020B0604020202020204" pitchFamily="34" charset="0"/>
              </a:rPr>
              <a:t>Let</a:t>
            </a:r>
            <a:r>
              <a:rPr sz="2400" b="0" dirty="0">
                <a:latin typeface="Arial" panose="020B0604020202020204" pitchFamily="34" charset="0"/>
                <a:ea typeface="ヒラギノ角ゴ ProN W3" pitchFamily="112" charset="-128"/>
              </a:rPr>
              <a:t>’s</a:t>
            </a:r>
            <a:r>
              <a:rPr sz="2400" b="0" dirty="0">
                <a:latin typeface="Arial" panose="020B0604020202020204" pitchFamily="34" charset="0"/>
              </a:rPr>
              <a:t> again consider the claim that the XSORT method of gender selection increases the likelihood of having a baby girl. </a:t>
            </a:r>
            <a:endParaRPr sz="2400" b="0" dirty="0">
              <a:latin typeface="Arial" panose="020B0604020202020204" pitchFamily="34" charset="0"/>
            </a:endParaRPr>
          </a:p>
          <a:p>
            <a:endParaRPr sz="2400" b="0" dirty="0">
              <a:latin typeface="Arial" panose="020B0604020202020204" pitchFamily="34" charset="0"/>
            </a:endParaRPr>
          </a:p>
          <a:p>
            <a:r>
              <a:rPr sz="2400" b="0" dirty="0">
                <a:latin typeface="Arial" panose="020B0604020202020204" pitchFamily="34" charset="0"/>
              </a:rPr>
              <a:t>Preliminary results from a test of the XSORT method of gender selection involved 100 couples who gave birth to 58 girls and 42 boys. </a:t>
            </a:r>
            <a:endParaRPr sz="2400" b="0" dirty="0">
              <a:latin typeface="Arial" panose="020B0604020202020204" pitchFamily="34" charset="0"/>
            </a:endParaRPr>
          </a:p>
          <a:p>
            <a:endParaRPr sz="2400" b="0" dirty="0">
              <a:latin typeface="Arial" panose="020B0604020202020204" pitchFamily="34" charset="0"/>
            </a:endParaRPr>
          </a:p>
          <a:p>
            <a:r>
              <a:rPr sz="2400" b="0" dirty="0">
                <a:latin typeface="Arial" panose="020B0604020202020204" pitchFamily="34" charset="0"/>
              </a:rPr>
              <a:t>Use the given claim and the preliminary results to calculate the value of the test statistic. </a:t>
            </a:r>
            <a:endParaRPr sz="2400" b="0" dirty="0">
              <a:latin typeface="Arial" panose="020B0604020202020204" pitchFamily="34" charset="0"/>
            </a:endParaRPr>
          </a:p>
          <a:p>
            <a:endParaRPr sz="2400" b="0" dirty="0">
              <a:latin typeface="Arial" panose="020B0604020202020204" pitchFamily="34" charset="0"/>
            </a:endParaRPr>
          </a:p>
          <a:p>
            <a:r>
              <a:rPr sz="2400" b="0" dirty="0">
                <a:latin typeface="Arial" panose="020B0604020202020204" pitchFamily="34" charset="0"/>
              </a:rPr>
              <a:t>Use the format of the test statistic given above, so that a normal distribution is used to approximate a binomial distribution. </a:t>
            </a:r>
            <a:endParaRPr sz="24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 idx="4294967295"/>
          </p:nvPr>
        </p:nvSpPr>
        <p:spPr>
          <a:xfrm>
            <a:off x="2017713" y="193675"/>
            <a:ext cx="8061325" cy="425450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>
            <a:normAutofit fontScale="90000"/>
          </a:bodyPr>
          <a:p>
            <a:r>
              <a:rPr sz="3200" dirty="0"/>
              <a:t>Example - Continued</a:t>
            </a:r>
            <a:endParaRPr sz="3200" dirty="0">
              <a:solidFill>
                <a:schemeClr val="tx1"/>
              </a:solidFill>
            </a:endParaRPr>
          </a:p>
        </p:txBody>
      </p:sp>
      <p:sp>
        <p:nvSpPr>
          <p:cNvPr id="18435" name="Rectangle 3"/>
          <p:cNvSpPr/>
          <p:nvPr/>
        </p:nvSpPr>
        <p:spPr>
          <a:xfrm>
            <a:off x="3362325" y="2403475"/>
            <a:ext cx="354013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8436" name="Rectangle 4"/>
          <p:cNvSpPr/>
          <p:nvPr/>
        </p:nvSpPr>
        <p:spPr>
          <a:xfrm>
            <a:off x="3032125" y="3017838"/>
            <a:ext cx="420688" cy="4762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8437" name="Rectangle 5"/>
          <p:cNvSpPr/>
          <p:nvPr/>
        </p:nvSpPr>
        <p:spPr>
          <a:xfrm>
            <a:off x="3260725" y="2989263"/>
            <a:ext cx="296863" cy="3127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8438" name="Rectangle 6"/>
          <p:cNvSpPr/>
          <p:nvPr/>
        </p:nvSpPr>
        <p:spPr>
          <a:xfrm>
            <a:off x="3413125" y="4127500"/>
            <a:ext cx="890588" cy="42068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8439" name="Rectangle 7"/>
          <p:cNvSpPr/>
          <p:nvPr/>
        </p:nvSpPr>
        <p:spPr>
          <a:xfrm>
            <a:off x="2117725" y="4694238"/>
            <a:ext cx="5807075" cy="1733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8440" name="Rectangle 8"/>
          <p:cNvSpPr/>
          <p:nvPr/>
        </p:nvSpPr>
        <p:spPr>
          <a:xfrm>
            <a:off x="2079625" y="1014413"/>
            <a:ext cx="8247063" cy="36830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/>
            <a:endParaRPr dirty="0">
              <a:latin typeface="Arial" panose="020B0604020202020204" pitchFamily="34" charset="0"/>
            </a:endParaRPr>
          </a:p>
        </p:txBody>
      </p:sp>
      <p:sp>
        <p:nvSpPr>
          <p:cNvPr id="18441" name="Rectangle 9"/>
          <p:cNvSpPr/>
          <p:nvPr/>
        </p:nvSpPr>
        <p:spPr>
          <a:xfrm>
            <a:off x="2051685" y="941388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p>
            <a:pPr algn="ctr"/>
            <a:endParaRPr dirty="0">
              <a:latin typeface="Arial" panose="020B0604020202020204" pitchFamily="34" charset="0"/>
            </a:endParaRPr>
          </a:p>
        </p:txBody>
      </p:sp>
      <p:sp>
        <p:nvSpPr>
          <p:cNvPr id="18442" name="Rectangle 10"/>
          <p:cNvSpPr/>
          <p:nvPr/>
        </p:nvSpPr>
        <p:spPr>
          <a:xfrm>
            <a:off x="2103438" y="941388"/>
            <a:ext cx="184150" cy="36830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/>
            <a:endParaRPr dirty="0">
              <a:latin typeface="Arial" panose="020B0604020202020204" pitchFamily="34" charset="0"/>
            </a:endParaRPr>
          </a:p>
        </p:txBody>
      </p:sp>
      <p:sp>
        <p:nvSpPr>
          <p:cNvPr id="18443" name="Rectangle 11"/>
          <p:cNvSpPr/>
          <p:nvPr/>
        </p:nvSpPr>
        <p:spPr>
          <a:xfrm>
            <a:off x="2058988" y="914400"/>
            <a:ext cx="8281987" cy="41541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r>
              <a:rPr sz="2400" b="0" dirty="0">
                <a:latin typeface="Arial" panose="020B0604020202020204" pitchFamily="34" charset="0"/>
              </a:rPr>
              <a:t>The claim that the XSORT method of gender selection increases the likelihood of having a baby girl results in the following null and alternative hypotheses:</a:t>
            </a:r>
            <a:endParaRPr sz="2400" b="0" dirty="0">
              <a:latin typeface="Arial" panose="020B0604020202020204" pitchFamily="34" charset="0"/>
            </a:endParaRPr>
          </a:p>
          <a:p>
            <a:endParaRPr sz="2400" b="0" dirty="0">
              <a:latin typeface="Arial" panose="020B0604020202020204" pitchFamily="34" charset="0"/>
            </a:endParaRPr>
          </a:p>
          <a:p>
            <a:endParaRPr sz="2400" b="0" dirty="0">
              <a:latin typeface="Arial" panose="020B0604020202020204" pitchFamily="34" charset="0"/>
            </a:endParaRPr>
          </a:p>
          <a:p>
            <a:endParaRPr sz="2400" b="0" dirty="0">
              <a:latin typeface="Arial" panose="020B0604020202020204" pitchFamily="34" charset="0"/>
            </a:endParaRPr>
          </a:p>
          <a:p>
            <a:endParaRPr sz="2400" b="0" dirty="0">
              <a:latin typeface="Arial" panose="020B0604020202020204" pitchFamily="34" charset="0"/>
            </a:endParaRPr>
          </a:p>
          <a:p>
            <a:r>
              <a:rPr sz="2400" b="0" dirty="0">
                <a:latin typeface="Arial" panose="020B0604020202020204" pitchFamily="34" charset="0"/>
              </a:rPr>
              <a:t>We work under the assumption that the null hypothesis is true with </a:t>
            </a:r>
            <a:r>
              <a:rPr sz="2400" b="0" i="1" dirty="0">
                <a:latin typeface="Arial" panose="020B0604020202020204" pitchFamily="34" charset="0"/>
              </a:rPr>
              <a:t>p </a:t>
            </a:r>
            <a:r>
              <a:rPr sz="2400" b="0" dirty="0">
                <a:latin typeface="Arial" panose="020B0604020202020204" pitchFamily="34" charset="0"/>
              </a:rPr>
              <a:t>= 0.5</a:t>
            </a:r>
            <a:r>
              <a:rPr sz="2400" b="0" i="1" dirty="0">
                <a:latin typeface="Arial" panose="020B0604020202020204" pitchFamily="34" charset="0"/>
              </a:rPr>
              <a:t>.</a:t>
            </a:r>
            <a:r>
              <a:rPr sz="2400" b="0" dirty="0">
                <a:latin typeface="Arial" panose="020B0604020202020204" pitchFamily="34" charset="0"/>
              </a:rPr>
              <a:t> </a:t>
            </a:r>
            <a:endParaRPr sz="2400" b="0" dirty="0">
              <a:latin typeface="Arial" panose="020B0604020202020204" pitchFamily="34" charset="0"/>
            </a:endParaRPr>
          </a:p>
          <a:p>
            <a:endParaRPr sz="2400" b="0" dirty="0">
              <a:latin typeface="Arial" panose="020B0604020202020204" pitchFamily="34" charset="0"/>
            </a:endParaRPr>
          </a:p>
          <a:p>
            <a:r>
              <a:rPr sz="2400" b="0" dirty="0">
                <a:latin typeface="Arial" panose="020B0604020202020204" pitchFamily="34" charset="0"/>
              </a:rPr>
              <a:t>The sample proportion of 58 girls in 10 births results in:               </a:t>
            </a:r>
            <a:endParaRPr sz="2400" b="0" dirty="0">
              <a:latin typeface="Helvetica" pitchFamily="112" charset="0"/>
            </a:endParaRPr>
          </a:p>
        </p:txBody>
      </p:sp>
      <p:graphicFrame>
        <p:nvGraphicFramePr>
          <p:cNvPr id="18444" name="Object 16"/>
          <p:cNvGraphicFramePr>
            <a:graphicFrameLocks noChangeAspect="1"/>
          </p:cNvGraphicFramePr>
          <p:nvPr/>
        </p:nvGraphicFramePr>
        <p:xfrm>
          <a:off x="5029200" y="2133600"/>
          <a:ext cx="17526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762000" imgH="457200" progId="Equation.DSMT4">
                  <p:embed/>
                </p:oleObj>
              </mc:Choice>
              <mc:Fallback>
                <p:oleObj name="" r:id="rId1" imgW="762000" imgH="457200" progId="Equation.DSMT4">
                  <p:embed/>
                  <p:pic>
                    <p:nvPicPr>
                      <p:cNvPr id="0" name="Picture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029200" y="2133600"/>
                        <a:ext cx="1752600" cy="1050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5" name="Object 17"/>
          <p:cNvGraphicFramePr>
            <a:graphicFrameLocks noChangeAspect="1"/>
          </p:cNvGraphicFramePr>
          <p:nvPr/>
        </p:nvGraphicFramePr>
        <p:xfrm>
          <a:off x="4800600" y="5163820"/>
          <a:ext cx="2221865" cy="918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3" imgW="951865" imgH="393700" progId="Equation.DSMT4">
                  <p:embed/>
                </p:oleObj>
              </mc:Choice>
              <mc:Fallback>
                <p:oleObj name="" r:id="rId3" imgW="951865" imgH="393700" progId="Equation.DSMT4">
                  <p:embed/>
                  <p:pic>
                    <p:nvPicPr>
                      <p:cNvPr id="0" name="Picture 3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00600" y="5163820"/>
                        <a:ext cx="2221865" cy="9182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 idx="4294967295"/>
          </p:nvPr>
        </p:nvSpPr>
        <p:spPr>
          <a:xfrm>
            <a:off x="2017713" y="193675"/>
            <a:ext cx="8061325" cy="425450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>
            <a:normAutofit fontScale="90000"/>
          </a:bodyPr>
          <a:p>
            <a:r>
              <a:rPr sz="3200" dirty="0"/>
              <a:t>Example – Convert to the Test Statistic</a:t>
            </a:r>
            <a:endParaRPr sz="3200" dirty="0">
              <a:solidFill>
                <a:schemeClr val="tx1"/>
              </a:solidFill>
            </a:endParaRPr>
          </a:p>
        </p:txBody>
      </p:sp>
      <p:sp>
        <p:nvSpPr>
          <p:cNvPr id="19459" name="Rectangle 3"/>
          <p:cNvSpPr/>
          <p:nvPr/>
        </p:nvSpPr>
        <p:spPr>
          <a:xfrm>
            <a:off x="3362325" y="2403475"/>
            <a:ext cx="354013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9460" name="Rectangle 4"/>
          <p:cNvSpPr/>
          <p:nvPr/>
        </p:nvSpPr>
        <p:spPr>
          <a:xfrm>
            <a:off x="3032125" y="3017838"/>
            <a:ext cx="420688" cy="4762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9461" name="Rectangle 5"/>
          <p:cNvSpPr/>
          <p:nvPr/>
        </p:nvSpPr>
        <p:spPr>
          <a:xfrm>
            <a:off x="3260725" y="2989263"/>
            <a:ext cx="296863" cy="3127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9462" name="Rectangle 6"/>
          <p:cNvSpPr/>
          <p:nvPr/>
        </p:nvSpPr>
        <p:spPr>
          <a:xfrm>
            <a:off x="3413125" y="4127500"/>
            <a:ext cx="890588" cy="42068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9463" name="Rectangle 7"/>
          <p:cNvSpPr/>
          <p:nvPr/>
        </p:nvSpPr>
        <p:spPr>
          <a:xfrm>
            <a:off x="2117725" y="4694238"/>
            <a:ext cx="5807075" cy="1733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9464" name="Rectangle 8"/>
          <p:cNvSpPr/>
          <p:nvPr/>
        </p:nvSpPr>
        <p:spPr>
          <a:xfrm>
            <a:off x="2079625" y="1014413"/>
            <a:ext cx="8247063" cy="36830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/>
            <a:endParaRPr dirty="0">
              <a:latin typeface="Arial" panose="020B0604020202020204" pitchFamily="34" charset="0"/>
            </a:endParaRPr>
          </a:p>
        </p:txBody>
      </p:sp>
      <p:sp>
        <p:nvSpPr>
          <p:cNvPr id="19465" name="Rectangle 9"/>
          <p:cNvSpPr/>
          <p:nvPr/>
        </p:nvSpPr>
        <p:spPr>
          <a:xfrm>
            <a:off x="2051685" y="941388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p>
            <a:pPr algn="ctr"/>
            <a:endParaRPr dirty="0">
              <a:latin typeface="Arial" panose="020B0604020202020204" pitchFamily="34" charset="0"/>
            </a:endParaRPr>
          </a:p>
        </p:txBody>
      </p:sp>
      <p:sp>
        <p:nvSpPr>
          <p:cNvPr id="19466" name="Rectangle 10"/>
          <p:cNvSpPr/>
          <p:nvPr/>
        </p:nvSpPr>
        <p:spPr>
          <a:xfrm>
            <a:off x="2103438" y="941388"/>
            <a:ext cx="184150" cy="36830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/>
            <a:endParaRPr dirty="0">
              <a:latin typeface="Arial" panose="020B0604020202020204" pitchFamily="34" charset="0"/>
            </a:endParaRPr>
          </a:p>
        </p:txBody>
      </p:sp>
      <p:sp>
        <p:nvSpPr>
          <p:cNvPr id="19467" name="Rectangle 11"/>
          <p:cNvSpPr/>
          <p:nvPr/>
        </p:nvSpPr>
        <p:spPr>
          <a:xfrm>
            <a:off x="2035175" y="2895600"/>
            <a:ext cx="8281988" cy="230695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r>
              <a:rPr sz="2400" b="0" dirty="0">
                <a:latin typeface="Arial" panose="020B0604020202020204" pitchFamily="34" charset="0"/>
              </a:rPr>
              <a:t>We know from previous chapters that a </a:t>
            </a:r>
            <a:r>
              <a:rPr sz="2400" b="0" i="1" dirty="0">
                <a:latin typeface="Arial" panose="020B0604020202020204" pitchFamily="34" charset="0"/>
              </a:rPr>
              <a:t>z</a:t>
            </a:r>
            <a:r>
              <a:rPr sz="2400" b="0" dirty="0">
                <a:latin typeface="Arial" panose="020B0604020202020204" pitchFamily="34" charset="0"/>
              </a:rPr>
              <a:t> score of 1.60 is not </a:t>
            </a:r>
            <a:r>
              <a:rPr sz="2400" b="0" dirty="0">
                <a:latin typeface="Arial" panose="020B0604020202020204" pitchFamily="34" charset="0"/>
                <a:ea typeface="ヒラギノ角ゴ ProN W3" pitchFamily="112" charset="-128"/>
              </a:rPr>
              <a:t>“u</a:t>
            </a:r>
            <a:r>
              <a:rPr sz="2400" b="0" dirty="0">
                <a:latin typeface="Arial" panose="020B0604020202020204" pitchFamily="34" charset="0"/>
              </a:rPr>
              <a:t>nusual”. </a:t>
            </a:r>
            <a:endParaRPr sz="2400" b="0" dirty="0">
              <a:latin typeface="Arial" panose="020B0604020202020204" pitchFamily="34" charset="0"/>
            </a:endParaRPr>
          </a:p>
          <a:p>
            <a:endParaRPr sz="2400" b="0" dirty="0">
              <a:latin typeface="Arial" panose="020B0604020202020204" pitchFamily="34" charset="0"/>
            </a:endParaRPr>
          </a:p>
          <a:p>
            <a:r>
              <a:rPr sz="2400" b="0" dirty="0">
                <a:latin typeface="Arial" panose="020B0604020202020204" pitchFamily="34" charset="0"/>
              </a:rPr>
              <a:t>At first glance, 58 girls in 100 births does not seem to support the claim that the XSORT method increases the likelihood a having a girl (more than a 50% chance).</a:t>
            </a:r>
            <a:endParaRPr sz="2400" b="0" dirty="0">
              <a:latin typeface="Arial" panose="020B0604020202020204" pitchFamily="34" charset="0"/>
            </a:endParaRPr>
          </a:p>
        </p:txBody>
      </p:sp>
      <p:graphicFrame>
        <p:nvGraphicFramePr>
          <p:cNvPr id="19468" name="Object 12"/>
          <p:cNvGraphicFramePr>
            <a:graphicFrameLocks noChangeAspect="1"/>
          </p:cNvGraphicFramePr>
          <p:nvPr/>
        </p:nvGraphicFramePr>
        <p:xfrm>
          <a:off x="3946525" y="990600"/>
          <a:ext cx="4652963" cy="148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5778500" imgH="1841500" progId="Equation.DSMT4">
                  <p:embed/>
                </p:oleObj>
              </mc:Choice>
              <mc:Fallback>
                <p:oleObj name="" r:id="rId1" imgW="5778500" imgH="1841500" progId="Equation.DSMT4">
                  <p:embed/>
                  <p:pic>
                    <p:nvPicPr>
                      <p:cNvPr id="0" name="Picture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46525" y="990600"/>
                        <a:ext cx="4652963" cy="1482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ctrTitle" idx="4294967295"/>
          </p:nvPr>
        </p:nvSpPr>
        <p:spPr>
          <a:xfrm>
            <a:off x="1836738" y="147638"/>
            <a:ext cx="8648700" cy="1598612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/>
          <a:lstStyle>
            <a:lvl1pPr lvl="0">
              <a:buClrTx/>
              <a:buSzTx/>
              <a:buFontTx/>
              <a:defRPr/>
            </a:lvl1pPr>
          </a:lstStyle>
          <a:p>
            <a:pPr lvl="0"/>
            <a:r>
              <a:rPr dirty="0"/>
              <a:t>Types of Hypothesis Tests:</a:t>
            </a:r>
            <a:br>
              <a:rPr dirty="0"/>
            </a:br>
            <a:r>
              <a:rPr dirty="0"/>
              <a:t>Two-tailed, Left-tailed, Right-tailed</a:t>
            </a:r>
            <a:endParaRPr dirty="0"/>
          </a:p>
        </p:txBody>
      </p:sp>
      <p:sp>
        <p:nvSpPr>
          <p:cNvPr id="20483" name="Rectangle 3"/>
          <p:cNvSpPr>
            <a:spLocks noGrp="1"/>
          </p:cNvSpPr>
          <p:nvPr>
            <p:ph type="subTitle" idx="4294967295"/>
          </p:nvPr>
        </p:nvSpPr>
        <p:spPr>
          <a:xfrm>
            <a:off x="2029460" y="2062163"/>
            <a:ext cx="8147050" cy="1177925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/>
          <a:lstStyle>
            <a:lvl1pPr marL="0" lvl="0" indent="0" algn="ctr">
              <a:buClrTx/>
              <a:buSzPct val="100000"/>
              <a:buFontTx/>
              <a:buNone/>
              <a:defRPr/>
            </a:lvl1pPr>
            <a:lvl2pPr marL="457200" lvl="1" indent="0" algn="ctr">
              <a:buClrTx/>
              <a:buSzPct val="100000"/>
              <a:buFontTx/>
              <a:buNone/>
              <a:defRPr/>
            </a:lvl2pPr>
            <a:lvl3pPr marL="914400" lvl="2" indent="0" algn="ctr">
              <a:buClrTx/>
              <a:buSzPct val="100000"/>
              <a:buFontTx/>
              <a:buNone/>
              <a:defRPr/>
            </a:lvl3pPr>
            <a:lvl4pPr marL="1371600" lvl="3" indent="0" algn="ctr">
              <a:buClrTx/>
              <a:buSzPct val="100000"/>
              <a:buFontTx/>
              <a:buNone/>
              <a:defRPr/>
            </a:lvl4pPr>
            <a:lvl5pPr marL="1828800" lvl="4" indent="0" algn="ctr">
              <a:buClrTx/>
              <a:buSzTx/>
              <a:buFontTx/>
              <a:buNone/>
              <a:defRPr/>
            </a:lvl5pPr>
          </a:lstStyle>
          <a:p>
            <a:pPr lvl="0" algn="l">
              <a:spcBef>
                <a:spcPct val="0"/>
              </a:spcBef>
            </a:pPr>
            <a:r>
              <a:rPr b="0" dirty="0"/>
              <a:t>The </a:t>
            </a:r>
            <a:r>
              <a:rPr b="0" dirty="0">
                <a:solidFill>
                  <a:schemeClr val="hlink"/>
                </a:solidFill>
              </a:rPr>
              <a:t>tails</a:t>
            </a:r>
            <a:r>
              <a:rPr b="0" dirty="0"/>
              <a:t> in a distribution are the extreme regions bounded by critical values.</a:t>
            </a:r>
            <a:endParaRPr b="0" dirty="0"/>
          </a:p>
        </p:txBody>
      </p:sp>
      <p:sp>
        <p:nvSpPr>
          <p:cNvPr id="20484" name="Rectangle 4"/>
          <p:cNvSpPr/>
          <p:nvPr/>
        </p:nvSpPr>
        <p:spPr>
          <a:xfrm>
            <a:off x="2044700" y="3281680"/>
            <a:ext cx="8147050" cy="218186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/>
          <a:p>
            <a:pPr>
              <a:buSzPct val="100000"/>
            </a:pPr>
            <a:r>
              <a:rPr sz="2400" b="0" dirty="0">
                <a:latin typeface="Arial" panose="020B0604020202020204" pitchFamily="34" charset="0"/>
              </a:rPr>
              <a:t>Determinations of </a:t>
            </a:r>
            <a:r>
              <a:rPr sz="2400" b="0" i="1" dirty="0">
                <a:latin typeface="Arial" panose="020B0604020202020204" pitchFamily="34" charset="0"/>
              </a:rPr>
              <a:t>P</a:t>
            </a:r>
            <a:r>
              <a:rPr sz="2400" b="0" dirty="0">
                <a:latin typeface="Arial" panose="020B0604020202020204" pitchFamily="34" charset="0"/>
              </a:rPr>
              <a:t>-values and critical values are affected by whether a critical region is in two tails, the left tail, or the right tail. It, therefore, becomes important to correctly,</a:t>
            </a:r>
            <a:r>
              <a:rPr lang="en-US" sz="2400" b="0" dirty="0">
                <a:latin typeface="Arial" panose="020B0604020202020204" pitchFamily="34" charset="0"/>
              </a:rPr>
              <a:t> </a:t>
            </a:r>
            <a:r>
              <a:rPr sz="2400" b="0" dirty="0">
                <a:latin typeface="Arial" panose="020B0604020202020204" pitchFamily="34" charset="0"/>
              </a:rPr>
              <a:t>characterize a hypothesis test as two-tailed, left-tailed, or right-tailed. </a:t>
            </a:r>
            <a:endParaRPr sz="24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/>
          </p:cNvSpPr>
          <p:nvPr>
            <p:ph type="title" idx="4294967295"/>
          </p:nvPr>
        </p:nvSpPr>
        <p:spPr>
          <a:xfrm>
            <a:off x="2171700" y="169863"/>
            <a:ext cx="7772400" cy="769937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/>
          <a:p>
            <a:r>
              <a:rPr dirty="0"/>
              <a:t>Two-tailed Test</a:t>
            </a:r>
            <a:endParaRPr dirty="0"/>
          </a:p>
        </p:txBody>
      </p:sp>
      <p:pic>
        <p:nvPicPr>
          <p:cNvPr id="21507" name="Picture 47" descr="7_05_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2800" y="3124200"/>
            <a:ext cx="5257800" cy="27590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08" name="Rectangle 30"/>
          <p:cNvSpPr/>
          <p:nvPr/>
        </p:nvSpPr>
        <p:spPr>
          <a:xfrm>
            <a:off x="5334000" y="1676400"/>
            <a:ext cx="4724400" cy="79629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>
            <a:spAutoFit/>
          </a:bodyPr>
          <a:p>
            <a:pPr algn="ctr"/>
            <a:r>
              <a:rPr sz="2800" b="0" i="1" dirty="0">
                <a:latin typeface="Symbol" panose="05050102010706020507" pitchFamily="18" charset="2"/>
              </a:rPr>
              <a:t> </a:t>
            </a:r>
            <a:r>
              <a:rPr b="0" dirty="0">
                <a:latin typeface="Arial" panose="020B0604020202020204" pitchFamily="34" charset="0"/>
              </a:rPr>
              <a:t> </a:t>
            </a:r>
            <a:r>
              <a:rPr lang="el-GR" altLang="x-none" b="0" i="1" dirty="0">
                <a:latin typeface="Arial" panose="020B0604020202020204" pitchFamily="34" charset="0"/>
              </a:rPr>
              <a:t>α</a:t>
            </a:r>
            <a:r>
              <a:rPr b="0" dirty="0">
                <a:latin typeface="Arial" panose="020B0604020202020204" pitchFamily="34" charset="0"/>
              </a:rPr>
              <a:t> is divided equally between the two tails of the critical region</a:t>
            </a:r>
            <a:endParaRPr b="0" dirty="0">
              <a:latin typeface="Arial" panose="020B0604020202020204" pitchFamily="34" charset="0"/>
            </a:endParaRPr>
          </a:p>
        </p:txBody>
      </p:sp>
      <p:graphicFrame>
        <p:nvGraphicFramePr>
          <p:cNvPr id="21509" name="Object 3"/>
          <p:cNvGraphicFramePr>
            <a:graphicFrameLocks noChangeAspect="1"/>
          </p:cNvGraphicFramePr>
          <p:nvPr/>
        </p:nvGraphicFramePr>
        <p:xfrm>
          <a:off x="3276600" y="1371600"/>
          <a:ext cx="1000125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2" imgW="800100" imgH="965200" progId="Equation.DSMT4">
                  <p:embed/>
                </p:oleObj>
              </mc:Choice>
              <mc:Fallback>
                <p:oleObj name="" r:id="rId2" imgW="800100" imgH="965200" progId="Equation.DSMT4">
                  <p:embed/>
                  <p:pic>
                    <p:nvPicPr>
                      <p:cNvPr id="0" name="Picture 307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76600" y="1371600"/>
                        <a:ext cx="1000125" cy="1206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2"/>
          <p:cNvSpPr>
            <a:spLocks noGrp="1"/>
          </p:cNvSpPr>
          <p:nvPr>
            <p:ph type="title" idx="4294967295"/>
          </p:nvPr>
        </p:nvSpPr>
        <p:spPr>
          <a:xfrm>
            <a:off x="2171700" y="1397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/>
          <a:p>
            <a:r>
              <a:rPr dirty="0"/>
              <a:t>Left-tailed Test</a:t>
            </a:r>
            <a:endParaRPr dirty="0"/>
          </a:p>
        </p:txBody>
      </p:sp>
      <p:pic>
        <p:nvPicPr>
          <p:cNvPr id="22531" name="Picture 30" descr="7_05_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3800" y="2895600"/>
            <a:ext cx="5486400" cy="3019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2" name="Rectangle 35"/>
          <p:cNvSpPr/>
          <p:nvPr/>
        </p:nvSpPr>
        <p:spPr>
          <a:xfrm>
            <a:off x="6096000" y="1590675"/>
            <a:ext cx="3970338" cy="51943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>
            <a:spAutoFit/>
          </a:bodyPr>
          <a:p>
            <a:pPr algn="ctr"/>
            <a:r>
              <a:rPr sz="2800" b="0" i="1" dirty="0">
                <a:latin typeface="Symbol" panose="05050102010706020507" pitchFamily="18" charset="2"/>
              </a:rPr>
              <a:t></a:t>
            </a:r>
            <a:r>
              <a:rPr b="0" dirty="0">
                <a:latin typeface="Arial" panose="020B0604020202020204" pitchFamily="34" charset="0"/>
              </a:rPr>
              <a:t>  All </a:t>
            </a:r>
            <a:r>
              <a:rPr lang="el-GR" altLang="x-none" b="0" i="1" dirty="0">
                <a:latin typeface="Arial" panose="020B0604020202020204" pitchFamily="34" charset="0"/>
              </a:rPr>
              <a:t>α</a:t>
            </a:r>
            <a:r>
              <a:rPr b="0" dirty="0">
                <a:latin typeface="Arial" panose="020B0604020202020204" pitchFamily="34" charset="0"/>
              </a:rPr>
              <a:t> in the left tail</a:t>
            </a:r>
            <a:endParaRPr b="0" dirty="0">
              <a:latin typeface="Arial" panose="020B0604020202020204" pitchFamily="34" charset="0"/>
            </a:endParaRPr>
          </a:p>
        </p:txBody>
      </p:sp>
      <p:graphicFrame>
        <p:nvGraphicFramePr>
          <p:cNvPr id="22533" name="Object 2"/>
          <p:cNvGraphicFramePr>
            <a:graphicFrameLocks noChangeAspect="1"/>
          </p:cNvGraphicFramePr>
          <p:nvPr/>
        </p:nvGraphicFramePr>
        <p:xfrm>
          <a:off x="4333875" y="1166813"/>
          <a:ext cx="10001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2" imgW="799465" imgH="431800" progId="Equation.DSMT4">
                  <p:embed/>
                </p:oleObj>
              </mc:Choice>
              <mc:Fallback>
                <p:oleObj name="" r:id="rId2" imgW="799465" imgH="431800" progId="Equation.DSMT4">
                  <p:embed/>
                  <p:pic>
                    <p:nvPicPr>
                      <p:cNvPr id="0" name="Picture 307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333875" y="1166813"/>
                        <a:ext cx="1000125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Object 3"/>
          <p:cNvGraphicFramePr>
            <a:graphicFrameLocks noChangeAspect="1"/>
          </p:cNvGraphicFramePr>
          <p:nvPr/>
        </p:nvGraphicFramePr>
        <p:xfrm>
          <a:off x="4425950" y="1873250"/>
          <a:ext cx="9525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4" imgW="761365" imgH="431800" progId="Equation.DSMT4">
                  <p:embed/>
                </p:oleObj>
              </mc:Choice>
              <mc:Fallback>
                <p:oleObj name="" r:id="rId4" imgW="761365" imgH="431800" progId="Equation.DSMT4">
                  <p:embed/>
                  <p:pic>
                    <p:nvPicPr>
                      <p:cNvPr id="0" name="Picture 308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25950" y="1873250"/>
                        <a:ext cx="952500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2"/>
          <p:cNvSpPr>
            <a:spLocks noGrp="1"/>
          </p:cNvSpPr>
          <p:nvPr>
            <p:ph type="title" idx="4294967295"/>
          </p:nvPr>
        </p:nvSpPr>
        <p:spPr>
          <a:xfrm>
            <a:off x="2171700" y="215900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>
            <a:normAutofit fontScale="90000"/>
          </a:bodyPr>
          <a:p>
            <a:r>
              <a:rPr dirty="0"/>
              <a:t>Right-tailed Test</a:t>
            </a:r>
            <a:endParaRPr dirty="0"/>
          </a:p>
        </p:txBody>
      </p:sp>
      <p:pic>
        <p:nvPicPr>
          <p:cNvPr id="23555" name="Picture 30" descr="7_05_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4063" y="2819400"/>
            <a:ext cx="5688012" cy="3106738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23556" name="Object 2"/>
          <p:cNvGraphicFramePr>
            <a:graphicFrameLocks noChangeAspect="1"/>
          </p:cNvGraphicFramePr>
          <p:nvPr/>
        </p:nvGraphicFramePr>
        <p:xfrm>
          <a:off x="4279900" y="1249363"/>
          <a:ext cx="10001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2" imgW="799465" imgH="431800" progId="Equation.DSMT4">
                  <p:embed/>
                </p:oleObj>
              </mc:Choice>
              <mc:Fallback>
                <p:oleObj name="" r:id="rId2" imgW="799465" imgH="431800" progId="Equation.DSMT4">
                  <p:embed/>
                  <p:pic>
                    <p:nvPicPr>
                      <p:cNvPr id="0" name="Picture 308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279900" y="1249363"/>
                        <a:ext cx="1000125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3"/>
          <p:cNvGraphicFramePr>
            <a:graphicFrameLocks noChangeAspect="1"/>
          </p:cNvGraphicFramePr>
          <p:nvPr/>
        </p:nvGraphicFramePr>
        <p:xfrm>
          <a:off x="4371975" y="1955800"/>
          <a:ext cx="9525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4" imgW="761365" imgH="431800" progId="Equation.DSMT4">
                  <p:embed/>
                </p:oleObj>
              </mc:Choice>
              <mc:Fallback>
                <p:oleObj name="" r:id="rId4" imgW="761365" imgH="431800" progId="Equation.DSMT4">
                  <p:embed/>
                  <p:pic>
                    <p:nvPicPr>
                      <p:cNvPr id="0" name="Picture 308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71975" y="1955800"/>
                        <a:ext cx="952500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8" name="Rectangle 35"/>
          <p:cNvSpPr/>
          <p:nvPr/>
        </p:nvSpPr>
        <p:spPr>
          <a:xfrm>
            <a:off x="6096000" y="1590675"/>
            <a:ext cx="3970338" cy="51943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>
            <a:spAutoFit/>
          </a:bodyPr>
          <a:p>
            <a:pPr algn="ctr"/>
            <a:r>
              <a:rPr sz="2800" b="0" i="1" dirty="0">
                <a:latin typeface="Symbol" panose="05050102010706020507" pitchFamily="18" charset="2"/>
              </a:rPr>
              <a:t></a:t>
            </a:r>
            <a:r>
              <a:rPr b="0" dirty="0">
                <a:latin typeface="Arial" panose="020B0604020202020204" pitchFamily="34" charset="0"/>
              </a:rPr>
              <a:t>  All </a:t>
            </a:r>
            <a:r>
              <a:rPr lang="el-GR" altLang="x-none" b="0" i="1" dirty="0">
                <a:latin typeface="Arial" panose="020B0604020202020204" pitchFamily="34" charset="0"/>
              </a:rPr>
              <a:t>α</a:t>
            </a:r>
            <a:r>
              <a:rPr b="0" dirty="0">
                <a:latin typeface="Arial" panose="020B0604020202020204" pitchFamily="34" charset="0"/>
              </a:rPr>
              <a:t> in the right tail</a:t>
            </a:r>
            <a:endParaRPr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2"/>
          <p:cNvSpPr>
            <a:spLocks noGrp="1"/>
          </p:cNvSpPr>
          <p:nvPr>
            <p:ph type="title" idx="4294967295"/>
          </p:nvPr>
        </p:nvSpPr>
        <p:spPr>
          <a:xfrm>
            <a:off x="2165350" y="146050"/>
            <a:ext cx="7772400" cy="831850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/>
          <a:p>
            <a:r>
              <a:rPr i="1" dirty="0"/>
              <a:t>P</a:t>
            </a:r>
            <a:r>
              <a:rPr dirty="0"/>
              <a:t>-Value</a:t>
            </a:r>
            <a:endParaRPr dirty="0"/>
          </a:p>
        </p:txBody>
      </p:sp>
      <p:sp>
        <p:nvSpPr>
          <p:cNvPr id="24579" name="Text Box 3"/>
          <p:cNvSpPr txBox="1"/>
          <p:nvPr/>
        </p:nvSpPr>
        <p:spPr>
          <a:xfrm>
            <a:off x="2100263" y="1038225"/>
            <a:ext cx="8186737" cy="181483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r>
              <a:rPr sz="2800" b="0" dirty="0">
                <a:latin typeface="Arial" panose="020B0604020202020204" pitchFamily="34" charset="0"/>
              </a:rPr>
              <a:t>The </a:t>
            </a:r>
            <a:r>
              <a:rPr sz="2800" b="0" i="1" dirty="0">
                <a:solidFill>
                  <a:schemeClr val="hlink"/>
                </a:solidFill>
                <a:latin typeface="Arial" panose="020B0604020202020204" pitchFamily="34" charset="0"/>
              </a:rPr>
              <a:t>P</a:t>
            </a:r>
            <a:r>
              <a:rPr sz="2800" b="0" dirty="0">
                <a:solidFill>
                  <a:schemeClr val="hlink"/>
                </a:solidFill>
                <a:latin typeface="Arial" panose="020B0604020202020204" pitchFamily="34" charset="0"/>
              </a:rPr>
              <a:t>-value</a:t>
            </a:r>
            <a:r>
              <a:rPr sz="2800" b="0" dirty="0">
                <a:latin typeface="Arial" panose="020B0604020202020204" pitchFamily="34" charset="0"/>
                <a:sym typeface="Symbol" panose="05050102010706020507" pitchFamily="18" charset="2"/>
              </a:rPr>
              <a:t> (or </a:t>
            </a:r>
            <a:r>
              <a:rPr sz="2800" b="0" dirty="0">
                <a:solidFill>
                  <a:schemeClr val="hlink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probability</a:t>
            </a:r>
            <a:r>
              <a:rPr sz="2800" b="0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sz="2800" b="0" dirty="0">
                <a:solidFill>
                  <a:schemeClr val="hlink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value</a:t>
            </a:r>
            <a:r>
              <a:rPr sz="2800" b="0" dirty="0">
                <a:latin typeface="Arial" panose="020B0604020202020204" pitchFamily="34" charset="0"/>
                <a:sym typeface="Symbol" panose="05050102010706020507" pitchFamily="18" charset="2"/>
              </a:rPr>
              <a:t>) is the probability of getting a value of the test statistic that is </a:t>
            </a:r>
            <a:r>
              <a:rPr sz="2800" b="0" dirty="0">
                <a:solidFill>
                  <a:schemeClr val="hlink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at least as extreme</a:t>
            </a:r>
            <a:r>
              <a:rPr sz="2800" b="0" dirty="0">
                <a:latin typeface="Arial" panose="020B0604020202020204" pitchFamily="34" charset="0"/>
                <a:sym typeface="Symbol" panose="05050102010706020507" pitchFamily="18" charset="2"/>
              </a:rPr>
              <a:t> as the one representing the sample data, assuming that the null hypothesis is true.</a:t>
            </a:r>
            <a:endParaRPr sz="2800" b="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4580" name="Text Box 11"/>
          <p:cNvSpPr txBox="1"/>
          <p:nvPr/>
        </p:nvSpPr>
        <p:spPr>
          <a:xfrm>
            <a:off x="2112963" y="3317875"/>
            <a:ext cx="2908300" cy="95313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r>
              <a:rPr sz="2800" b="0" dirty="0">
                <a:latin typeface="Arial" panose="020B0604020202020204" pitchFamily="34" charset="0"/>
              </a:rPr>
              <a:t>Critical region in the </a:t>
            </a:r>
            <a:r>
              <a:rPr sz="2800" b="0" dirty="0">
                <a:solidFill>
                  <a:schemeClr val="hlink"/>
                </a:solidFill>
                <a:latin typeface="Arial" panose="020B0604020202020204" pitchFamily="34" charset="0"/>
              </a:rPr>
              <a:t>left</a:t>
            </a:r>
            <a:r>
              <a:rPr sz="2800" b="0" dirty="0">
                <a:latin typeface="Arial" panose="020B0604020202020204" pitchFamily="34" charset="0"/>
              </a:rPr>
              <a:t> tail:</a:t>
            </a:r>
            <a:endParaRPr sz="2800" b="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4581" name="Text Box 12"/>
          <p:cNvSpPr txBox="1"/>
          <p:nvPr/>
        </p:nvSpPr>
        <p:spPr>
          <a:xfrm>
            <a:off x="2112963" y="4487863"/>
            <a:ext cx="2908300" cy="95313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r>
              <a:rPr sz="2800" b="0" dirty="0">
                <a:latin typeface="Arial" panose="020B0604020202020204" pitchFamily="34" charset="0"/>
              </a:rPr>
              <a:t>Critical region in the </a:t>
            </a:r>
            <a:r>
              <a:rPr sz="2800" b="0" dirty="0">
                <a:solidFill>
                  <a:schemeClr val="hlink"/>
                </a:solidFill>
                <a:latin typeface="Arial" panose="020B0604020202020204" pitchFamily="34" charset="0"/>
              </a:rPr>
              <a:t>right</a:t>
            </a:r>
            <a:r>
              <a:rPr sz="2800" b="0" dirty="0">
                <a:latin typeface="Arial" panose="020B0604020202020204" pitchFamily="34" charset="0"/>
              </a:rPr>
              <a:t> tail:</a:t>
            </a:r>
            <a:endParaRPr sz="2800" b="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4582" name="Text Box 13"/>
          <p:cNvSpPr txBox="1"/>
          <p:nvPr/>
        </p:nvSpPr>
        <p:spPr>
          <a:xfrm>
            <a:off x="2112963" y="5611813"/>
            <a:ext cx="2908300" cy="95313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r>
              <a:rPr sz="2800" b="0" dirty="0">
                <a:latin typeface="Arial" panose="020B0604020202020204" pitchFamily="34" charset="0"/>
              </a:rPr>
              <a:t>Critical region in </a:t>
            </a:r>
            <a:r>
              <a:rPr sz="2800" b="0" dirty="0">
                <a:solidFill>
                  <a:schemeClr val="hlink"/>
                </a:solidFill>
                <a:latin typeface="Arial" panose="020B0604020202020204" pitchFamily="34" charset="0"/>
              </a:rPr>
              <a:t>two</a:t>
            </a:r>
            <a:r>
              <a:rPr sz="2800" b="0" dirty="0">
                <a:latin typeface="Arial" panose="020B0604020202020204" pitchFamily="34" charset="0"/>
              </a:rPr>
              <a:t> tails:</a:t>
            </a:r>
            <a:endParaRPr sz="2800" b="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4583" name="Text Box 14"/>
          <p:cNvSpPr txBox="1"/>
          <p:nvPr/>
        </p:nvSpPr>
        <p:spPr>
          <a:xfrm>
            <a:off x="5141913" y="3362325"/>
            <a:ext cx="5291137" cy="95313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r>
              <a:rPr sz="2800" b="0" i="1" dirty="0">
                <a:latin typeface="Arial" panose="020B0604020202020204" pitchFamily="34" charset="0"/>
              </a:rPr>
              <a:t>P</a:t>
            </a:r>
            <a:r>
              <a:rPr sz="2800" b="0" dirty="0">
                <a:latin typeface="Arial" panose="020B0604020202020204" pitchFamily="34" charset="0"/>
              </a:rPr>
              <a:t>-value = area to the </a:t>
            </a:r>
            <a:r>
              <a:rPr sz="2800" b="0" dirty="0">
                <a:solidFill>
                  <a:schemeClr val="hlink"/>
                </a:solidFill>
                <a:latin typeface="Arial" panose="020B0604020202020204" pitchFamily="34" charset="0"/>
              </a:rPr>
              <a:t>left </a:t>
            </a:r>
            <a:r>
              <a:rPr sz="2800" b="0" dirty="0">
                <a:latin typeface="Arial" panose="020B0604020202020204" pitchFamily="34" charset="0"/>
              </a:rPr>
              <a:t>of the test statistic</a:t>
            </a:r>
            <a:endParaRPr sz="2800" b="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4584" name="Text Box 15"/>
          <p:cNvSpPr txBox="1"/>
          <p:nvPr/>
        </p:nvSpPr>
        <p:spPr>
          <a:xfrm>
            <a:off x="5141913" y="4532313"/>
            <a:ext cx="5291137" cy="95313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r>
              <a:rPr sz="2800" b="0" i="1" dirty="0">
                <a:latin typeface="Arial" panose="020B0604020202020204" pitchFamily="34" charset="0"/>
              </a:rPr>
              <a:t>P</a:t>
            </a:r>
            <a:r>
              <a:rPr sz="2800" b="0" dirty="0">
                <a:latin typeface="Arial" panose="020B0604020202020204" pitchFamily="34" charset="0"/>
              </a:rPr>
              <a:t>-value = area to the </a:t>
            </a:r>
            <a:r>
              <a:rPr sz="2800" b="0" dirty="0">
                <a:solidFill>
                  <a:schemeClr val="hlink"/>
                </a:solidFill>
                <a:latin typeface="Arial" panose="020B0604020202020204" pitchFamily="34" charset="0"/>
              </a:rPr>
              <a:t>right </a:t>
            </a:r>
            <a:r>
              <a:rPr sz="2800" b="0" dirty="0">
                <a:latin typeface="Arial" panose="020B0604020202020204" pitchFamily="34" charset="0"/>
              </a:rPr>
              <a:t>of the test statistic</a:t>
            </a:r>
            <a:endParaRPr sz="2800" b="0" dirty="0">
              <a:latin typeface="Arial" panose="020B0604020202020204" pitchFamily="34" charset="0"/>
            </a:endParaRPr>
          </a:p>
        </p:txBody>
      </p:sp>
      <p:sp>
        <p:nvSpPr>
          <p:cNvPr id="24585" name="Text Box 16"/>
          <p:cNvSpPr txBox="1"/>
          <p:nvPr/>
        </p:nvSpPr>
        <p:spPr>
          <a:xfrm>
            <a:off x="5141913" y="5611813"/>
            <a:ext cx="5291137" cy="95313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r>
              <a:rPr sz="2800" b="0" i="1" dirty="0">
                <a:latin typeface="Arial" panose="020B0604020202020204" pitchFamily="34" charset="0"/>
              </a:rPr>
              <a:t>P</a:t>
            </a:r>
            <a:r>
              <a:rPr sz="2800" b="0" dirty="0">
                <a:latin typeface="Arial" panose="020B0604020202020204" pitchFamily="34" charset="0"/>
              </a:rPr>
              <a:t>-value = </a:t>
            </a:r>
            <a:r>
              <a:rPr sz="2800" b="0" dirty="0">
                <a:solidFill>
                  <a:schemeClr val="hlink"/>
                </a:solidFill>
                <a:latin typeface="Arial" panose="020B0604020202020204" pitchFamily="34" charset="0"/>
              </a:rPr>
              <a:t>twice</a:t>
            </a:r>
            <a:r>
              <a:rPr sz="2800" b="0" dirty="0">
                <a:latin typeface="Arial" panose="020B0604020202020204" pitchFamily="34" charset="0"/>
              </a:rPr>
              <a:t> the area in the tail beyond the test statistic</a:t>
            </a:r>
            <a:endParaRPr sz="28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Grp="1"/>
          </p:cNvSpPr>
          <p:nvPr>
            <p:ph type="title" idx="4294967295"/>
          </p:nvPr>
        </p:nvSpPr>
        <p:spPr>
          <a:xfrm>
            <a:off x="2165350" y="146050"/>
            <a:ext cx="7772400" cy="831850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/>
          <a:p>
            <a:r>
              <a:rPr i="1" dirty="0"/>
              <a:t>P</a:t>
            </a:r>
            <a:r>
              <a:rPr dirty="0"/>
              <a:t>-Value</a:t>
            </a:r>
            <a:endParaRPr dirty="0"/>
          </a:p>
        </p:txBody>
      </p:sp>
      <p:sp>
        <p:nvSpPr>
          <p:cNvPr id="25603" name="Text Box 3"/>
          <p:cNvSpPr txBox="1"/>
          <p:nvPr/>
        </p:nvSpPr>
        <p:spPr>
          <a:xfrm>
            <a:off x="2160588" y="1360488"/>
            <a:ext cx="7904162" cy="95313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r>
              <a:rPr sz="2800" b="0" dirty="0">
                <a:latin typeface="Arial" panose="020B0604020202020204" pitchFamily="34" charset="0"/>
                <a:sym typeface="Symbol" panose="05050102010706020507" pitchFamily="18" charset="2"/>
              </a:rPr>
              <a:t>The null hypothesis is rejected if the </a:t>
            </a:r>
            <a:r>
              <a:rPr sz="2800" b="0" i="1" dirty="0">
                <a:latin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sz="2800" b="0" dirty="0">
                <a:latin typeface="Arial" panose="020B0604020202020204" pitchFamily="34" charset="0"/>
                <a:sym typeface="Symbol" panose="05050102010706020507" pitchFamily="18" charset="2"/>
              </a:rPr>
              <a:t>-value is very small, such as 0.05 or less.</a:t>
            </a:r>
            <a:endParaRPr sz="2800" b="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/>
          </p:cNvSpPr>
          <p:nvPr>
            <p:ph type="title" idx="4294967295"/>
          </p:nvPr>
        </p:nvSpPr>
        <p:spPr>
          <a:xfrm>
            <a:off x="2017713" y="193675"/>
            <a:ext cx="8061325" cy="425450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>
            <a:normAutofit fontScale="90000"/>
          </a:bodyPr>
          <a:p>
            <a:r>
              <a:rPr sz="3200" dirty="0"/>
              <a:t>Example</a:t>
            </a:r>
            <a:endParaRPr sz="3200" dirty="0">
              <a:solidFill>
                <a:schemeClr val="tx1"/>
              </a:solidFill>
            </a:endParaRPr>
          </a:p>
        </p:txBody>
      </p:sp>
      <p:sp>
        <p:nvSpPr>
          <p:cNvPr id="26627" name="Rectangle 3"/>
          <p:cNvSpPr/>
          <p:nvPr/>
        </p:nvSpPr>
        <p:spPr>
          <a:xfrm>
            <a:off x="3362325" y="2403475"/>
            <a:ext cx="354013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26628" name="Rectangle 4"/>
          <p:cNvSpPr/>
          <p:nvPr/>
        </p:nvSpPr>
        <p:spPr>
          <a:xfrm>
            <a:off x="3032125" y="3017838"/>
            <a:ext cx="420688" cy="4762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26629" name="Rectangle 5"/>
          <p:cNvSpPr/>
          <p:nvPr/>
        </p:nvSpPr>
        <p:spPr>
          <a:xfrm>
            <a:off x="3260725" y="2989263"/>
            <a:ext cx="296863" cy="3127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26630" name="Rectangle 6"/>
          <p:cNvSpPr/>
          <p:nvPr/>
        </p:nvSpPr>
        <p:spPr>
          <a:xfrm>
            <a:off x="3413125" y="4127500"/>
            <a:ext cx="890588" cy="42068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26631" name="Rectangle 7"/>
          <p:cNvSpPr/>
          <p:nvPr/>
        </p:nvSpPr>
        <p:spPr>
          <a:xfrm>
            <a:off x="2117725" y="4694238"/>
            <a:ext cx="5807075" cy="1733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26632" name="Rectangle 8"/>
          <p:cNvSpPr/>
          <p:nvPr/>
        </p:nvSpPr>
        <p:spPr>
          <a:xfrm>
            <a:off x="2079625" y="1014413"/>
            <a:ext cx="8247063" cy="36830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/>
            <a:endParaRPr dirty="0">
              <a:latin typeface="Arial" panose="020B0604020202020204" pitchFamily="34" charset="0"/>
            </a:endParaRPr>
          </a:p>
        </p:txBody>
      </p:sp>
      <p:sp>
        <p:nvSpPr>
          <p:cNvPr id="26633" name="Rectangle 9"/>
          <p:cNvSpPr/>
          <p:nvPr/>
        </p:nvSpPr>
        <p:spPr>
          <a:xfrm>
            <a:off x="2051685" y="941388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p>
            <a:pPr algn="ctr"/>
            <a:endParaRPr dirty="0">
              <a:latin typeface="Arial" panose="020B0604020202020204" pitchFamily="34" charset="0"/>
            </a:endParaRPr>
          </a:p>
        </p:txBody>
      </p:sp>
      <p:sp>
        <p:nvSpPr>
          <p:cNvPr id="26634" name="Rectangle 10"/>
          <p:cNvSpPr/>
          <p:nvPr/>
        </p:nvSpPr>
        <p:spPr>
          <a:xfrm>
            <a:off x="2103438" y="941388"/>
            <a:ext cx="184150" cy="36830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/>
            <a:endParaRPr dirty="0">
              <a:latin typeface="Arial" panose="020B0604020202020204" pitchFamily="34" charset="0"/>
            </a:endParaRPr>
          </a:p>
        </p:txBody>
      </p:sp>
      <p:sp>
        <p:nvSpPr>
          <p:cNvPr id="26635" name="Rectangle 11"/>
          <p:cNvSpPr/>
          <p:nvPr/>
        </p:nvSpPr>
        <p:spPr>
          <a:xfrm>
            <a:off x="2039938" y="896938"/>
            <a:ext cx="8281987" cy="341503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r>
              <a:rPr sz="2400" b="0" dirty="0">
                <a:latin typeface="Arial" panose="020B0604020202020204" pitchFamily="34" charset="0"/>
              </a:rPr>
              <a:t>The claim that the XSORT method of gender selection increases the likelihood of having a baby girl results in the following null and alternative hypotheses:</a:t>
            </a:r>
            <a:endParaRPr sz="2400" b="0" dirty="0">
              <a:latin typeface="Arial" panose="020B0604020202020204" pitchFamily="34" charset="0"/>
            </a:endParaRPr>
          </a:p>
          <a:p>
            <a:endParaRPr sz="2400" b="0" dirty="0">
              <a:latin typeface="Arial" panose="020B0604020202020204" pitchFamily="34" charset="0"/>
            </a:endParaRPr>
          </a:p>
          <a:p>
            <a:endParaRPr sz="2400" b="0" dirty="0">
              <a:latin typeface="Arial" panose="020B0604020202020204" pitchFamily="34" charset="0"/>
            </a:endParaRPr>
          </a:p>
          <a:p>
            <a:endParaRPr sz="2400" b="0" dirty="0">
              <a:latin typeface="Arial" panose="020B0604020202020204" pitchFamily="34" charset="0"/>
            </a:endParaRPr>
          </a:p>
          <a:p>
            <a:endParaRPr sz="2400" b="0" dirty="0">
              <a:latin typeface="Arial" panose="020B0604020202020204" pitchFamily="34" charset="0"/>
            </a:endParaRPr>
          </a:p>
          <a:p>
            <a:r>
              <a:rPr sz="2400" b="0" dirty="0">
                <a:latin typeface="Arial" panose="020B0604020202020204" pitchFamily="34" charset="0"/>
              </a:rPr>
              <a:t>The test statistic was :</a:t>
            </a:r>
            <a:endParaRPr sz="2400" b="0" dirty="0">
              <a:latin typeface="Arial" panose="020B0604020202020204" pitchFamily="34" charset="0"/>
            </a:endParaRPr>
          </a:p>
          <a:p>
            <a:endParaRPr sz="2400" b="0" dirty="0">
              <a:latin typeface="Arial" panose="020B0604020202020204" pitchFamily="34" charset="0"/>
            </a:endParaRPr>
          </a:p>
        </p:txBody>
      </p:sp>
      <p:graphicFrame>
        <p:nvGraphicFramePr>
          <p:cNvPr id="26636" name="Object 16"/>
          <p:cNvGraphicFramePr>
            <a:graphicFrameLocks noChangeAspect="1"/>
          </p:cNvGraphicFramePr>
          <p:nvPr/>
        </p:nvGraphicFramePr>
        <p:xfrm>
          <a:off x="5029200" y="2133600"/>
          <a:ext cx="17526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762000" imgH="457200" progId="Equation.DSMT4">
                  <p:embed/>
                </p:oleObj>
              </mc:Choice>
              <mc:Fallback>
                <p:oleObj name="" r:id="rId1" imgW="762000" imgH="457200" progId="Equation.DSMT4">
                  <p:embed/>
                  <p:pic>
                    <p:nvPicPr>
                      <p:cNvPr id="0" name="Picture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029200" y="2133600"/>
                        <a:ext cx="1752600" cy="1050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7" name="Object 1"/>
          <p:cNvGraphicFramePr>
            <a:graphicFrameLocks noChangeAspect="1"/>
          </p:cNvGraphicFramePr>
          <p:nvPr/>
        </p:nvGraphicFramePr>
        <p:xfrm>
          <a:off x="3876675" y="4205605"/>
          <a:ext cx="4048125" cy="1289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3" imgW="5778500" imgH="1841500" progId="Equation.DSMT4">
                  <p:embed/>
                </p:oleObj>
              </mc:Choice>
              <mc:Fallback>
                <p:oleObj name="" r:id="rId3" imgW="5778500" imgH="1841500" progId="Equation.DSMT4">
                  <p:embed/>
                  <p:pic>
                    <p:nvPicPr>
                      <p:cNvPr id="0" name="Picture 308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76675" y="4205605"/>
                        <a:ext cx="4048125" cy="12896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/>
          </p:cNvSpPr>
          <p:nvPr>
            <p:ph type="title" idx="4294967295"/>
          </p:nvPr>
        </p:nvSpPr>
        <p:spPr>
          <a:xfrm>
            <a:off x="2017713" y="193675"/>
            <a:ext cx="8061325" cy="425450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>
            <a:normAutofit fontScale="90000"/>
          </a:bodyPr>
          <a:p>
            <a:r>
              <a:rPr sz="3200" dirty="0"/>
              <a:t>Example</a:t>
            </a:r>
            <a:endParaRPr sz="3200" dirty="0">
              <a:solidFill>
                <a:schemeClr val="tx1"/>
              </a:solidFill>
            </a:endParaRPr>
          </a:p>
        </p:txBody>
      </p:sp>
      <p:sp>
        <p:nvSpPr>
          <p:cNvPr id="27651" name="Rectangle 3"/>
          <p:cNvSpPr/>
          <p:nvPr/>
        </p:nvSpPr>
        <p:spPr>
          <a:xfrm>
            <a:off x="3362325" y="2403475"/>
            <a:ext cx="354013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27652" name="Rectangle 4"/>
          <p:cNvSpPr/>
          <p:nvPr/>
        </p:nvSpPr>
        <p:spPr>
          <a:xfrm>
            <a:off x="3032125" y="3017838"/>
            <a:ext cx="420688" cy="4762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27653" name="Rectangle 5"/>
          <p:cNvSpPr/>
          <p:nvPr/>
        </p:nvSpPr>
        <p:spPr>
          <a:xfrm>
            <a:off x="3260725" y="2989263"/>
            <a:ext cx="296863" cy="3127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27654" name="Rectangle 6"/>
          <p:cNvSpPr/>
          <p:nvPr/>
        </p:nvSpPr>
        <p:spPr>
          <a:xfrm>
            <a:off x="3413125" y="4127500"/>
            <a:ext cx="890588" cy="42068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27655" name="Rectangle 7"/>
          <p:cNvSpPr/>
          <p:nvPr/>
        </p:nvSpPr>
        <p:spPr>
          <a:xfrm>
            <a:off x="2117725" y="4694238"/>
            <a:ext cx="5807075" cy="1733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27656" name="Rectangle 8"/>
          <p:cNvSpPr/>
          <p:nvPr/>
        </p:nvSpPr>
        <p:spPr>
          <a:xfrm>
            <a:off x="2079625" y="1014413"/>
            <a:ext cx="8247063" cy="36830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/>
            <a:endParaRPr dirty="0">
              <a:latin typeface="Arial" panose="020B0604020202020204" pitchFamily="34" charset="0"/>
            </a:endParaRPr>
          </a:p>
        </p:txBody>
      </p:sp>
      <p:sp>
        <p:nvSpPr>
          <p:cNvPr id="27657" name="Rectangle 9"/>
          <p:cNvSpPr/>
          <p:nvPr/>
        </p:nvSpPr>
        <p:spPr>
          <a:xfrm>
            <a:off x="2051685" y="941388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p>
            <a:pPr algn="ctr"/>
            <a:endParaRPr dirty="0">
              <a:latin typeface="Arial" panose="020B0604020202020204" pitchFamily="34" charset="0"/>
            </a:endParaRPr>
          </a:p>
        </p:txBody>
      </p:sp>
      <p:sp>
        <p:nvSpPr>
          <p:cNvPr id="27658" name="Rectangle 10"/>
          <p:cNvSpPr/>
          <p:nvPr/>
        </p:nvSpPr>
        <p:spPr>
          <a:xfrm>
            <a:off x="2103438" y="941388"/>
            <a:ext cx="184150" cy="36830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/>
            <a:endParaRPr dirty="0">
              <a:latin typeface="Arial" panose="020B0604020202020204" pitchFamily="34" charset="0"/>
            </a:endParaRPr>
          </a:p>
        </p:txBody>
      </p:sp>
      <p:sp>
        <p:nvSpPr>
          <p:cNvPr id="27659" name="Rectangle 11"/>
          <p:cNvSpPr/>
          <p:nvPr/>
        </p:nvSpPr>
        <p:spPr>
          <a:xfrm>
            <a:off x="2039938" y="1362075"/>
            <a:ext cx="8281987" cy="341503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r>
              <a:rPr sz="2400" b="0" dirty="0">
                <a:latin typeface="Arial" panose="020B0604020202020204" pitchFamily="34" charset="0"/>
              </a:rPr>
              <a:t>The test statistic of </a:t>
            </a:r>
            <a:r>
              <a:rPr sz="2400" b="0" i="1" dirty="0">
                <a:latin typeface="Arial" panose="020B0604020202020204" pitchFamily="34" charset="0"/>
              </a:rPr>
              <a:t>z</a:t>
            </a:r>
            <a:r>
              <a:rPr sz="2400" b="0" dirty="0">
                <a:latin typeface="Arial" panose="020B0604020202020204" pitchFamily="34" charset="0"/>
              </a:rPr>
              <a:t> = 1.60 has an area of 0.0548 to its right, so a right-tailed test with test statistic </a:t>
            </a:r>
            <a:r>
              <a:rPr sz="2400" b="0" i="1" dirty="0">
                <a:latin typeface="Arial" panose="020B0604020202020204" pitchFamily="34" charset="0"/>
              </a:rPr>
              <a:t>z</a:t>
            </a:r>
            <a:r>
              <a:rPr sz="2400" b="0" dirty="0">
                <a:latin typeface="Arial" panose="020B0604020202020204" pitchFamily="34" charset="0"/>
              </a:rPr>
              <a:t> = 1.60 has a </a:t>
            </a:r>
            <a:r>
              <a:rPr sz="2400" b="0" i="1" dirty="0">
                <a:latin typeface="Arial" panose="020B0604020202020204" pitchFamily="34" charset="0"/>
              </a:rPr>
              <a:t>P</a:t>
            </a:r>
            <a:r>
              <a:rPr sz="2400" b="0" dirty="0">
                <a:latin typeface="Arial" panose="020B0604020202020204" pitchFamily="34" charset="0"/>
              </a:rPr>
              <a:t>-value of 0.0548</a:t>
            </a:r>
            <a:endParaRPr sz="2400" b="0" dirty="0">
              <a:latin typeface="Arial" panose="020B0604020202020204" pitchFamily="34" charset="0"/>
            </a:endParaRPr>
          </a:p>
          <a:p>
            <a:endParaRPr sz="2400" b="0" dirty="0">
              <a:latin typeface="Arial" panose="020B0604020202020204" pitchFamily="34" charset="0"/>
            </a:endParaRPr>
          </a:p>
          <a:p>
            <a:endParaRPr sz="2400" b="0" dirty="0">
              <a:latin typeface="Arial" panose="020B0604020202020204" pitchFamily="34" charset="0"/>
            </a:endParaRPr>
          </a:p>
          <a:p>
            <a:endParaRPr sz="2400" b="0" dirty="0">
              <a:latin typeface="Arial" panose="020B0604020202020204" pitchFamily="34" charset="0"/>
            </a:endParaRPr>
          </a:p>
          <a:p>
            <a:endParaRPr sz="2400" b="0" dirty="0">
              <a:latin typeface="Arial" panose="020B0604020202020204" pitchFamily="34" charset="0"/>
            </a:endParaRPr>
          </a:p>
          <a:p>
            <a:endParaRPr sz="2400" b="0" dirty="0">
              <a:latin typeface="Arial" panose="020B0604020202020204" pitchFamily="34" charset="0"/>
            </a:endParaRPr>
          </a:p>
          <a:p>
            <a:endParaRPr sz="24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8674" name="Picture 14" descr="08_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8805" y="779145"/>
            <a:ext cx="7295515" cy="53517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675" name="Rectangle 2"/>
          <p:cNvSpPr>
            <a:spLocks noGrp="1"/>
          </p:cNvSpPr>
          <p:nvPr>
            <p:ph type="title" idx="4294967295"/>
          </p:nvPr>
        </p:nvSpPr>
        <p:spPr>
          <a:xfrm>
            <a:off x="2074863" y="250825"/>
            <a:ext cx="8064500" cy="646113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>
            <a:normAutofit fontScale="90000"/>
          </a:bodyPr>
          <a:p>
            <a:r>
              <a:rPr dirty="0"/>
              <a:t>Procedure for Finding </a:t>
            </a:r>
            <a:r>
              <a:rPr i="1" dirty="0"/>
              <a:t>P</a:t>
            </a:r>
            <a:r>
              <a:rPr dirty="0"/>
              <a:t>-Values</a:t>
            </a:r>
            <a:endParaRPr b="0" dirty="0">
              <a:solidFill>
                <a:schemeClr val="tx1"/>
              </a:solidFill>
            </a:endParaRPr>
          </a:p>
        </p:txBody>
      </p:sp>
      <p:sp>
        <p:nvSpPr>
          <p:cNvPr id="28676" name="Rectangle 3"/>
          <p:cNvSpPr/>
          <p:nvPr/>
        </p:nvSpPr>
        <p:spPr>
          <a:xfrm>
            <a:off x="3362325" y="2403475"/>
            <a:ext cx="354013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28677" name="Rectangle 4"/>
          <p:cNvSpPr/>
          <p:nvPr/>
        </p:nvSpPr>
        <p:spPr>
          <a:xfrm>
            <a:off x="3032125" y="3017838"/>
            <a:ext cx="420688" cy="4762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28678" name="Rectangle 5"/>
          <p:cNvSpPr/>
          <p:nvPr/>
        </p:nvSpPr>
        <p:spPr>
          <a:xfrm>
            <a:off x="3260725" y="2989263"/>
            <a:ext cx="296863" cy="3127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28679" name="Rectangle 6"/>
          <p:cNvSpPr/>
          <p:nvPr/>
        </p:nvSpPr>
        <p:spPr>
          <a:xfrm>
            <a:off x="3413125" y="4127500"/>
            <a:ext cx="890588" cy="42068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28680" name="Rectangle 7"/>
          <p:cNvSpPr/>
          <p:nvPr/>
        </p:nvSpPr>
        <p:spPr>
          <a:xfrm>
            <a:off x="2117725" y="4694238"/>
            <a:ext cx="5807075" cy="1733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2"/>
          <p:cNvSpPr>
            <a:spLocks noGrp="1"/>
          </p:cNvSpPr>
          <p:nvPr>
            <p:ph type="title" idx="4294967295"/>
          </p:nvPr>
        </p:nvSpPr>
        <p:spPr>
          <a:xfrm>
            <a:off x="2152650" y="520700"/>
            <a:ext cx="7772400" cy="708025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>
            <a:normAutofit fontScale="90000"/>
          </a:bodyPr>
          <a:p>
            <a:r>
              <a:rPr dirty="0"/>
              <a:t>Critical Region</a:t>
            </a:r>
            <a:endParaRPr dirty="0"/>
          </a:p>
        </p:txBody>
      </p:sp>
      <p:sp>
        <p:nvSpPr>
          <p:cNvPr id="29699" name="Text Box 5"/>
          <p:cNvSpPr txBox="1"/>
          <p:nvPr/>
        </p:nvSpPr>
        <p:spPr>
          <a:xfrm>
            <a:off x="2166938" y="2151539"/>
            <a:ext cx="7883525" cy="224536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r>
              <a:rPr sz="2800" b="0" dirty="0">
                <a:latin typeface="Arial" panose="020B0604020202020204" pitchFamily="34" charset="0"/>
              </a:rPr>
              <a:t>The </a:t>
            </a:r>
            <a:r>
              <a:rPr sz="2800" b="0" dirty="0">
                <a:solidFill>
                  <a:schemeClr val="hlink"/>
                </a:solidFill>
                <a:latin typeface="Arial" panose="020B0604020202020204" pitchFamily="34" charset="0"/>
              </a:rPr>
              <a:t>critical region</a:t>
            </a:r>
            <a:r>
              <a:rPr sz="2800" b="0" dirty="0">
                <a:latin typeface="Arial" panose="020B0604020202020204" pitchFamily="34" charset="0"/>
              </a:rPr>
              <a:t> (or </a:t>
            </a:r>
            <a:r>
              <a:rPr sz="2800" b="0" dirty="0">
                <a:solidFill>
                  <a:schemeClr val="hlink"/>
                </a:solidFill>
                <a:latin typeface="Arial" panose="020B0604020202020204" pitchFamily="34" charset="0"/>
              </a:rPr>
              <a:t>rejection region</a:t>
            </a:r>
            <a:r>
              <a:rPr lang="en-US" sz="2800" b="0" dirty="0">
                <a:solidFill>
                  <a:schemeClr val="hlink"/>
                </a:solidFill>
                <a:latin typeface="Arial" panose="020B0604020202020204" pitchFamily="34" charset="0"/>
              </a:rPr>
              <a:t>, miền bác bỏ</a:t>
            </a:r>
            <a:r>
              <a:rPr sz="2800" b="0" dirty="0">
                <a:latin typeface="Arial" panose="020B0604020202020204" pitchFamily="34" charset="0"/>
              </a:rPr>
              <a:t>) is the set of all values of the test statistic that cause us to reject the null hypothesis.  For example, see the red-shaded region in the previous figures.</a:t>
            </a:r>
            <a:endParaRPr sz="28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2"/>
          <p:cNvSpPr>
            <a:spLocks noGrp="1"/>
          </p:cNvSpPr>
          <p:nvPr>
            <p:ph type="title" idx="4294967295"/>
          </p:nvPr>
        </p:nvSpPr>
        <p:spPr>
          <a:xfrm>
            <a:off x="2171700" y="376555"/>
            <a:ext cx="7772400" cy="673100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>
            <a:normAutofit fontScale="90000"/>
          </a:bodyPr>
          <a:p>
            <a:r>
              <a:rPr dirty="0"/>
              <a:t>Critical Value</a:t>
            </a:r>
            <a:endParaRPr dirty="0"/>
          </a:p>
        </p:txBody>
      </p:sp>
      <p:sp>
        <p:nvSpPr>
          <p:cNvPr id="30723" name="Text Box 5"/>
          <p:cNvSpPr txBox="1"/>
          <p:nvPr/>
        </p:nvSpPr>
        <p:spPr>
          <a:xfrm>
            <a:off x="2151063" y="1537970"/>
            <a:ext cx="8107362" cy="3969385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r>
              <a:rPr sz="2800" b="0" dirty="0">
                <a:latin typeface="Arial" panose="020B0604020202020204" pitchFamily="34" charset="0"/>
              </a:rPr>
              <a:t>A </a:t>
            </a:r>
            <a:r>
              <a:rPr sz="2800" b="0" dirty="0">
                <a:solidFill>
                  <a:schemeClr val="hlink"/>
                </a:solidFill>
                <a:latin typeface="Arial" panose="020B0604020202020204" pitchFamily="34" charset="0"/>
              </a:rPr>
              <a:t>critical value</a:t>
            </a:r>
            <a:r>
              <a:rPr sz="2800" b="0" dirty="0">
                <a:latin typeface="Arial" panose="020B0604020202020204" pitchFamily="34" charset="0"/>
              </a:rPr>
              <a:t> is any value that separates the critical region (where we reject the null hypothesis) from the values of the test statistic that do not lead to rejection of the null hypothesis.</a:t>
            </a:r>
            <a:endParaRPr sz="2800" b="0" dirty="0">
              <a:latin typeface="Arial" panose="020B0604020202020204" pitchFamily="34" charset="0"/>
            </a:endParaRPr>
          </a:p>
          <a:p>
            <a:endParaRPr sz="2800" b="0" dirty="0">
              <a:latin typeface="Arial" panose="020B0604020202020204" pitchFamily="34" charset="0"/>
            </a:endParaRPr>
          </a:p>
          <a:p>
            <a:r>
              <a:rPr sz="2800" b="0" dirty="0">
                <a:latin typeface="Arial" panose="020B0604020202020204" pitchFamily="34" charset="0"/>
              </a:rPr>
              <a:t>The critical values depend on the nature of the null hypothesis, the sampling distribution</a:t>
            </a:r>
            <a:r>
              <a:rPr sz="2800" b="0" dirty="0">
                <a:latin typeface="Times New Roman" panose="02020603050405020304" pitchFamily="18" charset="0"/>
              </a:rPr>
              <a:t> </a:t>
            </a:r>
            <a:r>
              <a:rPr sz="2800" b="0" dirty="0">
                <a:latin typeface="Arial" panose="020B0604020202020204" pitchFamily="34" charset="0"/>
              </a:rPr>
              <a:t>that applies, and</a:t>
            </a:r>
            <a:r>
              <a:rPr sz="2800" b="0" dirty="0">
                <a:latin typeface="Times New Roman" panose="02020603050405020304" pitchFamily="18" charset="0"/>
              </a:rPr>
              <a:t> </a:t>
            </a:r>
            <a:r>
              <a:rPr sz="2800" b="0" dirty="0">
                <a:latin typeface="Arial" panose="020B0604020202020204" pitchFamily="34" charset="0"/>
              </a:rPr>
              <a:t>the significance level</a:t>
            </a:r>
            <a:r>
              <a:rPr sz="2800" b="0" dirty="0">
                <a:latin typeface="Times New Roman" panose="02020603050405020304" pitchFamily="18" charset="0"/>
              </a:rPr>
              <a:t> </a:t>
            </a:r>
            <a:r>
              <a:rPr lang="el-GR" altLang="x-none" sz="2800" b="0" i="1" dirty="0">
                <a:latin typeface="Times New Roman" panose="02020603050405020304" pitchFamily="18" charset="0"/>
              </a:rPr>
              <a:t>α</a:t>
            </a:r>
            <a:r>
              <a:rPr sz="2800" b="0" dirty="0">
                <a:latin typeface="Times New Roman" panose="02020603050405020304" pitchFamily="18" charset="0"/>
                <a:sym typeface="Symbol" panose="05050102010706020507" pitchFamily="18" charset="2"/>
              </a:rPr>
              <a:t>.  </a:t>
            </a:r>
            <a:endParaRPr sz="2800" b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endParaRPr sz="2800" b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2"/>
          <p:cNvSpPr>
            <a:spLocks noGrp="1"/>
          </p:cNvSpPr>
          <p:nvPr>
            <p:ph type="title" idx="4294967295"/>
          </p:nvPr>
        </p:nvSpPr>
        <p:spPr>
          <a:xfrm>
            <a:off x="2017713" y="398145"/>
            <a:ext cx="8061325" cy="425450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>
            <a:normAutofit fontScale="90000"/>
          </a:bodyPr>
          <a:p>
            <a:r>
              <a:rPr sz="3200" dirty="0"/>
              <a:t>Example</a:t>
            </a:r>
            <a:endParaRPr sz="3200" dirty="0">
              <a:solidFill>
                <a:schemeClr val="tx1"/>
              </a:solidFill>
            </a:endParaRPr>
          </a:p>
        </p:txBody>
      </p:sp>
      <p:sp>
        <p:nvSpPr>
          <p:cNvPr id="31747" name="Rectangle 3"/>
          <p:cNvSpPr/>
          <p:nvPr/>
        </p:nvSpPr>
        <p:spPr>
          <a:xfrm>
            <a:off x="3362325" y="2403475"/>
            <a:ext cx="354013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31748" name="Rectangle 4"/>
          <p:cNvSpPr/>
          <p:nvPr/>
        </p:nvSpPr>
        <p:spPr>
          <a:xfrm>
            <a:off x="3032125" y="3017838"/>
            <a:ext cx="420688" cy="4762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31749" name="Rectangle 5"/>
          <p:cNvSpPr/>
          <p:nvPr/>
        </p:nvSpPr>
        <p:spPr>
          <a:xfrm>
            <a:off x="3260725" y="2989263"/>
            <a:ext cx="296863" cy="3127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31750" name="Rectangle 6"/>
          <p:cNvSpPr/>
          <p:nvPr/>
        </p:nvSpPr>
        <p:spPr>
          <a:xfrm>
            <a:off x="3413125" y="4127500"/>
            <a:ext cx="890588" cy="42068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31751" name="Rectangle 7"/>
          <p:cNvSpPr/>
          <p:nvPr/>
        </p:nvSpPr>
        <p:spPr>
          <a:xfrm>
            <a:off x="2117725" y="4694238"/>
            <a:ext cx="5807075" cy="1733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31752" name="Rectangle 8"/>
          <p:cNvSpPr/>
          <p:nvPr/>
        </p:nvSpPr>
        <p:spPr>
          <a:xfrm>
            <a:off x="2079625" y="1014413"/>
            <a:ext cx="8247063" cy="36830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/>
            <a:endParaRPr dirty="0">
              <a:latin typeface="Arial" panose="020B0604020202020204" pitchFamily="34" charset="0"/>
            </a:endParaRPr>
          </a:p>
        </p:txBody>
      </p:sp>
      <p:sp>
        <p:nvSpPr>
          <p:cNvPr id="31753" name="Rectangle 9"/>
          <p:cNvSpPr/>
          <p:nvPr/>
        </p:nvSpPr>
        <p:spPr>
          <a:xfrm>
            <a:off x="2051685" y="941388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p>
            <a:pPr algn="ctr"/>
            <a:endParaRPr dirty="0">
              <a:latin typeface="Arial" panose="020B0604020202020204" pitchFamily="34" charset="0"/>
            </a:endParaRPr>
          </a:p>
        </p:txBody>
      </p:sp>
      <p:sp>
        <p:nvSpPr>
          <p:cNvPr id="31754" name="Rectangle 10"/>
          <p:cNvSpPr/>
          <p:nvPr/>
        </p:nvSpPr>
        <p:spPr>
          <a:xfrm>
            <a:off x="2103438" y="941388"/>
            <a:ext cx="184150" cy="36830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/>
            <a:endParaRPr dirty="0">
              <a:latin typeface="Arial" panose="020B0604020202020204" pitchFamily="34" charset="0"/>
            </a:endParaRPr>
          </a:p>
        </p:txBody>
      </p:sp>
      <p:sp>
        <p:nvSpPr>
          <p:cNvPr id="31755" name="Rectangle 11"/>
          <p:cNvSpPr/>
          <p:nvPr/>
        </p:nvSpPr>
        <p:spPr>
          <a:xfrm>
            <a:off x="2039938" y="1362075"/>
            <a:ext cx="8281987" cy="304609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r>
              <a:rPr sz="2400" b="0" dirty="0">
                <a:latin typeface="Arial" panose="020B0604020202020204" pitchFamily="34" charset="0"/>
              </a:rPr>
              <a:t>For the XSORT birth hypothesis test, the critical value and critical region for an </a:t>
            </a:r>
            <a:r>
              <a:rPr lang="el-GR" altLang="x-none" sz="2400" b="0" i="1" dirty="0">
                <a:latin typeface="Arial" panose="020B0604020202020204" pitchFamily="34" charset="0"/>
              </a:rPr>
              <a:t>α</a:t>
            </a:r>
            <a:r>
              <a:rPr sz="2400" b="0" dirty="0">
                <a:latin typeface="Arial" panose="020B0604020202020204" pitchFamily="34" charset="0"/>
              </a:rPr>
              <a:t> = 0.05 test are shown below:</a:t>
            </a:r>
            <a:endParaRPr sz="2400" b="0" dirty="0">
              <a:latin typeface="Arial" panose="020B0604020202020204" pitchFamily="34" charset="0"/>
            </a:endParaRPr>
          </a:p>
          <a:p>
            <a:endParaRPr sz="2400" b="0" dirty="0">
              <a:latin typeface="Arial" panose="020B0604020202020204" pitchFamily="34" charset="0"/>
            </a:endParaRPr>
          </a:p>
          <a:p>
            <a:endParaRPr sz="2400" b="0" dirty="0">
              <a:latin typeface="Arial" panose="020B0604020202020204" pitchFamily="34" charset="0"/>
            </a:endParaRPr>
          </a:p>
          <a:p>
            <a:endParaRPr sz="2400" b="0" dirty="0">
              <a:latin typeface="Arial" panose="020B0604020202020204" pitchFamily="34" charset="0"/>
            </a:endParaRPr>
          </a:p>
          <a:p>
            <a:endParaRPr sz="2400" b="0" dirty="0">
              <a:latin typeface="Arial" panose="020B0604020202020204" pitchFamily="34" charset="0"/>
            </a:endParaRPr>
          </a:p>
          <a:p>
            <a:endParaRPr sz="2400" b="0" dirty="0">
              <a:latin typeface="Arial" panose="020B0604020202020204" pitchFamily="34" charset="0"/>
            </a:endParaRPr>
          </a:p>
          <a:p>
            <a:endParaRPr sz="2400" b="0" dirty="0">
              <a:latin typeface="Arial" panose="020B0604020202020204" pitchFamily="34" charset="0"/>
            </a:endParaRPr>
          </a:p>
        </p:txBody>
      </p:sp>
      <p:pic>
        <p:nvPicPr>
          <p:cNvPr id="31756" name="Picture 12" descr="C:\Users\Joe\Desktop\Triola Job\Graphics\Round_2_png_files\Chapter-0802-Slide-3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2800" y="2209800"/>
            <a:ext cx="5562600" cy="3879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2"/>
          <p:cNvSpPr>
            <a:spLocks noGrp="1"/>
          </p:cNvSpPr>
          <p:nvPr>
            <p:ph type="ctrTitle" idx="4294967295"/>
          </p:nvPr>
        </p:nvSpPr>
        <p:spPr>
          <a:xfrm>
            <a:off x="1847850" y="144463"/>
            <a:ext cx="8648700" cy="901700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/>
          <a:lstStyle>
            <a:lvl1pPr lvl="0">
              <a:buClrTx/>
              <a:buSzTx/>
              <a:buFontTx/>
              <a:defRPr/>
            </a:lvl1pPr>
          </a:lstStyle>
          <a:p>
            <a:pPr lvl="0"/>
            <a:r>
              <a:rPr dirty="0"/>
              <a:t>Caution</a:t>
            </a:r>
            <a:endParaRPr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1868488" y="1568450"/>
            <a:ext cx="8736013" cy="4222750"/>
          </a:xfrm>
          <a:prstGeom prst="rect">
            <a:avLst/>
          </a:prstGeom>
        </p:spPr>
        <p:txBody>
          <a:bodyPr lIns="90488" tIns="44450" rIns="90488" bIns="44450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Don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ヒラギノ角ゴ ProN W3" pitchFamily="112" charset="-128"/>
                <a:cs typeface="+mn-cs"/>
              </a:rPr>
              <a:t>’t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confuse a </a:t>
            </a: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-value with a proportion </a:t>
            </a: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Know this distinction: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1257300" algn="l"/>
              </a:tabLst>
              <a:defRPr/>
            </a:pP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-value = probability of getting a test statistic at least as extreme as the one representing sample data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941830" marR="0" lvl="0" indent="-1941830" algn="l" defTabSz="9144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Tx/>
              <a:buChar char="•"/>
              <a:tabLst>
                <a:tab pos="1257300" algn="l"/>
              </a:tabLst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1257300" algn="l"/>
              </a:tabLst>
              <a:defRPr/>
            </a:pP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population proportion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772" name="Rectangle 4"/>
          <p:cNvSpPr/>
          <p:nvPr/>
        </p:nvSpPr>
        <p:spPr>
          <a:xfrm>
            <a:off x="2124075" y="2800350"/>
            <a:ext cx="8147050" cy="2924175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/>
          <a:p>
            <a:pPr marL="1941830" indent="-1941830" defTabSz="914400">
              <a:buSzPct val="100000"/>
              <a:tabLst>
                <a:tab pos="1257300" algn="l"/>
              </a:tabLst>
            </a:pPr>
            <a:endParaRPr sz="3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2"/>
          <p:cNvSpPr>
            <a:spLocks noGrp="1"/>
          </p:cNvSpPr>
          <p:nvPr>
            <p:ph type="title" idx="4294967295"/>
          </p:nvPr>
        </p:nvSpPr>
        <p:spPr>
          <a:xfrm>
            <a:off x="2239963" y="2921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>
            <a:normAutofit fontScale="90000"/>
          </a:bodyPr>
          <a:p>
            <a:r>
              <a:rPr dirty="0"/>
              <a:t>Step 7 : Make a Decision:</a:t>
            </a:r>
            <a:br>
              <a:rPr dirty="0"/>
            </a:br>
            <a:r>
              <a:rPr dirty="0"/>
              <a:t>Reject </a:t>
            </a:r>
            <a:r>
              <a:rPr i="1" dirty="0"/>
              <a:t>H</a:t>
            </a:r>
            <a:r>
              <a:rPr baseline="-25000" dirty="0"/>
              <a:t>0</a:t>
            </a:r>
            <a:r>
              <a:rPr dirty="0"/>
              <a:t> or Fail to Reject </a:t>
            </a:r>
            <a:r>
              <a:rPr i="1" dirty="0"/>
              <a:t>H</a:t>
            </a:r>
            <a:r>
              <a:rPr baseline="-25000" dirty="0"/>
              <a:t>0</a:t>
            </a:r>
            <a:endParaRPr baseline="-25000" dirty="0"/>
          </a:p>
        </p:txBody>
      </p:sp>
      <p:sp>
        <p:nvSpPr>
          <p:cNvPr id="75779" name="Rectangle 3"/>
          <p:cNvSpPr>
            <a:spLocks noGrp="1"/>
          </p:cNvSpPr>
          <p:nvPr>
            <p:ph type="body" idx="4294967295"/>
          </p:nvPr>
        </p:nvSpPr>
        <p:spPr>
          <a:xfrm>
            <a:off x="1827213" y="1885950"/>
            <a:ext cx="7651750" cy="411480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/>
          <a:p>
            <a:pPr indent="0">
              <a:lnSpc>
                <a:spcPct val="100000"/>
              </a:lnSpc>
              <a:spcBef>
                <a:spcPct val="35000"/>
              </a:spcBef>
              <a:spcAft>
                <a:spcPct val="35000"/>
              </a:spcAft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b="0" dirty="0"/>
              <a:t>The methodologies depend on if you are using the </a:t>
            </a:r>
            <a:r>
              <a:rPr b="0" i="1" dirty="0"/>
              <a:t>P</a:t>
            </a:r>
            <a:r>
              <a:rPr b="0" dirty="0"/>
              <a:t>-Value method or the critical value method.</a:t>
            </a:r>
            <a:endParaRPr sz="4000" b="0" dirty="0">
              <a:solidFill>
                <a:schemeClr val="hlink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charRg st="0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79">
                                            <p:txEl>
                                              <p:charRg st="0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79">
                                            <p:txEl>
                                              <p:charRg st="0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Text Box 3"/>
          <p:cNvSpPr txBox="1"/>
          <p:nvPr/>
        </p:nvSpPr>
        <p:spPr>
          <a:xfrm>
            <a:off x="2092325" y="1430973"/>
            <a:ext cx="8042275" cy="403098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r>
              <a:rPr sz="3200" b="0" i="1" dirty="0">
                <a:latin typeface="Arial" panose="020B0604020202020204" pitchFamily="34" charset="0"/>
              </a:rPr>
              <a:t>P</a:t>
            </a:r>
            <a:r>
              <a:rPr sz="3200" b="0" dirty="0">
                <a:latin typeface="Arial" panose="020B0604020202020204" pitchFamily="34" charset="0"/>
              </a:rPr>
              <a:t>-value Method:</a:t>
            </a:r>
            <a:endParaRPr sz="3200" b="0" dirty="0">
              <a:latin typeface="Arial" panose="020B0604020202020204" pitchFamily="34" charset="0"/>
            </a:endParaRPr>
          </a:p>
          <a:p>
            <a:endParaRPr sz="3200" b="0" dirty="0">
              <a:latin typeface="Arial" panose="020B0604020202020204" pitchFamily="34" charset="0"/>
            </a:endParaRPr>
          </a:p>
          <a:p>
            <a:r>
              <a:rPr sz="3200" b="0" dirty="0">
                <a:latin typeface="Arial" panose="020B0604020202020204" pitchFamily="34" charset="0"/>
                <a:sym typeface="Symbol" panose="05050102010706020507" pitchFamily="18" charset="2"/>
              </a:rPr>
              <a:t>Using the significance level </a:t>
            </a:r>
            <a:r>
              <a:rPr lang="el-GR" altLang="x-none" sz="3200" b="0" i="1" dirty="0">
                <a:latin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sz="3200" b="0" dirty="0">
                <a:latin typeface="Arial" panose="020B0604020202020204" pitchFamily="34" charset="0"/>
                <a:sym typeface="Symbol" panose="05050102010706020507" pitchFamily="18" charset="2"/>
              </a:rPr>
              <a:t>:</a:t>
            </a:r>
            <a:endParaRPr sz="3200" b="0" dirty="0">
              <a:latin typeface="Arial" panose="020B0604020202020204" pitchFamily="34" charset="0"/>
            </a:endParaRPr>
          </a:p>
          <a:p>
            <a:endParaRPr sz="3200" b="0" dirty="0">
              <a:latin typeface="Arial" panose="020B0604020202020204" pitchFamily="34" charset="0"/>
            </a:endParaRPr>
          </a:p>
          <a:p>
            <a:r>
              <a:rPr sz="3200" b="0" dirty="0">
                <a:latin typeface="Arial" panose="020B0604020202020204" pitchFamily="34" charset="0"/>
              </a:rPr>
              <a:t>If </a:t>
            </a:r>
            <a:r>
              <a:rPr sz="3200" b="0" i="1" dirty="0">
                <a:latin typeface="Arial" panose="020B0604020202020204" pitchFamily="34" charset="0"/>
              </a:rPr>
              <a:t>P</a:t>
            </a:r>
            <a:r>
              <a:rPr sz="3200" b="0" dirty="0">
                <a:latin typeface="Arial" panose="020B0604020202020204" pitchFamily="34" charset="0"/>
              </a:rPr>
              <a:t>-value ≤ </a:t>
            </a:r>
            <a:r>
              <a:rPr lang="el-GR" altLang="x-none" sz="3200" b="0" i="1" dirty="0">
                <a:latin typeface="Arial" panose="020B0604020202020204" pitchFamily="34" charset="0"/>
              </a:rPr>
              <a:t>α</a:t>
            </a:r>
            <a:r>
              <a:rPr sz="3200" b="0" dirty="0">
                <a:latin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sz="3200" b="0" i="1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sz="3200" b="0" dirty="0">
                <a:latin typeface="Arial" panose="020B0604020202020204" pitchFamily="34" charset="0"/>
              </a:rPr>
              <a:t>reject</a:t>
            </a:r>
            <a:r>
              <a:rPr sz="3200" b="0" i="1" dirty="0">
                <a:latin typeface="Arial" panose="020B0604020202020204" pitchFamily="34" charset="0"/>
              </a:rPr>
              <a:t> H</a:t>
            </a:r>
            <a:r>
              <a:rPr sz="3200" b="0" baseline="-25000" dirty="0">
                <a:latin typeface="Arial" panose="020B0604020202020204" pitchFamily="34" charset="0"/>
              </a:rPr>
              <a:t>0</a:t>
            </a:r>
            <a:r>
              <a:rPr sz="3200" b="0" dirty="0">
                <a:latin typeface="Arial" panose="020B0604020202020204" pitchFamily="34" charset="0"/>
              </a:rPr>
              <a:t>.</a:t>
            </a:r>
            <a:endParaRPr sz="3200" b="0" dirty="0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endParaRPr sz="3200" b="0" dirty="0">
              <a:latin typeface="Arial" panose="020B0604020202020204" pitchFamily="34" charset="0"/>
            </a:endParaRPr>
          </a:p>
          <a:p>
            <a:r>
              <a:rPr sz="3200" b="0" dirty="0">
                <a:latin typeface="Arial" panose="020B0604020202020204" pitchFamily="34" charset="0"/>
              </a:rPr>
              <a:t>If </a:t>
            </a:r>
            <a:r>
              <a:rPr sz="3200" b="0" i="1" dirty="0">
                <a:latin typeface="Arial" panose="020B0604020202020204" pitchFamily="34" charset="0"/>
              </a:rPr>
              <a:t>P</a:t>
            </a:r>
            <a:r>
              <a:rPr sz="3200" b="0" dirty="0">
                <a:latin typeface="Arial" panose="020B0604020202020204" pitchFamily="34" charset="0"/>
              </a:rPr>
              <a:t>-value &gt; </a:t>
            </a:r>
            <a:r>
              <a:rPr lang="el-GR" altLang="x-none" sz="3200" b="0" i="1" dirty="0">
                <a:latin typeface="Arial" panose="020B0604020202020204" pitchFamily="34" charset="0"/>
              </a:rPr>
              <a:t>α</a:t>
            </a:r>
            <a:r>
              <a:rPr sz="3200" b="0" dirty="0">
                <a:latin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sz="3200" b="0" i="1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sz="3200" b="0" dirty="0">
                <a:latin typeface="Arial" panose="020B0604020202020204" pitchFamily="34" charset="0"/>
                <a:sym typeface="Symbol" panose="05050102010706020507" pitchFamily="18" charset="2"/>
              </a:rPr>
              <a:t>fail to </a:t>
            </a:r>
            <a:r>
              <a:rPr sz="3200" b="0" dirty="0">
                <a:latin typeface="Arial" panose="020B0604020202020204" pitchFamily="34" charset="0"/>
              </a:rPr>
              <a:t>reject</a:t>
            </a:r>
            <a:r>
              <a:rPr sz="3200" b="0" i="1" dirty="0">
                <a:latin typeface="Arial" panose="020B0604020202020204" pitchFamily="34" charset="0"/>
              </a:rPr>
              <a:t> H</a:t>
            </a:r>
            <a:r>
              <a:rPr sz="3200" b="0" baseline="-25000" dirty="0">
                <a:latin typeface="Arial" panose="020B0604020202020204" pitchFamily="34" charset="0"/>
              </a:rPr>
              <a:t>0</a:t>
            </a:r>
            <a:r>
              <a:rPr sz="3200" b="0" dirty="0">
                <a:latin typeface="Arial" panose="020B0604020202020204" pitchFamily="34" charset="0"/>
              </a:rPr>
              <a:t>.</a:t>
            </a:r>
            <a:endParaRPr sz="3200" b="0" dirty="0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endParaRPr sz="3200" b="0" dirty="0">
              <a:latin typeface="Arial" panose="020B0604020202020204" pitchFamily="34" charset="0"/>
            </a:endParaRPr>
          </a:p>
        </p:txBody>
      </p:sp>
      <p:sp>
        <p:nvSpPr>
          <p:cNvPr id="34819" name="Rectangle 4"/>
          <p:cNvSpPr/>
          <p:nvPr/>
        </p:nvSpPr>
        <p:spPr>
          <a:xfrm>
            <a:off x="2214563" y="316230"/>
            <a:ext cx="7772400" cy="66040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 anchor="ctr" anchorCtr="0"/>
          <a:p>
            <a:pPr algn="ctr"/>
            <a:r>
              <a:rPr sz="4000" dirty="0">
                <a:solidFill>
                  <a:srgbClr val="008000"/>
                </a:solidFill>
                <a:latin typeface="Arial" panose="020B0604020202020204" pitchFamily="34" charset="0"/>
              </a:rPr>
              <a:t>Decision Criterion</a:t>
            </a:r>
            <a:endParaRPr sz="4000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Text Box 3"/>
          <p:cNvSpPr txBox="1"/>
          <p:nvPr/>
        </p:nvSpPr>
        <p:spPr>
          <a:xfrm>
            <a:off x="2057400" y="1685290"/>
            <a:ext cx="7843838" cy="353822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r>
              <a:rPr sz="3200" b="0" dirty="0">
                <a:latin typeface="Arial" panose="020B0604020202020204" pitchFamily="34" charset="0"/>
              </a:rPr>
              <a:t>Critical Value Method: </a:t>
            </a:r>
            <a:endParaRPr sz="3200" b="0" dirty="0">
              <a:latin typeface="Arial" panose="020B0604020202020204" pitchFamily="34" charset="0"/>
            </a:endParaRPr>
          </a:p>
          <a:p>
            <a:endParaRPr sz="3200" b="0" dirty="0">
              <a:latin typeface="Arial" panose="020B0604020202020204" pitchFamily="34" charset="0"/>
            </a:endParaRPr>
          </a:p>
          <a:p>
            <a:r>
              <a:rPr sz="3200" b="0" dirty="0">
                <a:latin typeface="Arial" panose="020B0604020202020204" pitchFamily="34" charset="0"/>
              </a:rPr>
              <a:t>If the test statistic falls within the critical region, reject</a:t>
            </a:r>
            <a:r>
              <a:rPr sz="3200" b="0" i="1" dirty="0">
                <a:latin typeface="Arial" panose="020B0604020202020204" pitchFamily="34" charset="0"/>
              </a:rPr>
              <a:t> H</a:t>
            </a:r>
            <a:r>
              <a:rPr sz="3200" b="0" baseline="-25000" dirty="0">
                <a:latin typeface="Arial" panose="020B0604020202020204" pitchFamily="34" charset="0"/>
              </a:rPr>
              <a:t>0</a:t>
            </a:r>
            <a:r>
              <a:rPr sz="3200" b="0" dirty="0">
                <a:latin typeface="Arial" panose="020B0604020202020204" pitchFamily="34" charset="0"/>
              </a:rPr>
              <a:t>.</a:t>
            </a:r>
            <a:endParaRPr sz="3200" b="0" dirty="0">
              <a:latin typeface="Arial" panose="020B0604020202020204" pitchFamily="34" charset="0"/>
            </a:endParaRPr>
          </a:p>
          <a:p>
            <a:endParaRPr sz="3200" b="0" dirty="0">
              <a:latin typeface="Arial" panose="020B0604020202020204" pitchFamily="34" charset="0"/>
            </a:endParaRPr>
          </a:p>
          <a:p>
            <a:r>
              <a:rPr sz="3200" b="0" dirty="0">
                <a:latin typeface="Arial" panose="020B0604020202020204" pitchFamily="34" charset="0"/>
              </a:rPr>
              <a:t>If the test statistic does not fall within the critical region, fail to reject </a:t>
            </a:r>
            <a:r>
              <a:rPr sz="3200" b="0" i="1" dirty="0">
                <a:latin typeface="Arial" panose="020B0604020202020204" pitchFamily="34" charset="0"/>
              </a:rPr>
              <a:t>H</a:t>
            </a:r>
            <a:r>
              <a:rPr sz="3200" b="0" baseline="-25000" dirty="0">
                <a:latin typeface="Arial" panose="020B0604020202020204" pitchFamily="34" charset="0"/>
              </a:rPr>
              <a:t>0</a:t>
            </a:r>
            <a:r>
              <a:rPr sz="3200" b="0" dirty="0">
                <a:latin typeface="Arial" panose="020B0604020202020204" pitchFamily="34" charset="0"/>
              </a:rPr>
              <a:t>.</a:t>
            </a:r>
            <a:endParaRPr sz="3200" b="0" dirty="0">
              <a:latin typeface="Arial" panose="020B0604020202020204" pitchFamily="34" charset="0"/>
            </a:endParaRPr>
          </a:p>
        </p:txBody>
      </p:sp>
      <p:sp>
        <p:nvSpPr>
          <p:cNvPr id="35843" name="Rectangle 4"/>
          <p:cNvSpPr/>
          <p:nvPr/>
        </p:nvSpPr>
        <p:spPr>
          <a:xfrm>
            <a:off x="2214563" y="228600"/>
            <a:ext cx="7772400" cy="66040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 anchor="ctr" anchorCtr="0"/>
          <a:p>
            <a:pPr algn="ctr"/>
            <a:r>
              <a:rPr sz="4000" dirty="0">
                <a:solidFill>
                  <a:srgbClr val="008000"/>
                </a:solidFill>
                <a:latin typeface="Arial" panose="020B0604020202020204" pitchFamily="34" charset="0"/>
              </a:rPr>
              <a:t>Decision Criterion</a:t>
            </a:r>
            <a:endParaRPr sz="4000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2"/>
          <p:cNvSpPr>
            <a:spLocks noGrp="1"/>
          </p:cNvSpPr>
          <p:nvPr>
            <p:ph type="title" idx="4294967295"/>
          </p:nvPr>
        </p:nvSpPr>
        <p:spPr>
          <a:xfrm>
            <a:off x="2017713" y="193675"/>
            <a:ext cx="8061325" cy="425450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>
            <a:normAutofit fontScale="90000"/>
          </a:bodyPr>
          <a:p>
            <a:r>
              <a:rPr sz="3200" dirty="0"/>
              <a:t>Example</a:t>
            </a:r>
            <a:endParaRPr sz="3200" dirty="0">
              <a:solidFill>
                <a:schemeClr val="tx1"/>
              </a:solidFill>
            </a:endParaRPr>
          </a:p>
        </p:txBody>
      </p:sp>
      <p:sp>
        <p:nvSpPr>
          <p:cNvPr id="36867" name="Rectangle 3"/>
          <p:cNvSpPr/>
          <p:nvPr/>
        </p:nvSpPr>
        <p:spPr>
          <a:xfrm>
            <a:off x="3362325" y="2403475"/>
            <a:ext cx="354013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36868" name="Rectangle 4"/>
          <p:cNvSpPr/>
          <p:nvPr/>
        </p:nvSpPr>
        <p:spPr>
          <a:xfrm>
            <a:off x="3032125" y="3017838"/>
            <a:ext cx="420688" cy="4762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36869" name="Rectangle 5"/>
          <p:cNvSpPr/>
          <p:nvPr/>
        </p:nvSpPr>
        <p:spPr>
          <a:xfrm>
            <a:off x="3260725" y="2989263"/>
            <a:ext cx="296863" cy="3127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36870" name="Rectangle 6"/>
          <p:cNvSpPr/>
          <p:nvPr/>
        </p:nvSpPr>
        <p:spPr>
          <a:xfrm>
            <a:off x="3413125" y="4127500"/>
            <a:ext cx="890588" cy="42068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36871" name="Rectangle 7"/>
          <p:cNvSpPr/>
          <p:nvPr/>
        </p:nvSpPr>
        <p:spPr>
          <a:xfrm>
            <a:off x="2117725" y="4694238"/>
            <a:ext cx="5807075" cy="1733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36872" name="Rectangle 8"/>
          <p:cNvSpPr/>
          <p:nvPr/>
        </p:nvSpPr>
        <p:spPr>
          <a:xfrm>
            <a:off x="2079625" y="1014413"/>
            <a:ext cx="8247063" cy="36830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/>
            <a:endParaRPr dirty="0">
              <a:latin typeface="Arial" panose="020B0604020202020204" pitchFamily="34" charset="0"/>
            </a:endParaRPr>
          </a:p>
        </p:txBody>
      </p:sp>
      <p:sp>
        <p:nvSpPr>
          <p:cNvPr id="36873" name="Rectangle 9"/>
          <p:cNvSpPr/>
          <p:nvPr/>
        </p:nvSpPr>
        <p:spPr>
          <a:xfrm>
            <a:off x="2051685" y="941388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p>
            <a:pPr algn="ctr"/>
            <a:endParaRPr dirty="0">
              <a:latin typeface="Arial" panose="020B0604020202020204" pitchFamily="34" charset="0"/>
            </a:endParaRPr>
          </a:p>
        </p:txBody>
      </p:sp>
      <p:sp>
        <p:nvSpPr>
          <p:cNvPr id="36874" name="Rectangle 10"/>
          <p:cNvSpPr/>
          <p:nvPr/>
        </p:nvSpPr>
        <p:spPr>
          <a:xfrm>
            <a:off x="2103438" y="941388"/>
            <a:ext cx="184150" cy="36830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/>
            <a:endParaRPr dirty="0">
              <a:latin typeface="Arial" panose="020B0604020202020204" pitchFamily="34" charset="0"/>
            </a:endParaRPr>
          </a:p>
        </p:txBody>
      </p:sp>
      <p:sp>
        <p:nvSpPr>
          <p:cNvPr id="36875" name="Rectangle 11"/>
          <p:cNvSpPr/>
          <p:nvPr/>
        </p:nvSpPr>
        <p:spPr>
          <a:xfrm>
            <a:off x="2039938" y="1362075"/>
            <a:ext cx="8281987" cy="48926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r>
              <a:rPr sz="2400" b="0" dirty="0">
                <a:latin typeface="Arial" panose="020B0604020202020204" pitchFamily="34" charset="0"/>
              </a:rPr>
              <a:t>For the XSORT baby gender test, the test had a test statistic of </a:t>
            </a:r>
            <a:r>
              <a:rPr sz="2400" b="0" i="1" dirty="0">
                <a:latin typeface="Arial" panose="020B0604020202020204" pitchFamily="34" charset="0"/>
              </a:rPr>
              <a:t>z</a:t>
            </a:r>
            <a:r>
              <a:rPr sz="2400" b="0" dirty="0">
                <a:latin typeface="Arial" panose="020B0604020202020204" pitchFamily="34" charset="0"/>
              </a:rPr>
              <a:t> = 1.60 and a </a:t>
            </a:r>
            <a:r>
              <a:rPr sz="2400" b="0" i="1" dirty="0">
                <a:latin typeface="Arial" panose="020B0604020202020204" pitchFamily="34" charset="0"/>
              </a:rPr>
              <a:t>P</a:t>
            </a:r>
            <a:r>
              <a:rPr sz="2400" b="0" dirty="0">
                <a:latin typeface="Arial" panose="020B0604020202020204" pitchFamily="34" charset="0"/>
              </a:rPr>
              <a:t>-Value of 0.0548.  We tested:</a:t>
            </a:r>
            <a:endParaRPr sz="2400" b="0" dirty="0">
              <a:latin typeface="Arial" panose="020B0604020202020204" pitchFamily="34" charset="0"/>
            </a:endParaRPr>
          </a:p>
          <a:p>
            <a:endParaRPr sz="2400" b="0" dirty="0">
              <a:latin typeface="Arial" panose="020B0604020202020204" pitchFamily="34" charset="0"/>
            </a:endParaRPr>
          </a:p>
          <a:p>
            <a:endParaRPr sz="2400" b="0" dirty="0">
              <a:latin typeface="Arial" panose="020B0604020202020204" pitchFamily="34" charset="0"/>
            </a:endParaRPr>
          </a:p>
          <a:p>
            <a:endParaRPr sz="2400" b="0" dirty="0">
              <a:latin typeface="Arial" panose="020B0604020202020204" pitchFamily="34" charset="0"/>
            </a:endParaRPr>
          </a:p>
          <a:p>
            <a:r>
              <a:rPr sz="2400" b="0" dirty="0">
                <a:latin typeface="Arial" panose="020B0604020202020204" pitchFamily="34" charset="0"/>
              </a:rPr>
              <a:t>Using the </a:t>
            </a:r>
            <a:r>
              <a:rPr sz="2400" b="0" i="1" dirty="0">
                <a:latin typeface="Arial" panose="020B0604020202020204" pitchFamily="34" charset="0"/>
              </a:rPr>
              <a:t>P</a:t>
            </a:r>
            <a:r>
              <a:rPr sz="2400" b="0" dirty="0">
                <a:latin typeface="Arial" panose="020B0604020202020204" pitchFamily="34" charset="0"/>
              </a:rPr>
              <a:t>-Value method, we would fail to reject the null at the </a:t>
            </a:r>
            <a:r>
              <a:rPr lang="el-GR" altLang="x-none" sz="2400" b="0" i="1" dirty="0">
                <a:latin typeface="Arial" panose="020B0604020202020204" pitchFamily="34" charset="0"/>
              </a:rPr>
              <a:t>α</a:t>
            </a:r>
            <a:r>
              <a:rPr sz="2400" b="0" dirty="0">
                <a:latin typeface="Arial" panose="020B0604020202020204" pitchFamily="34" charset="0"/>
              </a:rPr>
              <a:t> = 0.05 level.</a:t>
            </a:r>
            <a:endParaRPr sz="2400" b="0" dirty="0">
              <a:latin typeface="Arial" panose="020B0604020202020204" pitchFamily="34" charset="0"/>
            </a:endParaRPr>
          </a:p>
          <a:p>
            <a:endParaRPr sz="2400" b="0" dirty="0">
              <a:latin typeface="Arial" panose="020B0604020202020204" pitchFamily="34" charset="0"/>
            </a:endParaRPr>
          </a:p>
          <a:p>
            <a:r>
              <a:rPr sz="2400" b="0" dirty="0">
                <a:latin typeface="Arial" panose="020B0604020202020204" pitchFamily="34" charset="0"/>
              </a:rPr>
              <a:t>Using the critical value method, we would fail to reject the null because the test statistic of</a:t>
            </a:r>
            <a:r>
              <a:rPr sz="2400" b="0" i="1" dirty="0">
                <a:latin typeface="Arial" panose="020B0604020202020204" pitchFamily="34" charset="0"/>
              </a:rPr>
              <a:t> z </a:t>
            </a:r>
            <a:r>
              <a:rPr sz="2400" b="0" dirty="0">
                <a:latin typeface="Arial" panose="020B0604020202020204" pitchFamily="34" charset="0"/>
              </a:rPr>
              <a:t>= 1.60 does not fall in the rejection region.</a:t>
            </a:r>
            <a:endParaRPr sz="2400" b="0" dirty="0">
              <a:latin typeface="Arial" panose="020B0604020202020204" pitchFamily="34" charset="0"/>
            </a:endParaRPr>
          </a:p>
          <a:p>
            <a:endParaRPr sz="2400" b="0" dirty="0">
              <a:latin typeface="Arial" panose="020B0604020202020204" pitchFamily="34" charset="0"/>
            </a:endParaRPr>
          </a:p>
          <a:p>
            <a:r>
              <a:rPr sz="2400" b="0" dirty="0">
                <a:latin typeface="Arial" panose="020B0604020202020204" pitchFamily="34" charset="0"/>
              </a:rPr>
              <a:t>(You will come to the same decision using either method.)</a:t>
            </a:r>
            <a:endParaRPr sz="2400" b="0" dirty="0">
              <a:latin typeface="Arial" panose="020B0604020202020204" pitchFamily="34" charset="0"/>
            </a:endParaRPr>
          </a:p>
        </p:txBody>
      </p:sp>
      <p:graphicFrame>
        <p:nvGraphicFramePr>
          <p:cNvPr id="36876" name="Object 1"/>
          <p:cNvGraphicFramePr>
            <a:graphicFrameLocks noChangeAspect="1"/>
          </p:cNvGraphicFramePr>
          <p:nvPr/>
        </p:nvGraphicFramePr>
        <p:xfrm>
          <a:off x="5029200" y="2133600"/>
          <a:ext cx="17526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762000" imgH="457200" progId="Equation.DSMT4">
                  <p:embed/>
                </p:oleObj>
              </mc:Choice>
              <mc:Fallback>
                <p:oleObj name="" r:id="rId1" imgW="762000" imgH="457200" progId="Equation.DSMT4">
                  <p:embed/>
                  <p:pic>
                    <p:nvPicPr>
                      <p:cNvPr id="0" name="Picture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029200" y="2133600"/>
                        <a:ext cx="1752600" cy="1050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2"/>
          <p:cNvSpPr>
            <a:spLocks noGrp="1"/>
          </p:cNvSpPr>
          <p:nvPr>
            <p:ph type="title" idx="4294967295"/>
          </p:nvPr>
        </p:nvSpPr>
        <p:spPr>
          <a:xfrm>
            <a:off x="2239963" y="292100"/>
            <a:ext cx="8047037" cy="1143000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>
            <a:normAutofit fontScale="90000"/>
          </a:bodyPr>
          <a:p>
            <a:r>
              <a:rPr dirty="0"/>
              <a:t>Step 8 : Restate the Decision Using Simple and Nontechnical Terms</a:t>
            </a:r>
            <a:endParaRPr baseline="-25000" dirty="0"/>
          </a:p>
        </p:txBody>
      </p:sp>
      <p:sp>
        <p:nvSpPr>
          <p:cNvPr id="75779" name="Rectangle 3"/>
          <p:cNvSpPr>
            <a:spLocks noGrp="1"/>
          </p:cNvSpPr>
          <p:nvPr>
            <p:ph type="body" idx="4294967295"/>
          </p:nvPr>
        </p:nvSpPr>
        <p:spPr>
          <a:xfrm>
            <a:off x="1827213" y="1885950"/>
            <a:ext cx="7651750" cy="411480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/>
          <a:p>
            <a:pPr indent="0">
              <a:lnSpc>
                <a:spcPct val="100000"/>
              </a:lnSpc>
              <a:spcBef>
                <a:spcPct val="35000"/>
              </a:spcBef>
              <a:spcAft>
                <a:spcPct val="35000"/>
              </a:spcAft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b="0" dirty="0"/>
              <a:t>State a final conclusion that addresses the original claim with wording that can be understood by those without knowledge of statistical procedures.</a:t>
            </a:r>
            <a:endParaRPr b="0" dirty="0"/>
          </a:p>
          <a:p>
            <a:pPr indent="0">
              <a:lnSpc>
                <a:spcPct val="100000"/>
              </a:lnSpc>
              <a:spcBef>
                <a:spcPct val="35000"/>
              </a:spcBef>
              <a:spcAft>
                <a:spcPct val="35000"/>
              </a:spcAft>
              <a:buClr>
                <a:schemeClr val="accent2"/>
              </a:buClr>
              <a:buFont typeface="Wingdings" panose="05000000000000000000" pitchFamily="2" charset="2"/>
              <a:buNone/>
            </a:pPr>
            <a:endParaRPr sz="4000" b="0" dirty="0">
              <a:solidFill>
                <a:schemeClr val="hlink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charRg st="0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79">
                                            <p:txEl>
                                              <p:charRg st="0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79">
                                            <p:txEl>
                                              <p:charRg st="0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2"/>
          <p:cNvSpPr>
            <a:spLocks noGrp="1"/>
          </p:cNvSpPr>
          <p:nvPr>
            <p:ph type="title" idx="4294967295"/>
          </p:nvPr>
        </p:nvSpPr>
        <p:spPr>
          <a:xfrm>
            <a:off x="2017713" y="193675"/>
            <a:ext cx="8061325" cy="425450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>
            <a:normAutofit fontScale="90000"/>
          </a:bodyPr>
          <a:p>
            <a:r>
              <a:rPr sz="3200" dirty="0"/>
              <a:t>Example</a:t>
            </a:r>
            <a:endParaRPr sz="3200" dirty="0">
              <a:solidFill>
                <a:schemeClr val="tx1"/>
              </a:solidFill>
            </a:endParaRPr>
          </a:p>
        </p:txBody>
      </p:sp>
      <p:sp>
        <p:nvSpPr>
          <p:cNvPr id="38915" name="Rectangle 3"/>
          <p:cNvSpPr/>
          <p:nvPr/>
        </p:nvSpPr>
        <p:spPr>
          <a:xfrm>
            <a:off x="3362325" y="2403475"/>
            <a:ext cx="354013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38916" name="Rectangle 4"/>
          <p:cNvSpPr/>
          <p:nvPr/>
        </p:nvSpPr>
        <p:spPr>
          <a:xfrm>
            <a:off x="3032125" y="3017838"/>
            <a:ext cx="420688" cy="4762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38917" name="Rectangle 5"/>
          <p:cNvSpPr/>
          <p:nvPr/>
        </p:nvSpPr>
        <p:spPr>
          <a:xfrm>
            <a:off x="3260725" y="2989263"/>
            <a:ext cx="296863" cy="3127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38918" name="Rectangle 6"/>
          <p:cNvSpPr/>
          <p:nvPr/>
        </p:nvSpPr>
        <p:spPr>
          <a:xfrm>
            <a:off x="3413125" y="4127500"/>
            <a:ext cx="890588" cy="42068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38919" name="Rectangle 7"/>
          <p:cNvSpPr/>
          <p:nvPr/>
        </p:nvSpPr>
        <p:spPr>
          <a:xfrm>
            <a:off x="2117725" y="4694238"/>
            <a:ext cx="5807075" cy="1733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38920" name="Rectangle 8"/>
          <p:cNvSpPr/>
          <p:nvPr/>
        </p:nvSpPr>
        <p:spPr>
          <a:xfrm>
            <a:off x="2079625" y="1014413"/>
            <a:ext cx="8247063" cy="36830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/>
            <a:endParaRPr dirty="0">
              <a:latin typeface="Arial" panose="020B0604020202020204" pitchFamily="34" charset="0"/>
            </a:endParaRPr>
          </a:p>
        </p:txBody>
      </p:sp>
      <p:sp>
        <p:nvSpPr>
          <p:cNvPr id="38921" name="Rectangle 9"/>
          <p:cNvSpPr/>
          <p:nvPr/>
        </p:nvSpPr>
        <p:spPr>
          <a:xfrm>
            <a:off x="2051685" y="941388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p>
            <a:pPr algn="ctr"/>
            <a:endParaRPr dirty="0">
              <a:latin typeface="Arial" panose="020B0604020202020204" pitchFamily="34" charset="0"/>
            </a:endParaRPr>
          </a:p>
        </p:txBody>
      </p:sp>
      <p:sp>
        <p:nvSpPr>
          <p:cNvPr id="38922" name="Rectangle 10"/>
          <p:cNvSpPr/>
          <p:nvPr/>
        </p:nvSpPr>
        <p:spPr>
          <a:xfrm>
            <a:off x="2103438" y="941388"/>
            <a:ext cx="184150" cy="36830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/>
            <a:endParaRPr dirty="0">
              <a:latin typeface="Arial" panose="020B0604020202020204" pitchFamily="34" charset="0"/>
            </a:endParaRPr>
          </a:p>
        </p:txBody>
      </p:sp>
      <p:sp>
        <p:nvSpPr>
          <p:cNvPr id="38923" name="Rectangle 11"/>
          <p:cNvSpPr/>
          <p:nvPr/>
        </p:nvSpPr>
        <p:spPr>
          <a:xfrm>
            <a:off x="2039938" y="1362075"/>
            <a:ext cx="8281987" cy="15684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r>
              <a:rPr sz="2400" b="0" dirty="0">
                <a:latin typeface="Arial" panose="020B0604020202020204" pitchFamily="34" charset="0"/>
              </a:rPr>
              <a:t>For the XSORT baby gender test, there was not sufficient evidence to support the claim that the XSORT method is effective in increasing the probability that a baby girl will be born.</a:t>
            </a:r>
            <a:endParaRPr sz="24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4"/>
          <p:cNvSpPr>
            <a:spLocks noGrp="1"/>
          </p:cNvSpPr>
          <p:nvPr>
            <p:ph type="title" idx="4294967295"/>
          </p:nvPr>
        </p:nvSpPr>
        <p:spPr>
          <a:xfrm>
            <a:off x="2341563" y="220663"/>
            <a:ext cx="7502525" cy="677862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>
            <a:normAutofit fontScale="90000"/>
          </a:bodyPr>
          <a:p>
            <a:r>
              <a:rPr dirty="0"/>
              <a:t>Wording of Final Conclusion</a:t>
            </a:r>
            <a:endParaRPr dirty="0"/>
          </a:p>
        </p:txBody>
      </p:sp>
      <p:pic>
        <p:nvPicPr>
          <p:cNvPr id="39939" name="Picture 55" descr="08_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1025" y="1085850"/>
            <a:ext cx="8651875" cy="50212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2"/>
          <p:cNvSpPr>
            <a:spLocks noGrp="1"/>
          </p:cNvSpPr>
          <p:nvPr>
            <p:ph type="title" idx="4294967295"/>
          </p:nvPr>
        </p:nvSpPr>
        <p:spPr>
          <a:xfrm>
            <a:off x="2214563" y="228600"/>
            <a:ext cx="7772400" cy="660400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>
            <a:normAutofit fontScale="90000"/>
          </a:bodyPr>
          <a:p>
            <a:r>
              <a:rPr dirty="0"/>
              <a:t>Caution</a:t>
            </a:r>
            <a:endParaRPr dirty="0"/>
          </a:p>
        </p:txBody>
      </p:sp>
      <p:sp>
        <p:nvSpPr>
          <p:cNvPr id="40963" name="Text Box 3"/>
          <p:cNvSpPr txBox="1"/>
          <p:nvPr/>
        </p:nvSpPr>
        <p:spPr>
          <a:xfrm>
            <a:off x="2159000" y="1624013"/>
            <a:ext cx="8120063" cy="2676525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r>
              <a:rPr sz="2400" b="0" dirty="0">
                <a:latin typeface="Arial" panose="020B0604020202020204" pitchFamily="34" charset="0"/>
              </a:rPr>
              <a:t>Never conclude a hypothesis test with a statement of </a:t>
            </a:r>
            <a:r>
              <a:rPr sz="2400" b="0" dirty="0">
                <a:latin typeface="Arial" panose="020B0604020202020204" pitchFamily="34" charset="0"/>
                <a:ea typeface="ヒラギノ角ゴ ProN W3" pitchFamily="112" charset="-128"/>
              </a:rPr>
              <a:t>“r</a:t>
            </a:r>
            <a:r>
              <a:rPr sz="2400" b="0" dirty="0">
                <a:latin typeface="Arial" panose="020B0604020202020204" pitchFamily="34" charset="0"/>
              </a:rPr>
              <a:t>eject the null hypothesis” or </a:t>
            </a:r>
            <a:r>
              <a:rPr sz="2400" b="0" dirty="0">
                <a:latin typeface="Arial" panose="020B0604020202020204" pitchFamily="34" charset="0"/>
                <a:ea typeface="ヒラギノ角ゴ ProN W3" pitchFamily="112" charset="-128"/>
              </a:rPr>
              <a:t>“f</a:t>
            </a:r>
            <a:r>
              <a:rPr sz="2400" b="0" dirty="0">
                <a:latin typeface="Arial" panose="020B0604020202020204" pitchFamily="34" charset="0"/>
              </a:rPr>
              <a:t>ail to reject the null hypothesis.” </a:t>
            </a:r>
            <a:endParaRPr sz="2400" b="0" dirty="0">
              <a:latin typeface="Arial" panose="020B0604020202020204" pitchFamily="34" charset="0"/>
            </a:endParaRPr>
          </a:p>
          <a:p>
            <a:endParaRPr sz="2400" b="0" dirty="0">
              <a:latin typeface="Arial" panose="020B0604020202020204" pitchFamily="34" charset="0"/>
            </a:endParaRPr>
          </a:p>
          <a:p>
            <a:r>
              <a:rPr sz="2400" b="0" dirty="0">
                <a:latin typeface="Arial" panose="020B0604020202020204" pitchFamily="34" charset="0"/>
              </a:rPr>
              <a:t>Always make sense of the conclusion with a statement that uses simple nontechnical wording that addresses the original claim.</a:t>
            </a:r>
            <a:endParaRPr sz="24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2"/>
          <p:cNvSpPr>
            <a:spLocks noGrp="1"/>
          </p:cNvSpPr>
          <p:nvPr>
            <p:ph type="title" idx="4294967295"/>
          </p:nvPr>
        </p:nvSpPr>
        <p:spPr>
          <a:xfrm>
            <a:off x="1892300" y="155575"/>
            <a:ext cx="8397875" cy="803275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/>
          <a:p>
            <a:r>
              <a:rPr dirty="0"/>
              <a:t>Accept Versus Fail to Reject</a:t>
            </a:r>
            <a:endParaRPr dirty="0"/>
          </a:p>
        </p:txBody>
      </p:sp>
      <p:sp>
        <p:nvSpPr>
          <p:cNvPr id="79875" name="Rectangle 3"/>
          <p:cNvSpPr>
            <a:spLocks noGrp="1"/>
          </p:cNvSpPr>
          <p:nvPr>
            <p:ph type="body" idx="4294967295"/>
          </p:nvPr>
        </p:nvSpPr>
        <p:spPr>
          <a:xfrm>
            <a:off x="2114550" y="1606550"/>
            <a:ext cx="8294688" cy="258445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>
            <a:normAutofit lnSpcReduction="10000"/>
          </a:bodyPr>
          <a:p>
            <a:pPr marL="457200" indent="-457200" defTabSz="914400">
              <a:spcBef>
                <a:spcPct val="67000"/>
              </a:spcBef>
              <a:buClr>
                <a:schemeClr val="accent2"/>
              </a:buClr>
              <a:buFont typeface="Times" pitchFamily="1" charset="0"/>
              <a:buChar char="•"/>
              <a:tabLst>
                <a:tab pos="513080" algn="l"/>
              </a:tabLst>
            </a:pPr>
            <a:r>
              <a:rPr b="0" dirty="0"/>
              <a:t>Some texts use “accept the null  hypothesis.”</a:t>
            </a:r>
            <a:endParaRPr b="0" dirty="0"/>
          </a:p>
          <a:p>
            <a:pPr marL="457200" indent="-457200" defTabSz="914400">
              <a:spcBef>
                <a:spcPct val="67000"/>
              </a:spcBef>
              <a:buClr>
                <a:schemeClr val="accent2"/>
              </a:buClr>
              <a:buFont typeface="Times" pitchFamily="1" charset="0"/>
              <a:buChar char="•"/>
              <a:tabLst>
                <a:tab pos="513080" algn="l"/>
              </a:tabLst>
            </a:pPr>
            <a:r>
              <a:rPr b="0" dirty="0">
                <a:solidFill>
                  <a:schemeClr val="hlink"/>
                </a:solidFill>
              </a:rPr>
              <a:t>We are not proving the null hypothesis.</a:t>
            </a:r>
            <a:endParaRPr b="0" dirty="0">
              <a:solidFill>
                <a:schemeClr val="hlink"/>
              </a:solidFill>
            </a:endParaRPr>
          </a:p>
          <a:p>
            <a:pPr marL="457200" indent="-457200" defTabSz="914400">
              <a:spcBef>
                <a:spcPct val="67000"/>
              </a:spcBef>
              <a:buClr>
                <a:schemeClr val="accent2"/>
              </a:buClr>
              <a:buFont typeface="Times" pitchFamily="1" charset="0"/>
              <a:buChar char="•"/>
              <a:tabLst>
                <a:tab pos="513080" algn="l"/>
              </a:tabLst>
            </a:pPr>
            <a:r>
              <a:rPr b="0" dirty="0"/>
              <a:t>Fail to reject</a:t>
            </a:r>
            <a:r>
              <a:rPr b="0" dirty="0">
                <a:solidFill>
                  <a:schemeClr val="hlink"/>
                </a:solidFill>
              </a:rPr>
              <a:t> </a:t>
            </a:r>
            <a:r>
              <a:rPr b="0" dirty="0"/>
              <a:t>says more correctly that the available evidence is not strong enough to warrant rejection of the null hypothesis.</a:t>
            </a:r>
            <a:endParaRPr b="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charRg st="0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875">
                                            <p:txEl>
                                              <p:charRg st="0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875">
                                            <p:txEl>
                                              <p:charRg st="0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charRg st="46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9875">
                                            <p:txEl>
                                              <p:charRg st="46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9875">
                                            <p:txEl>
                                              <p:charRg st="46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charRg st="86" end="2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9875">
                                            <p:txEl>
                                              <p:charRg st="86" end="2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9875">
                                            <p:txEl>
                                              <p:charRg st="86" end="2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5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2"/>
          <p:cNvSpPr>
            <a:spLocks noGrp="1"/>
          </p:cNvSpPr>
          <p:nvPr>
            <p:ph type="title" idx="4294967295"/>
          </p:nvPr>
        </p:nvSpPr>
        <p:spPr>
          <a:xfrm>
            <a:off x="2111375" y="177800"/>
            <a:ext cx="7772400" cy="749300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>
            <a:normAutofit fontScale="90000"/>
          </a:bodyPr>
          <a:p>
            <a:r>
              <a:rPr dirty="0"/>
              <a:t>Type I Error</a:t>
            </a:r>
            <a:endParaRPr dirty="0"/>
          </a:p>
        </p:txBody>
      </p:sp>
      <p:sp>
        <p:nvSpPr>
          <p:cNvPr id="43011" name="Rectangle 3"/>
          <p:cNvSpPr>
            <a:spLocks noGrp="1"/>
          </p:cNvSpPr>
          <p:nvPr>
            <p:ph type="body" idx="4294967295"/>
          </p:nvPr>
        </p:nvSpPr>
        <p:spPr>
          <a:xfrm>
            <a:off x="2154238" y="1439863"/>
            <a:ext cx="7800975" cy="411480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/>
          <a:p>
            <a:pPr marL="457200" indent="-457200">
              <a:spcBef>
                <a:spcPct val="45000"/>
              </a:spcBef>
              <a:spcAft>
                <a:spcPct val="45000"/>
              </a:spcAft>
              <a:buClr>
                <a:schemeClr val="accent2"/>
              </a:buClr>
              <a:buFont typeface="Times" pitchFamily="1" charset="0"/>
              <a:buChar char="•"/>
            </a:pPr>
            <a:r>
              <a:rPr b="0" dirty="0"/>
              <a:t>A </a:t>
            </a:r>
            <a:r>
              <a:rPr b="0" dirty="0">
                <a:solidFill>
                  <a:schemeClr val="hlink"/>
                </a:solidFill>
              </a:rPr>
              <a:t>Type I error</a:t>
            </a:r>
            <a:r>
              <a:rPr b="0" dirty="0"/>
              <a:t> is the mistake of rejecting the null hypothesis when it is actually true.</a:t>
            </a:r>
            <a:endParaRPr b="0" dirty="0"/>
          </a:p>
          <a:p>
            <a:pPr marL="457200" indent="-457200">
              <a:spcBef>
                <a:spcPct val="45000"/>
              </a:spcBef>
              <a:spcAft>
                <a:spcPct val="45000"/>
              </a:spcAft>
              <a:buClr>
                <a:schemeClr val="accent2"/>
              </a:buClr>
              <a:buFont typeface="Times" pitchFamily="1" charset="0"/>
              <a:buChar char="•"/>
            </a:pPr>
            <a:r>
              <a:rPr b="0" dirty="0"/>
              <a:t>The symbol </a:t>
            </a:r>
            <a:r>
              <a:rPr lang="el-GR" altLang="x-none" b="0" i="1" dirty="0">
                <a:cs typeface="Arial" panose="020B0604020202020204" pitchFamily="34" charset="0"/>
              </a:rPr>
              <a:t>α</a:t>
            </a:r>
            <a:r>
              <a:rPr b="0" i="1" dirty="0">
                <a:cs typeface="Arial" panose="020B0604020202020204" pitchFamily="34" charset="0"/>
              </a:rPr>
              <a:t> </a:t>
            </a:r>
            <a:r>
              <a:rPr b="0" dirty="0"/>
              <a:t>is used to represent the probability of a type I error.</a:t>
            </a:r>
            <a:endParaRPr b="0" dirty="0"/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2"/>
          <p:cNvSpPr>
            <a:spLocks noGrp="1"/>
          </p:cNvSpPr>
          <p:nvPr>
            <p:ph type="title" idx="4294967295"/>
          </p:nvPr>
        </p:nvSpPr>
        <p:spPr>
          <a:xfrm>
            <a:off x="2174875" y="190500"/>
            <a:ext cx="7772400" cy="736600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>
            <a:normAutofit fontScale="90000"/>
          </a:bodyPr>
          <a:p>
            <a:r>
              <a:rPr dirty="0"/>
              <a:t>Type II Error</a:t>
            </a:r>
            <a:endParaRPr dirty="0"/>
          </a:p>
        </p:txBody>
      </p:sp>
      <p:sp>
        <p:nvSpPr>
          <p:cNvPr id="44035" name="Rectangle 3"/>
          <p:cNvSpPr>
            <a:spLocks noGrp="1"/>
          </p:cNvSpPr>
          <p:nvPr>
            <p:ph type="body" idx="4294967295"/>
          </p:nvPr>
        </p:nvSpPr>
        <p:spPr>
          <a:xfrm>
            <a:off x="2149475" y="1481138"/>
            <a:ext cx="8042275" cy="411480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/>
          <a:p>
            <a:pPr marL="457200" indent="-457200" defTabSz="171450">
              <a:spcBef>
                <a:spcPct val="45000"/>
              </a:spcBef>
              <a:spcAft>
                <a:spcPct val="45000"/>
              </a:spcAft>
              <a:buClr>
                <a:schemeClr val="accent2"/>
              </a:buClr>
              <a:buFont typeface="Times" pitchFamily="1" charset="0"/>
              <a:buChar char="•"/>
            </a:pPr>
            <a:r>
              <a:rPr b="0" dirty="0"/>
              <a:t>A </a:t>
            </a:r>
            <a:r>
              <a:rPr b="0" dirty="0">
                <a:solidFill>
                  <a:schemeClr val="hlink"/>
                </a:solidFill>
              </a:rPr>
              <a:t>Type II error</a:t>
            </a:r>
            <a:r>
              <a:rPr b="0" dirty="0"/>
              <a:t> is the mistake of failing to reject the null hypothesis when it is actually false</a:t>
            </a:r>
            <a:r>
              <a:rPr sz="3000" b="0" dirty="0"/>
              <a:t>.</a:t>
            </a:r>
            <a:endParaRPr sz="3000" b="0" dirty="0"/>
          </a:p>
          <a:p>
            <a:pPr marL="457200" indent="-457200" defTabSz="171450">
              <a:spcBef>
                <a:spcPct val="45000"/>
              </a:spcBef>
              <a:spcAft>
                <a:spcPct val="45000"/>
              </a:spcAft>
              <a:buClr>
                <a:schemeClr val="accent2"/>
              </a:buClr>
              <a:buFont typeface="Times" pitchFamily="1" charset="0"/>
              <a:buChar char="•"/>
            </a:pPr>
            <a:r>
              <a:rPr b="0" dirty="0"/>
              <a:t>The symbol</a:t>
            </a:r>
            <a:r>
              <a:rPr b="0" i="1" dirty="0"/>
              <a:t> </a:t>
            </a:r>
            <a:r>
              <a:rPr lang="el-GR" altLang="x-none" b="0" i="1" dirty="0"/>
              <a:t>β</a:t>
            </a:r>
            <a:r>
              <a:rPr b="0" i="1" dirty="0">
                <a:sym typeface="Symbol" panose="05050102010706020507" pitchFamily="18" charset="2"/>
              </a:rPr>
              <a:t> </a:t>
            </a:r>
            <a:r>
              <a:rPr b="0" dirty="0"/>
              <a:t>(beta) is used to represent the probability of a type II error</a:t>
            </a:r>
            <a:r>
              <a:rPr sz="3000" b="0" dirty="0"/>
              <a:t>.</a:t>
            </a:r>
            <a:endParaRPr sz="3000" b="0" dirty="0"/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Text Box 2"/>
          <p:cNvSpPr txBox="1"/>
          <p:nvPr/>
        </p:nvSpPr>
        <p:spPr>
          <a:xfrm>
            <a:off x="2443163" y="387985"/>
            <a:ext cx="7272337" cy="70675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sz="4000" dirty="0">
                <a:solidFill>
                  <a:srgbClr val="008000"/>
                </a:solidFill>
                <a:latin typeface="Arial" panose="020B0604020202020204" pitchFamily="34" charset="0"/>
              </a:rPr>
              <a:t>Type I and Type II Errors</a:t>
            </a:r>
            <a:endParaRPr sz="4000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pic>
        <p:nvPicPr>
          <p:cNvPr id="45059" name="Picture 4" descr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2925" y="1744663"/>
            <a:ext cx="8816975" cy="33750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2"/>
          <p:cNvSpPr>
            <a:spLocks noGrp="1"/>
          </p:cNvSpPr>
          <p:nvPr>
            <p:ph type="title" idx="4294967295"/>
          </p:nvPr>
        </p:nvSpPr>
        <p:spPr>
          <a:xfrm>
            <a:off x="2049463" y="87313"/>
            <a:ext cx="8239125" cy="608012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/>
          <a:p>
            <a:r>
              <a:rPr sz="3200" dirty="0"/>
              <a:t>Example</a:t>
            </a:r>
            <a:endParaRPr sz="3200" dirty="0">
              <a:sym typeface="Symbol" panose="05050102010706020507" pitchFamily="18" charset="2"/>
            </a:endParaRPr>
          </a:p>
        </p:txBody>
      </p:sp>
      <p:sp>
        <p:nvSpPr>
          <p:cNvPr id="46083" name="Rectangle 3"/>
          <p:cNvSpPr/>
          <p:nvPr/>
        </p:nvSpPr>
        <p:spPr>
          <a:xfrm>
            <a:off x="3362325" y="2403475"/>
            <a:ext cx="354013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46084" name="Rectangle 4"/>
          <p:cNvSpPr/>
          <p:nvPr/>
        </p:nvSpPr>
        <p:spPr>
          <a:xfrm>
            <a:off x="3032125" y="3017838"/>
            <a:ext cx="420688" cy="4762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46085" name="Rectangle 6"/>
          <p:cNvSpPr/>
          <p:nvPr/>
        </p:nvSpPr>
        <p:spPr>
          <a:xfrm>
            <a:off x="3413125" y="4127500"/>
            <a:ext cx="890588" cy="42068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46086" name="Rectangle 7"/>
          <p:cNvSpPr/>
          <p:nvPr/>
        </p:nvSpPr>
        <p:spPr>
          <a:xfrm>
            <a:off x="2117725" y="4694238"/>
            <a:ext cx="5807075" cy="1733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46087" name="Text Box 8"/>
          <p:cNvSpPr txBox="1"/>
          <p:nvPr/>
        </p:nvSpPr>
        <p:spPr>
          <a:xfrm>
            <a:off x="2362200" y="4511834"/>
            <a:ext cx="7035800" cy="829945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r>
              <a:rPr sz="2400" b="0" dirty="0">
                <a:latin typeface="Arial" panose="020B0604020202020204" pitchFamily="34" charset="0"/>
              </a:rPr>
              <a:t>a)  Identify a type I error.</a:t>
            </a:r>
            <a:endParaRPr sz="2400" b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sz="2400" b="0" dirty="0">
                <a:latin typeface="Arial" panose="020B0604020202020204" pitchFamily="34" charset="0"/>
                <a:sym typeface="Symbol" panose="05050102010706020507" pitchFamily="18" charset="2"/>
              </a:rPr>
              <a:t>b)</a:t>
            </a:r>
            <a:r>
              <a:rPr sz="2400" b="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sz="2400" b="0" dirty="0">
                <a:latin typeface="Arial" panose="020B0604020202020204" pitchFamily="34" charset="0"/>
              </a:rPr>
              <a:t> Identify a type II error.</a:t>
            </a:r>
            <a:endParaRPr sz="2400" b="0" dirty="0">
              <a:latin typeface="Times New Roman" panose="02020603050405020304" pitchFamily="18" charset="0"/>
            </a:endParaRPr>
          </a:p>
        </p:txBody>
      </p:sp>
      <p:sp>
        <p:nvSpPr>
          <p:cNvPr id="46088" name="Text Box 9"/>
          <p:cNvSpPr txBox="1"/>
          <p:nvPr/>
        </p:nvSpPr>
        <p:spPr>
          <a:xfrm>
            <a:off x="2100263" y="933450"/>
            <a:ext cx="8270875" cy="230695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r>
              <a:rPr sz="2400" b="0" dirty="0">
                <a:latin typeface="Arial" panose="020B0604020202020204" pitchFamily="34" charset="0"/>
              </a:rPr>
              <a:t>Assume that we are conducting a hypothesis test of the claim that a method of gender selection increases the likelihood of a baby girl, so that the probability of a baby girls is </a:t>
            </a:r>
            <a:r>
              <a:rPr sz="2400" b="0" i="1" dirty="0">
                <a:latin typeface="Arial" panose="020B0604020202020204" pitchFamily="34" charset="0"/>
              </a:rPr>
              <a:t>p</a:t>
            </a:r>
            <a:r>
              <a:rPr sz="2400" b="0" dirty="0">
                <a:latin typeface="Arial" panose="020B0604020202020204" pitchFamily="34" charset="0"/>
              </a:rPr>
              <a:t> &gt; 0.5.</a:t>
            </a:r>
            <a:endParaRPr sz="2400" b="0" dirty="0">
              <a:latin typeface="Arial" panose="020B0604020202020204" pitchFamily="34" charset="0"/>
            </a:endParaRPr>
          </a:p>
          <a:p>
            <a:endParaRPr sz="2400" b="0" dirty="0">
              <a:latin typeface="Arial" panose="020B0604020202020204" pitchFamily="34" charset="0"/>
            </a:endParaRPr>
          </a:p>
          <a:p>
            <a:r>
              <a:rPr sz="2400" b="0" dirty="0">
                <a:latin typeface="Arial" panose="020B0604020202020204" pitchFamily="34" charset="0"/>
                <a:sym typeface="Symbol" panose="05050102010706020507" pitchFamily="18" charset="2"/>
              </a:rPr>
              <a:t>Here are the null and alternative hypotheses: </a:t>
            </a:r>
            <a:endParaRPr sz="2800" b="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aphicFrame>
        <p:nvGraphicFramePr>
          <p:cNvPr id="46089" name="Object 1"/>
          <p:cNvGraphicFramePr>
            <a:graphicFrameLocks noChangeAspect="1"/>
          </p:cNvGraphicFramePr>
          <p:nvPr/>
        </p:nvGraphicFramePr>
        <p:xfrm>
          <a:off x="4648200" y="3255963"/>
          <a:ext cx="17526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" imgW="762000" imgH="457200" progId="Equation.DSMT4">
                  <p:embed/>
                </p:oleObj>
              </mc:Choice>
              <mc:Fallback>
                <p:oleObj name="" r:id="rId1" imgW="762000" imgH="457200" progId="Equation.DSMT4">
                  <p:embed/>
                  <p:pic>
                    <p:nvPicPr>
                      <p:cNvPr id="0" name="Picture 30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48200" y="3255963"/>
                        <a:ext cx="1752600" cy="1050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2"/>
          <p:cNvSpPr>
            <a:spLocks noGrp="1"/>
          </p:cNvSpPr>
          <p:nvPr>
            <p:ph type="title" idx="4294967295"/>
          </p:nvPr>
        </p:nvSpPr>
        <p:spPr>
          <a:xfrm>
            <a:off x="2049463" y="87313"/>
            <a:ext cx="8239125" cy="608012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/>
          <a:p>
            <a:r>
              <a:rPr sz="3200" dirty="0"/>
              <a:t>Example - Continued</a:t>
            </a:r>
            <a:endParaRPr sz="3200" dirty="0">
              <a:sym typeface="Symbol" panose="05050102010706020507" pitchFamily="18" charset="2"/>
            </a:endParaRPr>
          </a:p>
        </p:txBody>
      </p:sp>
      <p:sp>
        <p:nvSpPr>
          <p:cNvPr id="47107" name="Rectangle 3"/>
          <p:cNvSpPr/>
          <p:nvPr/>
        </p:nvSpPr>
        <p:spPr>
          <a:xfrm>
            <a:off x="3362325" y="2403475"/>
            <a:ext cx="354013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b="0" dirty="0">
              <a:latin typeface="Arial" panose="020B0604020202020204" pitchFamily="34" charset="0"/>
            </a:endParaRPr>
          </a:p>
        </p:txBody>
      </p:sp>
      <p:sp>
        <p:nvSpPr>
          <p:cNvPr id="47108" name="Rectangle 4"/>
          <p:cNvSpPr/>
          <p:nvPr/>
        </p:nvSpPr>
        <p:spPr>
          <a:xfrm>
            <a:off x="3032125" y="3017838"/>
            <a:ext cx="420688" cy="4762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b="0" dirty="0">
              <a:latin typeface="Arial" panose="020B0604020202020204" pitchFamily="34" charset="0"/>
            </a:endParaRPr>
          </a:p>
        </p:txBody>
      </p:sp>
      <p:sp>
        <p:nvSpPr>
          <p:cNvPr id="47109" name="Rectangle 5"/>
          <p:cNvSpPr/>
          <p:nvPr/>
        </p:nvSpPr>
        <p:spPr>
          <a:xfrm>
            <a:off x="3413125" y="4127500"/>
            <a:ext cx="890588" cy="42068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b="0" dirty="0">
              <a:latin typeface="Arial" panose="020B0604020202020204" pitchFamily="34" charset="0"/>
            </a:endParaRPr>
          </a:p>
        </p:txBody>
      </p:sp>
      <p:sp>
        <p:nvSpPr>
          <p:cNvPr id="47110" name="Rectangle 6"/>
          <p:cNvSpPr/>
          <p:nvPr/>
        </p:nvSpPr>
        <p:spPr>
          <a:xfrm>
            <a:off x="2117725" y="4694238"/>
            <a:ext cx="5807075" cy="1733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b="0" dirty="0">
              <a:latin typeface="Arial" panose="020B0604020202020204" pitchFamily="34" charset="0"/>
            </a:endParaRPr>
          </a:p>
        </p:txBody>
      </p:sp>
      <p:sp>
        <p:nvSpPr>
          <p:cNvPr id="47111" name="Text Box 8"/>
          <p:cNvSpPr txBox="1"/>
          <p:nvPr/>
        </p:nvSpPr>
        <p:spPr>
          <a:xfrm>
            <a:off x="2100263" y="933450"/>
            <a:ext cx="8270875" cy="193802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marL="455930" indent="-455930"/>
            <a:r>
              <a:rPr sz="2400" b="0" dirty="0">
                <a:latin typeface="Arial" panose="020B0604020202020204" pitchFamily="34" charset="0"/>
              </a:rPr>
              <a:t>a)	A type I error is the mistake of rejecting a true null hypothesis:</a:t>
            </a:r>
            <a:endParaRPr sz="2400" b="0" dirty="0">
              <a:latin typeface="Arial" panose="020B0604020202020204" pitchFamily="34" charset="0"/>
            </a:endParaRPr>
          </a:p>
          <a:p>
            <a:pPr marL="455930" indent="-455930"/>
            <a:endParaRPr sz="2400" b="0" dirty="0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marL="455930" indent="-455930"/>
            <a:r>
              <a:rPr sz="2400" b="0" dirty="0">
                <a:latin typeface="Arial" panose="020B0604020202020204" pitchFamily="34" charset="0"/>
                <a:sym typeface="Symbol" panose="05050102010706020507" pitchFamily="18" charset="2"/>
              </a:rPr>
              <a:t>	We conclude the probability of having a girl is greater than 50%, when in reality, it is not.  Our data misled us.</a:t>
            </a:r>
            <a:endParaRPr sz="2400" b="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7112" name="Text Box 9"/>
          <p:cNvSpPr txBox="1"/>
          <p:nvPr/>
        </p:nvSpPr>
        <p:spPr>
          <a:xfrm>
            <a:off x="2097088" y="3124200"/>
            <a:ext cx="8270875" cy="230695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marL="455930" indent="-455930"/>
            <a:r>
              <a:rPr sz="2400" b="0" dirty="0">
                <a:latin typeface="Arial" panose="020B0604020202020204" pitchFamily="34" charset="0"/>
              </a:rPr>
              <a:t>b)   A type II error is the mistake of failing to reject the null hypothesis when it is false: </a:t>
            </a:r>
            <a:endParaRPr sz="2400" b="0" dirty="0">
              <a:latin typeface="Arial" panose="020B0604020202020204" pitchFamily="34" charset="0"/>
            </a:endParaRPr>
          </a:p>
          <a:p>
            <a:pPr marL="455930" indent="-455930"/>
            <a:endParaRPr sz="2400" b="0" dirty="0">
              <a:latin typeface="Arial" panose="020B0604020202020204" pitchFamily="34" charset="0"/>
            </a:endParaRPr>
          </a:p>
          <a:p>
            <a:pPr marL="455930" indent="-455930"/>
            <a:r>
              <a:rPr sz="2400" b="0" dirty="0">
                <a:latin typeface="Arial" panose="020B0604020202020204" pitchFamily="34" charset="0"/>
              </a:rPr>
              <a:t>	There is no evidence to conclude the probability of having a girl is greater than 50% (our data misled us), but in reality, the probability </a:t>
            </a:r>
            <a:r>
              <a:rPr sz="2400" dirty="0">
                <a:solidFill>
                  <a:srgbClr val="FF0000"/>
                </a:solidFill>
                <a:latin typeface="Arial" panose="020B0604020202020204" pitchFamily="34" charset="0"/>
              </a:rPr>
              <a:t>is</a:t>
            </a:r>
            <a:r>
              <a:rPr sz="2400" b="0" dirty="0">
                <a:latin typeface="Arial" panose="020B0604020202020204" pitchFamily="34" charset="0"/>
              </a:rPr>
              <a:t> greater than 50%.</a:t>
            </a:r>
            <a:endParaRPr sz="24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2"/>
          <p:cNvSpPr>
            <a:spLocks noGrp="1"/>
          </p:cNvSpPr>
          <p:nvPr>
            <p:ph type="title" idx="4294967295"/>
          </p:nvPr>
        </p:nvSpPr>
        <p:spPr>
          <a:xfrm>
            <a:off x="1854200" y="288925"/>
            <a:ext cx="9130665" cy="1143000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>
            <a:normAutofit/>
          </a:bodyPr>
          <a:p>
            <a:r>
              <a:rPr dirty="0"/>
              <a:t>Controlling Type I and Type II Errors</a:t>
            </a:r>
            <a:endParaRPr dirty="0"/>
          </a:p>
        </p:txBody>
      </p:sp>
      <p:sp>
        <p:nvSpPr>
          <p:cNvPr id="48131" name="Rectangle 3"/>
          <p:cNvSpPr>
            <a:spLocks noGrp="1"/>
          </p:cNvSpPr>
          <p:nvPr>
            <p:ph type="body" idx="4294967295"/>
          </p:nvPr>
        </p:nvSpPr>
        <p:spPr>
          <a:xfrm>
            <a:off x="2127250" y="1735138"/>
            <a:ext cx="8223250" cy="411480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/>
          <a:p>
            <a:pPr marL="457200" indent="-457200">
              <a:spcBef>
                <a:spcPct val="45000"/>
              </a:spcBef>
              <a:spcAft>
                <a:spcPct val="45000"/>
              </a:spcAft>
              <a:buClr>
                <a:schemeClr val="accent2"/>
              </a:buClr>
              <a:buFont typeface="Times" pitchFamily="1" charset="0"/>
              <a:buChar char="•"/>
            </a:pPr>
            <a:r>
              <a:rPr b="0" dirty="0"/>
              <a:t>For any fixed </a:t>
            </a:r>
            <a:r>
              <a:rPr lang="el-GR" altLang="x-none" b="0" dirty="0">
                <a:cs typeface="Arial" panose="020B0604020202020204" pitchFamily="34" charset="0"/>
              </a:rPr>
              <a:t>α</a:t>
            </a:r>
            <a:r>
              <a:rPr b="0" dirty="0"/>
              <a:t>, an increase in the sample size </a:t>
            </a:r>
            <a:r>
              <a:rPr b="0" i="1" dirty="0"/>
              <a:t>n </a:t>
            </a:r>
            <a:r>
              <a:rPr b="0" dirty="0"/>
              <a:t>will cause a decrease in </a:t>
            </a:r>
            <a:r>
              <a:rPr lang="el-GR" altLang="x-none" b="0" i="1" dirty="0"/>
              <a:t>β</a:t>
            </a:r>
            <a:r>
              <a:rPr b="0" i="1" dirty="0">
                <a:latin typeface="Symbol" panose="05050102010706020507" pitchFamily="18" charset="2"/>
              </a:rPr>
              <a:t></a:t>
            </a:r>
            <a:endParaRPr b="0" dirty="0"/>
          </a:p>
          <a:p>
            <a:pPr marL="457200" indent="-457200">
              <a:spcBef>
                <a:spcPct val="45000"/>
              </a:spcBef>
              <a:spcAft>
                <a:spcPct val="45000"/>
              </a:spcAft>
              <a:buClr>
                <a:schemeClr val="accent2"/>
              </a:buClr>
              <a:buFont typeface="Times" pitchFamily="1" charset="0"/>
              <a:buChar char="•"/>
            </a:pPr>
            <a:r>
              <a:rPr b="0" dirty="0"/>
              <a:t>For any fixed sample size </a:t>
            </a:r>
            <a:r>
              <a:rPr b="0" i="1" dirty="0"/>
              <a:t>n</a:t>
            </a:r>
            <a:r>
              <a:rPr b="0" dirty="0"/>
              <a:t>, a decrease in </a:t>
            </a:r>
            <a:r>
              <a:rPr lang="el-GR" altLang="x-none" b="0" dirty="0">
                <a:cs typeface="Arial" panose="020B0604020202020204" pitchFamily="34" charset="0"/>
              </a:rPr>
              <a:t>α</a:t>
            </a:r>
            <a:r>
              <a:rPr b="0" dirty="0"/>
              <a:t> will cause an increase in </a:t>
            </a:r>
            <a:r>
              <a:rPr lang="el-GR" altLang="x-none" b="0" i="1" dirty="0"/>
              <a:t>β</a:t>
            </a:r>
            <a:r>
              <a:rPr b="0" dirty="0"/>
              <a:t>.  Conversely, an increase in </a:t>
            </a:r>
            <a:r>
              <a:rPr lang="el-GR" altLang="x-none" b="0" i="1" dirty="0">
                <a:cs typeface="Arial" panose="020B0604020202020204" pitchFamily="34" charset="0"/>
              </a:rPr>
              <a:t>α</a:t>
            </a:r>
            <a:r>
              <a:rPr b="0" dirty="0">
                <a:cs typeface="Arial" panose="020B0604020202020204" pitchFamily="34" charset="0"/>
              </a:rPr>
              <a:t> </a:t>
            </a:r>
            <a:r>
              <a:rPr b="0" dirty="0"/>
              <a:t>will cause a decrease in </a:t>
            </a:r>
            <a:r>
              <a:rPr lang="el-GR" altLang="x-none" b="0" i="1" dirty="0"/>
              <a:t>β</a:t>
            </a:r>
            <a:r>
              <a:rPr b="0" dirty="0"/>
              <a:t>.</a:t>
            </a:r>
            <a:endParaRPr b="0" dirty="0"/>
          </a:p>
          <a:p>
            <a:pPr marL="457200" indent="-457200">
              <a:spcBef>
                <a:spcPct val="45000"/>
              </a:spcBef>
              <a:spcAft>
                <a:spcPct val="45000"/>
              </a:spcAft>
              <a:buClr>
                <a:schemeClr val="accent2"/>
              </a:buClr>
              <a:buFont typeface="Times" pitchFamily="1" charset="0"/>
              <a:buChar char="•"/>
            </a:pPr>
            <a:r>
              <a:rPr b="0" dirty="0"/>
              <a:t>To decrease both </a:t>
            </a:r>
            <a:r>
              <a:rPr lang="el-GR" altLang="x-none" b="0" dirty="0">
                <a:cs typeface="Arial" panose="020B0604020202020204" pitchFamily="34" charset="0"/>
              </a:rPr>
              <a:t>α</a:t>
            </a:r>
            <a:r>
              <a:rPr b="0" i="1" dirty="0">
                <a:latin typeface="Symbol" panose="05050102010706020507" pitchFamily="18" charset="2"/>
              </a:rPr>
              <a:t> </a:t>
            </a:r>
            <a:r>
              <a:rPr b="0" dirty="0"/>
              <a:t>and </a:t>
            </a:r>
            <a:r>
              <a:rPr lang="el-GR" altLang="x-none" b="0" i="1" dirty="0"/>
              <a:t>β</a:t>
            </a:r>
            <a:r>
              <a:rPr b="0" dirty="0"/>
              <a:t>, increase the sample size.</a:t>
            </a:r>
            <a:endParaRPr b="0" dirty="0"/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2"/>
          <p:cNvSpPr>
            <a:spLocks noGrp="1"/>
          </p:cNvSpPr>
          <p:nvPr>
            <p:ph type="title" idx="4294967295"/>
          </p:nvPr>
        </p:nvSpPr>
        <p:spPr>
          <a:xfrm>
            <a:off x="1854200" y="887730"/>
            <a:ext cx="8470900" cy="1143000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>
            <a:normAutofit fontScale="90000"/>
          </a:bodyPr>
          <a:p>
            <a:pPr marL="1905" indent="-1905">
              <a:spcBef>
                <a:spcPct val="45000"/>
              </a:spcBef>
              <a:spcAft>
                <a:spcPct val="45000"/>
              </a:spcAft>
            </a:pPr>
            <a:r>
              <a:rPr dirty="0"/>
              <a:t>Part 2: Beyond the Basics of Hypothesis Testing:</a:t>
            </a:r>
            <a:br>
              <a:rPr dirty="0"/>
            </a:br>
            <a:r>
              <a:rPr dirty="0"/>
              <a:t>The </a:t>
            </a:r>
            <a:r>
              <a:rPr i="1" dirty="0"/>
              <a:t>Power</a:t>
            </a:r>
            <a:r>
              <a:rPr dirty="0"/>
              <a:t> of a Test</a:t>
            </a:r>
            <a:br>
              <a:rPr sz="3000" dirty="0"/>
            </a:br>
            <a:endParaRPr dirty="0"/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2"/>
          <p:cNvSpPr>
            <a:spLocks noGrp="1"/>
          </p:cNvSpPr>
          <p:nvPr>
            <p:ph type="title" idx="4294967295"/>
          </p:nvPr>
        </p:nvSpPr>
        <p:spPr>
          <a:xfrm>
            <a:off x="2235200" y="212725"/>
            <a:ext cx="7708900" cy="688975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>
            <a:normAutofit fontScale="90000"/>
          </a:bodyPr>
          <a:p>
            <a:r>
              <a:rPr dirty="0"/>
              <a:t>Definition</a:t>
            </a:r>
            <a:endParaRPr dirty="0"/>
          </a:p>
        </p:txBody>
      </p:sp>
      <p:sp>
        <p:nvSpPr>
          <p:cNvPr id="50179" name="Rectangle 3"/>
          <p:cNvSpPr>
            <a:spLocks noGrp="1"/>
          </p:cNvSpPr>
          <p:nvPr>
            <p:ph type="body" idx="4294967295"/>
          </p:nvPr>
        </p:nvSpPr>
        <p:spPr>
          <a:xfrm>
            <a:off x="2160588" y="1552575"/>
            <a:ext cx="8147050" cy="2562225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>
            <a:normAutofit lnSpcReduction="20000"/>
          </a:bodyPr>
          <a:p>
            <a:pPr marL="0" indent="0">
              <a:spcBef>
                <a:spcPct val="45000"/>
              </a:spcBef>
              <a:spcAft>
                <a:spcPct val="45000"/>
              </a:spcAft>
              <a:buNone/>
            </a:pPr>
            <a:r>
              <a:rPr b="0" dirty="0"/>
              <a:t>The </a:t>
            </a:r>
            <a:r>
              <a:rPr b="0" dirty="0">
                <a:solidFill>
                  <a:schemeClr val="hlink"/>
                </a:solidFill>
              </a:rPr>
              <a:t>power</a:t>
            </a:r>
            <a:r>
              <a:rPr b="0" dirty="0"/>
              <a:t> </a:t>
            </a:r>
            <a:r>
              <a:rPr b="0" dirty="0">
                <a:solidFill>
                  <a:schemeClr val="hlink"/>
                </a:solidFill>
              </a:rPr>
              <a:t>of a hypothesis test</a:t>
            </a:r>
            <a:r>
              <a:rPr b="0" dirty="0"/>
              <a:t> is the probability 1 – </a:t>
            </a:r>
            <a:r>
              <a:rPr lang="el-GR" altLang="x-none" b="0" i="1" dirty="0"/>
              <a:t>β</a:t>
            </a:r>
            <a:r>
              <a:rPr b="0" dirty="0"/>
              <a:t>               of rejecting a false null hypothesis. </a:t>
            </a:r>
            <a:endParaRPr b="0" dirty="0"/>
          </a:p>
          <a:p>
            <a:pPr marL="0" indent="0">
              <a:spcBef>
                <a:spcPct val="45000"/>
              </a:spcBef>
              <a:spcAft>
                <a:spcPct val="45000"/>
              </a:spcAft>
              <a:buNone/>
            </a:pPr>
            <a:r>
              <a:rPr b="0" dirty="0"/>
              <a:t>The value of the power is computed by using a particular significance level </a:t>
            </a:r>
            <a:r>
              <a:rPr lang="el-GR" altLang="x-none" b="0" i="1" dirty="0">
                <a:cs typeface="Arial" panose="020B0604020202020204" pitchFamily="34" charset="0"/>
              </a:rPr>
              <a:t>α</a:t>
            </a:r>
            <a:r>
              <a:rPr b="0" dirty="0"/>
              <a:t> and a particular value of the population parameter that is an alternative to the value assumed true in the null hypothesis.</a:t>
            </a:r>
            <a:endParaRPr b="0" dirty="0">
              <a:solidFill>
                <a:schemeClr val="hlink"/>
              </a:solidFill>
            </a:endParaRP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2"/>
          <p:cNvSpPr>
            <a:spLocks noGrp="1"/>
          </p:cNvSpPr>
          <p:nvPr>
            <p:ph type="title" idx="4294967295"/>
          </p:nvPr>
        </p:nvSpPr>
        <p:spPr>
          <a:xfrm>
            <a:off x="2016125" y="220345"/>
            <a:ext cx="8280400" cy="1212850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>
            <a:normAutofit fontScale="90000"/>
          </a:bodyPr>
          <a:p>
            <a:r>
              <a:rPr dirty="0"/>
              <a:t>Power and the</a:t>
            </a:r>
            <a:r>
              <a:rPr lang="en-US" dirty="0"/>
              <a:t> </a:t>
            </a:r>
            <a:r>
              <a:rPr dirty="0"/>
              <a:t>Design of Experiments</a:t>
            </a:r>
            <a:endParaRPr dirty="0"/>
          </a:p>
        </p:txBody>
      </p:sp>
      <p:sp>
        <p:nvSpPr>
          <p:cNvPr id="450563" name="Rectangle 3"/>
          <p:cNvSpPr>
            <a:spLocks noGrp="1"/>
          </p:cNvSpPr>
          <p:nvPr>
            <p:ph type="body" idx="4294967295"/>
          </p:nvPr>
        </p:nvSpPr>
        <p:spPr>
          <a:xfrm>
            <a:off x="2008188" y="1552575"/>
            <a:ext cx="8507412" cy="4467225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>
            <a:normAutofit fontScale="90000"/>
          </a:bodyPr>
          <a:p>
            <a:pPr marL="0" indent="0">
              <a:spcBef>
                <a:spcPct val="45000"/>
              </a:spcBef>
              <a:spcAft>
                <a:spcPct val="45000"/>
              </a:spcAft>
              <a:buNone/>
            </a:pPr>
            <a:r>
              <a:rPr b="0" dirty="0"/>
              <a:t>Just as 0.05 is a common choice for a significance level, a power of at least 0.80 is a common requirement for determining that a hypothesis test is effective.  (Some statisticians argue that the power should be higher, such as 0.85 or 0.90.) </a:t>
            </a:r>
            <a:endParaRPr b="0" dirty="0"/>
          </a:p>
          <a:p>
            <a:pPr marL="0" indent="0">
              <a:spcBef>
                <a:spcPct val="45000"/>
              </a:spcBef>
              <a:spcAft>
                <a:spcPct val="45000"/>
              </a:spcAft>
              <a:buNone/>
            </a:pPr>
            <a:r>
              <a:rPr b="0" dirty="0"/>
              <a:t>When designing an experiment, we might consider how much of a difference between the claimed value of a parameter and its true value is an important amount of difference. </a:t>
            </a:r>
            <a:endParaRPr b="0" dirty="0"/>
          </a:p>
          <a:p>
            <a:pPr marL="0" indent="0">
              <a:spcBef>
                <a:spcPct val="45000"/>
              </a:spcBef>
              <a:spcAft>
                <a:spcPct val="45000"/>
              </a:spcAft>
              <a:buNone/>
            </a:pPr>
            <a:r>
              <a:rPr b="0" dirty="0"/>
              <a:t>When designing an experiment, a goal of having a power value of at least 0.80 can often be used to determine the minimum required sample size. </a:t>
            </a:r>
            <a:endParaRPr b="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charRg st="0" end="2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563">
                                            <p:txEl>
                                              <p:charRg st="0" end="24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563">
                                            <p:txEl>
                                              <p:charRg st="0" end="24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charRg st="244" end="4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0563">
                                            <p:txEl>
                                              <p:charRg st="244" end="4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0563">
                                            <p:txEl>
                                              <p:charRg st="244" end="4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charRg st="416" end="5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0563">
                                            <p:txEl>
                                              <p:charRg st="416" end="56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0563">
                                            <p:txEl>
                                              <p:charRg st="416" end="56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6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5" name="Text Box 3078"/>
          <p:cNvSpPr txBox="1">
            <a:spLocks noChangeArrowheads="1"/>
          </p:cNvSpPr>
          <p:nvPr/>
        </p:nvSpPr>
        <p:spPr bwMode="auto">
          <a:xfrm>
            <a:off x="1732280" y="1916430"/>
            <a:ext cx="8728075" cy="318579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>
            <a:no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Arial" panose="020B0604020202020204" pitchFamily="34" charset="0"/>
                <a:sym typeface="+mn-ea"/>
              </a:rPr>
              <a:t>Example:</a:t>
            </a:r>
            <a:r>
              <a:rPr sz="2400" dirty="0">
                <a:latin typeface="Arial" panose="020B0604020202020204" pitchFamily="34" charset="0"/>
                <a:sym typeface="+mn-ea"/>
              </a:rPr>
              <a:t> </a:t>
            </a:r>
            <a:r>
              <a:rPr lang="en-US" sz="2400" dirty="0">
                <a:latin typeface="Arial" panose="020B0604020202020204" pitchFamily="34" charset="0"/>
                <a:sym typeface="+mn-ea"/>
              </a:rPr>
              <a:t>T</a:t>
            </a:r>
            <a:r>
              <a:rPr sz="2400" dirty="0">
                <a:latin typeface="Arial" panose="020B0604020202020204" pitchFamily="34" charset="0"/>
                <a:sym typeface="+mn-ea"/>
              </a:rPr>
              <a:t>esting a hypothesis (or claim) made about a population proportion</a:t>
            </a:r>
            <a:r>
              <a:rPr lang="en-US" sz="2400" dirty="0">
                <a:latin typeface="Arial" panose="020B0604020202020204" pitchFamily="34" charset="0"/>
                <a:sym typeface="+mn-ea"/>
              </a:rPr>
              <a:t>, </a:t>
            </a:r>
            <a:r>
              <a:rPr sz="2400" dirty="0">
                <a:latin typeface="Arial" panose="020B0604020202020204" pitchFamily="34" charset="0"/>
                <a:sym typeface="+mn-ea"/>
              </a:rPr>
              <a:t>uses </a:t>
            </a:r>
            <a:r>
              <a:rPr lang="en-US" sz="2400" dirty="0">
                <a:latin typeface="Arial" panose="020B0604020202020204" pitchFamily="34" charset="0"/>
                <a:sym typeface="+mn-ea"/>
              </a:rPr>
              <a:t>the following methods:</a:t>
            </a:r>
            <a:endParaRPr lang="en-US" sz="2400" dirty="0">
              <a:latin typeface="Arial" panose="020B0604020202020204" pitchFamily="34" charset="0"/>
              <a:sym typeface="+mn-ea"/>
            </a:endParaRPr>
          </a:p>
          <a:p>
            <a:pPr>
              <a:spcBef>
                <a:spcPct val="50000"/>
              </a:spcBef>
            </a:pPr>
            <a:r>
              <a:rPr lang="en-US" sz="2400" dirty="0">
                <a:latin typeface="Arial" panose="020B0604020202020204" pitchFamily="34" charset="0"/>
                <a:sym typeface="+mn-ea"/>
              </a:rPr>
              <a:t>1) T</a:t>
            </a:r>
            <a:r>
              <a:rPr sz="2400" dirty="0">
                <a:latin typeface="Arial" panose="020B0604020202020204" pitchFamily="34" charset="0"/>
                <a:sym typeface="+mn-ea"/>
              </a:rPr>
              <a:t>he </a:t>
            </a:r>
            <a:r>
              <a:rPr sz="2400" i="1" dirty="0">
                <a:latin typeface="Arial" panose="020B0604020202020204" pitchFamily="34" charset="0"/>
                <a:sym typeface="+mn-ea"/>
              </a:rPr>
              <a:t>P</a:t>
            </a:r>
            <a:r>
              <a:rPr sz="2400" dirty="0">
                <a:latin typeface="Arial" panose="020B0604020202020204" pitchFamily="34" charset="0"/>
                <a:sym typeface="+mn-ea"/>
              </a:rPr>
              <a:t>-value method </a:t>
            </a:r>
            <a:endParaRPr sz="2400" dirty="0">
              <a:latin typeface="Arial" panose="020B0604020202020204" pitchFamily="34" charset="0"/>
              <a:sym typeface="+mn-ea"/>
            </a:endParaRPr>
          </a:p>
          <a:p>
            <a:pPr>
              <a:spcBef>
                <a:spcPct val="50000"/>
              </a:spcBef>
            </a:pPr>
            <a:r>
              <a:rPr lang="en-US" sz="2400" dirty="0">
                <a:latin typeface="Arial" panose="020B0604020202020204" pitchFamily="34" charset="0"/>
                <a:sym typeface="+mn-ea"/>
              </a:rPr>
              <a:t>2) T</a:t>
            </a:r>
            <a:r>
              <a:rPr sz="2400" dirty="0">
                <a:latin typeface="Arial" panose="020B0604020202020204" pitchFamily="34" charset="0"/>
                <a:sym typeface="+mn-ea"/>
              </a:rPr>
              <a:t>he traditional method </a:t>
            </a:r>
            <a:endParaRPr sz="2400" dirty="0">
              <a:latin typeface="Arial" panose="020B0604020202020204" pitchFamily="34" charset="0"/>
              <a:sym typeface="+mn-ea"/>
            </a:endParaRPr>
          </a:p>
          <a:p>
            <a:pPr>
              <a:spcBef>
                <a:spcPct val="50000"/>
              </a:spcBef>
            </a:pPr>
            <a:r>
              <a:rPr lang="en-US" sz="2400" b="0" dirty="0">
                <a:latin typeface="Arial" panose="020B0604020202020204" pitchFamily="34" charset="0"/>
              </a:rPr>
              <a:t>Group: 1, 4, 7, 10, 13 </a:t>
            </a:r>
            <a:endParaRPr sz="2400" b="0" dirty="0">
              <a:latin typeface="Arial" panose="020B0604020202020204" pitchFamily="34" charset="0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tabLst>
                <a:tab pos="633095" algn="l"/>
              </a:tabLst>
              <a:defRPr/>
            </a:pPr>
            <a:endParaRPr kumimoji="0" lang="el-GR" sz="2400" b="0" i="1" kern="1200" cap="none" spc="0" normalizeH="0" baseline="0" noProof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tabLst>
                <a:tab pos="633095" algn="l"/>
              </a:tabLst>
              <a:defRPr/>
            </a:pPr>
            <a:endParaRPr kumimoji="0" lang="el-GR" sz="2400" b="0" i="1" kern="1200" cap="none" spc="0" normalizeH="0" baseline="0" noProof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noProof="0" dirty="0">
                <a:latin typeface="Arial" panose="020B0604020202020204" pitchFamily="34" charset="0"/>
                <a:ea typeface="+mn-ea"/>
                <a:cs typeface="+mn-cs"/>
                <a:sym typeface="+mn-ea"/>
              </a:rPr>
              <a:t>7.2.  Testing a Claim about a Proportion</a:t>
            </a:r>
            <a:endParaRPr lang="en-US"/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5" name="Text Box 3078"/>
          <p:cNvSpPr txBox="1">
            <a:spLocks noChangeArrowheads="1"/>
          </p:cNvSpPr>
          <p:nvPr/>
        </p:nvSpPr>
        <p:spPr bwMode="auto">
          <a:xfrm>
            <a:off x="1732280" y="1916430"/>
            <a:ext cx="8728075" cy="249174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Arial" panose="020B0604020202020204" pitchFamily="34" charset="0"/>
                <a:sym typeface="+mn-ea"/>
              </a:rPr>
              <a:t>Example:</a:t>
            </a:r>
            <a:r>
              <a:rPr sz="2400" dirty="0">
                <a:latin typeface="Arial" panose="020B0604020202020204" pitchFamily="34" charset="0"/>
                <a:sym typeface="+mn-ea"/>
              </a:rPr>
              <a:t> </a:t>
            </a:r>
            <a:r>
              <a:rPr lang="en-US" sz="2400" dirty="0">
                <a:latin typeface="Arial" panose="020B0604020202020204" pitchFamily="34" charset="0"/>
                <a:sym typeface="+mn-ea"/>
              </a:rPr>
              <a:t>T</a:t>
            </a:r>
            <a:r>
              <a:rPr sz="2400" dirty="0">
                <a:latin typeface="Arial" panose="020B0604020202020204" pitchFamily="34" charset="0"/>
                <a:sym typeface="+mn-ea"/>
              </a:rPr>
              <a:t>esting a hypothesis (or claim) made about a </a:t>
            </a:r>
            <a:r>
              <a:rPr lang="en-US" sz="2400" dirty="0">
                <a:latin typeface="Arial" panose="020B0604020202020204" pitchFamily="34" charset="0"/>
                <a:sym typeface="+mn-ea"/>
              </a:rPr>
              <a:t>mean</a:t>
            </a:r>
            <a:r>
              <a:rPr sz="2400" dirty="0">
                <a:latin typeface="Arial" panose="020B0604020202020204" pitchFamily="34" charset="0"/>
                <a:sym typeface="+mn-ea"/>
              </a:rPr>
              <a:t> proportion</a:t>
            </a:r>
            <a:r>
              <a:rPr lang="en-US" sz="2400" dirty="0">
                <a:latin typeface="Arial" panose="020B0604020202020204" pitchFamily="34" charset="0"/>
                <a:sym typeface="+mn-ea"/>
              </a:rPr>
              <a:t> (</a:t>
            </a:r>
            <a:r>
              <a:rPr lang="el-GR" altLang="x-none" sz="24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σ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is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not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known</a:t>
            </a:r>
            <a:r>
              <a:rPr lang="en-US" sz="2400" dirty="0">
                <a:latin typeface="Arial" panose="020B0604020202020204" pitchFamily="34" charset="0"/>
                <a:sym typeface="+mn-ea"/>
              </a:rPr>
              <a:t>), </a:t>
            </a:r>
            <a:r>
              <a:rPr sz="2400" dirty="0">
                <a:latin typeface="Arial" panose="020B0604020202020204" pitchFamily="34" charset="0"/>
                <a:sym typeface="+mn-ea"/>
              </a:rPr>
              <a:t>uses </a:t>
            </a:r>
            <a:r>
              <a:rPr lang="en-US" sz="2400" dirty="0">
                <a:latin typeface="Arial" panose="020B0604020202020204" pitchFamily="34" charset="0"/>
                <a:sym typeface="+mn-ea"/>
              </a:rPr>
              <a:t>the following methods:</a:t>
            </a:r>
            <a:endParaRPr lang="en-US" sz="2400" dirty="0">
              <a:latin typeface="Arial" panose="020B0604020202020204" pitchFamily="34" charset="0"/>
              <a:sym typeface="+mn-ea"/>
            </a:endParaRPr>
          </a:p>
          <a:p>
            <a:pPr>
              <a:spcBef>
                <a:spcPct val="50000"/>
              </a:spcBef>
            </a:pPr>
            <a:r>
              <a:rPr lang="en-US" sz="2400" dirty="0">
                <a:latin typeface="Arial" panose="020B0604020202020204" pitchFamily="34" charset="0"/>
                <a:sym typeface="+mn-ea"/>
              </a:rPr>
              <a:t>1) T</a:t>
            </a:r>
            <a:r>
              <a:rPr sz="2400" dirty="0">
                <a:latin typeface="Arial" panose="020B0604020202020204" pitchFamily="34" charset="0"/>
                <a:sym typeface="+mn-ea"/>
              </a:rPr>
              <a:t>he </a:t>
            </a:r>
            <a:r>
              <a:rPr sz="2400" i="1" dirty="0">
                <a:latin typeface="Arial" panose="020B0604020202020204" pitchFamily="34" charset="0"/>
                <a:sym typeface="+mn-ea"/>
              </a:rPr>
              <a:t>P</a:t>
            </a:r>
            <a:r>
              <a:rPr sz="2400" dirty="0">
                <a:latin typeface="Arial" panose="020B0604020202020204" pitchFamily="34" charset="0"/>
                <a:sym typeface="+mn-ea"/>
              </a:rPr>
              <a:t>-value method </a:t>
            </a:r>
            <a:endParaRPr sz="2400" dirty="0">
              <a:latin typeface="Arial" panose="020B0604020202020204" pitchFamily="34" charset="0"/>
              <a:sym typeface="+mn-ea"/>
            </a:endParaRPr>
          </a:p>
          <a:p>
            <a:pPr>
              <a:spcBef>
                <a:spcPct val="50000"/>
              </a:spcBef>
            </a:pPr>
            <a:r>
              <a:rPr lang="en-US" sz="2400" dirty="0">
                <a:latin typeface="Arial" panose="020B0604020202020204" pitchFamily="34" charset="0"/>
                <a:sym typeface="+mn-ea"/>
              </a:rPr>
              <a:t>2) T</a:t>
            </a:r>
            <a:r>
              <a:rPr sz="2400" dirty="0">
                <a:latin typeface="Arial" panose="020B0604020202020204" pitchFamily="34" charset="0"/>
                <a:sym typeface="+mn-ea"/>
              </a:rPr>
              <a:t>he traditional method </a:t>
            </a:r>
            <a:endParaRPr sz="2400" dirty="0">
              <a:latin typeface="Arial" panose="020B0604020202020204" pitchFamily="34" charset="0"/>
              <a:sym typeface="+mn-ea"/>
            </a:endParaRPr>
          </a:p>
          <a:p>
            <a:pPr>
              <a:spcBef>
                <a:spcPct val="50000"/>
              </a:spcBef>
            </a:pPr>
            <a:r>
              <a:rPr kumimoji="0" lang="en-US" altLang="el-GR" sz="2400" b="0" kern="1200" cap="none" spc="0" normalizeH="0" baseline="0" noProof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Group: 2, 5, 8, 11, 14</a:t>
            </a:r>
            <a:endParaRPr kumimoji="0" lang="en-US" altLang="el-GR" sz="2400" b="0" kern="1200" cap="none" spc="0" normalizeH="0" baseline="0" noProof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noProof="0" dirty="0">
                <a:latin typeface="Arial" panose="020B0604020202020204" pitchFamily="34" charset="0"/>
                <a:ea typeface="+mn-ea"/>
                <a:cs typeface="+mn-cs"/>
                <a:sym typeface="+mn-ea"/>
              </a:rPr>
              <a:t>7.3.  Testing a Claim About a Mean</a:t>
            </a:r>
            <a:endParaRPr lang="en-US"/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5" name="Text Box 3078"/>
          <p:cNvSpPr txBox="1">
            <a:spLocks noChangeArrowheads="1"/>
          </p:cNvSpPr>
          <p:nvPr/>
        </p:nvSpPr>
        <p:spPr bwMode="auto">
          <a:xfrm>
            <a:off x="1732280" y="1916430"/>
            <a:ext cx="8728075" cy="249174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Arial" panose="020B0604020202020204" pitchFamily="34" charset="0"/>
                <a:sym typeface="+mn-ea"/>
              </a:rPr>
              <a:t>Example:</a:t>
            </a:r>
            <a:r>
              <a:rPr sz="2400" dirty="0">
                <a:latin typeface="Arial" panose="020B0604020202020204" pitchFamily="34" charset="0"/>
                <a:sym typeface="+mn-ea"/>
              </a:rPr>
              <a:t> </a:t>
            </a:r>
            <a:r>
              <a:rPr lang="en-US" sz="2400" dirty="0">
                <a:latin typeface="Arial" panose="020B0604020202020204" pitchFamily="34" charset="0"/>
                <a:sym typeface="+mn-ea"/>
              </a:rPr>
              <a:t>T</a:t>
            </a:r>
            <a:r>
              <a:rPr sz="2400" dirty="0">
                <a:latin typeface="Arial" panose="020B0604020202020204" pitchFamily="34" charset="0"/>
                <a:sym typeface="+mn-ea"/>
              </a:rPr>
              <a:t>esting a hypothesis (or claim) made about a </a:t>
            </a:r>
            <a:r>
              <a:rPr lang="en-US" sz="2400" dirty="0">
                <a:latin typeface="Arial" panose="020B0604020202020204" pitchFamily="34" charset="0"/>
                <a:sym typeface="+mn-ea"/>
              </a:rPr>
              <a:t>mean</a:t>
            </a:r>
            <a:r>
              <a:rPr sz="2400" dirty="0">
                <a:latin typeface="Arial" panose="020B0604020202020204" pitchFamily="34" charset="0"/>
                <a:sym typeface="+mn-ea"/>
              </a:rPr>
              <a:t> proportion</a:t>
            </a:r>
            <a:r>
              <a:rPr lang="en-US" sz="2400" dirty="0">
                <a:latin typeface="Arial" panose="020B0604020202020204" pitchFamily="34" charset="0"/>
                <a:sym typeface="+mn-ea"/>
              </a:rPr>
              <a:t> (</a:t>
            </a:r>
            <a:r>
              <a:rPr lang="el-GR" altLang="x-none" sz="24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σ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is known</a:t>
            </a:r>
            <a:r>
              <a:rPr lang="en-US" sz="2400" dirty="0">
                <a:latin typeface="Arial" panose="020B0604020202020204" pitchFamily="34" charset="0"/>
                <a:sym typeface="+mn-ea"/>
              </a:rPr>
              <a:t>), </a:t>
            </a:r>
            <a:r>
              <a:rPr sz="2400" dirty="0">
                <a:latin typeface="Arial" panose="020B0604020202020204" pitchFamily="34" charset="0"/>
                <a:sym typeface="+mn-ea"/>
              </a:rPr>
              <a:t>uses </a:t>
            </a:r>
            <a:r>
              <a:rPr lang="en-US" sz="2400" dirty="0">
                <a:latin typeface="Arial" panose="020B0604020202020204" pitchFamily="34" charset="0"/>
                <a:sym typeface="+mn-ea"/>
              </a:rPr>
              <a:t>the following methods:</a:t>
            </a:r>
            <a:endParaRPr lang="en-US" sz="2400" dirty="0">
              <a:latin typeface="Arial" panose="020B0604020202020204" pitchFamily="34" charset="0"/>
              <a:sym typeface="+mn-ea"/>
            </a:endParaRPr>
          </a:p>
          <a:p>
            <a:pPr>
              <a:spcBef>
                <a:spcPct val="50000"/>
              </a:spcBef>
            </a:pPr>
            <a:r>
              <a:rPr lang="en-US" sz="2400" dirty="0">
                <a:latin typeface="Arial" panose="020B0604020202020204" pitchFamily="34" charset="0"/>
                <a:sym typeface="+mn-ea"/>
              </a:rPr>
              <a:t>1) T</a:t>
            </a:r>
            <a:r>
              <a:rPr sz="2400" dirty="0">
                <a:latin typeface="Arial" panose="020B0604020202020204" pitchFamily="34" charset="0"/>
                <a:sym typeface="+mn-ea"/>
              </a:rPr>
              <a:t>he </a:t>
            </a:r>
            <a:r>
              <a:rPr sz="2400" i="1" dirty="0">
                <a:latin typeface="Arial" panose="020B0604020202020204" pitchFamily="34" charset="0"/>
                <a:sym typeface="+mn-ea"/>
              </a:rPr>
              <a:t>P</a:t>
            </a:r>
            <a:r>
              <a:rPr sz="2400" dirty="0">
                <a:latin typeface="Arial" panose="020B0604020202020204" pitchFamily="34" charset="0"/>
                <a:sym typeface="+mn-ea"/>
              </a:rPr>
              <a:t>-value method </a:t>
            </a:r>
            <a:endParaRPr sz="2400" dirty="0">
              <a:latin typeface="Arial" panose="020B0604020202020204" pitchFamily="34" charset="0"/>
              <a:sym typeface="+mn-ea"/>
            </a:endParaRPr>
          </a:p>
          <a:p>
            <a:pPr>
              <a:spcBef>
                <a:spcPct val="50000"/>
              </a:spcBef>
            </a:pPr>
            <a:r>
              <a:rPr lang="en-US" sz="2400" dirty="0">
                <a:latin typeface="Arial" panose="020B0604020202020204" pitchFamily="34" charset="0"/>
                <a:sym typeface="+mn-ea"/>
              </a:rPr>
              <a:t>2) T</a:t>
            </a:r>
            <a:r>
              <a:rPr sz="2400" dirty="0">
                <a:latin typeface="Arial" panose="020B0604020202020204" pitchFamily="34" charset="0"/>
                <a:sym typeface="+mn-ea"/>
              </a:rPr>
              <a:t>he traditional method</a:t>
            </a:r>
            <a:endParaRPr sz="2400" dirty="0">
              <a:latin typeface="Arial" panose="020B0604020202020204" pitchFamily="34" charset="0"/>
              <a:sym typeface="+mn-ea"/>
            </a:endParaRPr>
          </a:p>
          <a:p>
            <a:pPr>
              <a:spcBef>
                <a:spcPct val="50000"/>
              </a:spcBef>
            </a:pPr>
            <a:r>
              <a:rPr kumimoji="0" lang="en-US" altLang="el-GR" sz="2400" b="0" kern="1200" cap="none" spc="0" normalizeH="0" baseline="0" noProof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Group: 3, 6, 9, 12</a:t>
            </a:r>
            <a:endParaRPr kumimoji="0" lang="en-US" altLang="el-GR" sz="2400" b="0" kern="1200" cap="none" spc="0" normalizeH="0" baseline="0" noProof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noProof="0" dirty="0">
                <a:latin typeface="Arial" panose="020B0604020202020204" pitchFamily="34" charset="0"/>
                <a:ea typeface="+mn-ea"/>
                <a:cs typeface="+mn-cs"/>
                <a:sym typeface="+mn-ea"/>
              </a:rPr>
              <a:t>7.3.  Testing a Claim About a Mean</a:t>
            </a:r>
            <a:endParaRPr lang="en-US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11744</Words>
  <Application>WPS Presentation</Application>
  <PresentationFormat>Widescreen</PresentationFormat>
  <Paragraphs>320</Paragraphs>
  <Slides>52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13</vt:i4>
      </vt:variant>
      <vt:variant>
        <vt:lpstr>幻灯片标题</vt:lpstr>
      </vt:variant>
      <vt:variant>
        <vt:i4>52</vt:i4>
      </vt:variant>
    </vt:vector>
  </HeadingPairs>
  <TitlesOfParts>
    <vt:vector size="80" baseType="lpstr">
      <vt:lpstr>Arial</vt:lpstr>
      <vt:lpstr>SimSun</vt:lpstr>
      <vt:lpstr>Wingdings</vt:lpstr>
      <vt:lpstr>Times New Roman</vt:lpstr>
      <vt:lpstr>Times</vt:lpstr>
      <vt:lpstr>Banmai Times</vt:lpstr>
      <vt:lpstr>Symbol</vt:lpstr>
      <vt:lpstr>Calibri Light</vt:lpstr>
      <vt:lpstr>Microsoft YaHei</vt:lpstr>
      <vt:lpstr>Arial Unicode MS</vt:lpstr>
      <vt:lpstr>Calibri</vt:lpstr>
      <vt:lpstr>ヒラギノ角ゴ ProN W3</vt:lpstr>
      <vt:lpstr>UD Digi Kyokasho N-R</vt:lpstr>
      <vt:lpstr>Helvetica</vt:lpstr>
      <vt:lpstr>Office Theme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Chapter 7 Hypothesis Testing</vt:lpstr>
      <vt:lpstr>Example</vt:lpstr>
      <vt:lpstr>7.1.  Basics of Hypothesis Testing</vt:lpstr>
      <vt:lpstr>Definitions</vt:lpstr>
      <vt:lpstr>Rare Event Rule for Inferential Statistics (Quy tắc xác suất nhỏ trong suy luận thống kê)</vt:lpstr>
      <vt:lpstr>Null Hypothesis </vt:lpstr>
      <vt:lpstr>Alternative Hypothesis </vt:lpstr>
      <vt:lpstr>Note about Forming Your Own Claims (Hypotheses)</vt:lpstr>
      <vt:lpstr>Steps 1, 2, 3: Identifying H0 and H1</vt:lpstr>
      <vt:lpstr>Example</vt:lpstr>
      <vt:lpstr>Step 4: Select the Significance Level α</vt:lpstr>
      <vt:lpstr>Significance Level</vt:lpstr>
      <vt:lpstr>Step 5: Identify the Test Statistic and Determine its Sampling Distribution</vt:lpstr>
      <vt:lpstr>PowerPoint 演示文稿</vt:lpstr>
      <vt:lpstr>Step 6: Find the Value of the Test Statistic, Then Find Either the P-Value or the Critical Value(s)</vt:lpstr>
      <vt:lpstr>Example</vt:lpstr>
      <vt:lpstr>Example - Continued</vt:lpstr>
      <vt:lpstr>Example – Convert to the Test Statistic</vt:lpstr>
      <vt:lpstr>Types of Hypothesis Tests: Two-tailed, Left-tailed, Right-tailed</vt:lpstr>
      <vt:lpstr>Two-tailed Test</vt:lpstr>
      <vt:lpstr>Left-tailed Test</vt:lpstr>
      <vt:lpstr>Right-tailed Test</vt:lpstr>
      <vt:lpstr>P-Value</vt:lpstr>
      <vt:lpstr>P-Value</vt:lpstr>
      <vt:lpstr>Example</vt:lpstr>
      <vt:lpstr>Example</vt:lpstr>
      <vt:lpstr>Procedure for Finding P-Values</vt:lpstr>
      <vt:lpstr>Critical Region</vt:lpstr>
      <vt:lpstr>Critical Value</vt:lpstr>
      <vt:lpstr>Example</vt:lpstr>
      <vt:lpstr>Caution</vt:lpstr>
      <vt:lpstr>Step 7 : Make a Decision: Reject H0 or Fail to Reject H0</vt:lpstr>
      <vt:lpstr>PowerPoint 演示文稿</vt:lpstr>
      <vt:lpstr>PowerPoint 演示文稿</vt:lpstr>
      <vt:lpstr>Example</vt:lpstr>
      <vt:lpstr>Step 8 : Restate the Decision Using Simple and Nontechnical Terms</vt:lpstr>
      <vt:lpstr>Example</vt:lpstr>
      <vt:lpstr>Wording of Final Conclusion</vt:lpstr>
      <vt:lpstr>Caution</vt:lpstr>
      <vt:lpstr>Accept Versus Fail to Reject</vt:lpstr>
      <vt:lpstr>Type I Error</vt:lpstr>
      <vt:lpstr>Type II Error</vt:lpstr>
      <vt:lpstr>PowerPoint 演示文稿</vt:lpstr>
      <vt:lpstr>Example</vt:lpstr>
      <vt:lpstr>Example - Continued</vt:lpstr>
      <vt:lpstr>Controlling Type I and Type II Errors</vt:lpstr>
      <vt:lpstr>Part 2: Beyond the Basics of Hypothesis Testing: The Power of a Test </vt:lpstr>
      <vt:lpstr>Definition</vt:lpstr>
      <vt:lpstr>Power and the Design of Experiments</vt:lpstr>
      <vt:lpstr>7.2.  Testing a Claim about a Proportion</vt:lpstr>
      <vt:lpstr>7.3.  Testing a Claim About a Mean</vt:lpstr>
      <vt:lpstr>7.3.  Testing a Claim About a Mean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 Hypothesis Testing</dc:title>
  <dc:creator>ASUS</dc:creator>
  <cp:lastModifiedBy>Tin Phan</cp:lastModifiedBy>
  <cp:revision>14</cp:revision>
  <dcterms:created xsi:type="dcterms:W3CDTF">2025-02-26T07:12:00Z</dcterms:created>
  <dcterms:modified xsi:type="dcterms:W3CDTF">2025-02-27T08:24:14Z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1661CC95E07C4A6CB5ADF4C5A54A29BB_11</vt:lpwstr>
  </property>
  <property fmtid="{D5CDD505-2E9C-101B-9397-08002B2CF9AE}" pid="3" name="KSOProductBuildVer">
    <vt:lpwstr>1033-12.2.0.19805</vt:lpwstr>
  </property>
</Properties>
</file>